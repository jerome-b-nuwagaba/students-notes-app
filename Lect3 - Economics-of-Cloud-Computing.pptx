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 id="2147483684" r:id="rId5"/>
  </p:sldMasterIdLst>
  <p:notesMasterIdLst>
    <p:notesMasterId r:id="rId36"/>
  </p:notesMasterIdLst>
  <p:handoutMasterIdLst>
    <p:handoutMasterId r:id="rId37"/>
  </p:handoutMasterIdLst>
  <p:sldIdLst>
    <p:sldId id="256" r:id="rId6"/>
    <p:sldId id="2566" r:id="rId7"/>
    <p:sldId id="693" r:id="rId8"/>
    <p:sldId id="2616" r:id="rId9"/>
    <p:sldId id="2620" r:id="rId10"/>
    <p:sldId id="2621" r:id="rId11"/>
    <p:sldId id="2622" r:id="rId12"/>
    <p:sldId id="268" r:id="rId13"/>
    <p:sldId id="2617" r:id="rId14"/>
    <p:sldId id="2618" r:id="rId15"/>
    <p:sldId id="2619" r:id="rId16"/>
    <p:sldId id="2610" r:id="rId17"/>
    <p:sldId id="2611" r:id="rId18"/>
    <p:sldId id="2612" r:id="rId19"/>
    <p:sldId id="2613" r:id="rId20"/>
    <p:sldId id="2614" r:id="rId21"/>
    <p:sldId id="2615" r:id="rId22"/>
    <p:sldId id="260" r:id="rId23"/>
    <p:sldId id="2623" r:id="rId24"/>
    <p:sldId id="2624" r:id="rId25"/>
    <p:sldId id="2625" r:id="rId26"/>
    <p:sldId id="2626" r:id="rId27"/>
    <p:sldId id="277" r:id="rId28"/>
    <p:sldId id="278" r:id="rId29"/>
    <p:sldId id="2627" r:id="rId30"/>
    <p:sldId id="2628" r:id="rId31"/>
    <p:sldId id="2630" r:id="rId32"/>
    <p:sldId id="2631" r:id="rId33"/>
    <p:sldId id="2592" r:id="rId34"/>
    <p:sldId id="274"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57DD8F8-2911-40DA-9D29-441A66355278}">
          <p14:sldIdLst>
            <p14:sldId id="256"/>
            <p14:sldId id="2566"/>
            <p14:sldId id="693"/>
            <p14:sldId id="2616"/>
            <p14:sldId id="2620"/>
            <p14:sldId id="2621"/>
            <p14:sldId id="2622"/>
            <p14:sldId id="268"/>
            <p14:sldId id="2617"/>
            <p14:sldId id="2618"/>
            <p14:sldId id="2619"/>
            <p14:sldId id="2610"/>
            <p14:sldId id="2611"/>
            <p14:sldId id="2612"/>
            <p14:sldId id="2613"/>
            <p14:sldId id="2614"/>
            <p14:sldId id="2615"/>
            <p14:sldId id="260"/>
            <p14:sldId id="2623"/>
            <p14:sldId id="2624"/>
            <p14:sldId id="2625"/>
            <p14:sldId id="2626"/>
            <p14:sldId id="277"/>
            <p14:sldId id="278"/>
            <p14:sldId id="2627"/>
            <p14:sldId id="2628"/>
            <p14:sldId id="2630"/>
            <p14:sldId id="2631"/>
            <p14:sldId id="2592"/>
            <p14:sldId id="27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260"/>
    <a:srgbClr val="1A3261"/>
    <a:srgbClr val="4590B8"/>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0786" autoAdjust="0"/>
  </p:normalViewPr>
  <p:slideViewPr>
    <p:cSldViewPr snapToGrid="0">
      <p:cViewPr>
        <p:scale>
          <a:sx n="60" d="100"/>
          <a:sy n="60" d="100"/>
        </p:scale>
        <p:origin x="1320" y="-525"/>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ACCC08-719A-4326-B52F-4DCCA2CA8BF5}"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A649DA23-AB08-48F4-BEA6-F30F28E06EC8}">
      <dgm:prSet custT="1"/>
      <dgm:spPr/>
      <dgm:t>
        <a:bodyPr/>
        <a:lstStyle/>
        <a:p>
          <a:pPr>
            <a:lnSpc>
              <a:spcPct val="100000"/>
            </a:lnSpc>
            <a:defRPr b="1"/>
          </a:pPr>
          <a:r>
            <a:rPr lang="en-US" sz="2400" dirty="0">
              <a:solidFill>
                <a:srgbClr val="FF0000"/>
              </a:solidFill>
            </a:rPr>
            <a:t>Pillars of Cloud Valuing</a:t>
          </a:r>
        </a:p>
      </dgm:t>
    </dgm:pt>
    <dgm:pt modelId="{919548F6-F76E-4DF3-BE3A-505A7AB8827F}" type="parTrans" cxnId="{376B05FB-E724-4B96-B443-082EC7A40E1C}">
      <dgm:prSet/>
      <dgm:spPr/>
      <dgm:t>
        <a:bodyPr/>
        <a:lstStyle/>
        <a:p>
          <a:endParaRPr lang="en-US" sz="2400"/>
        </a:p>
      </dgm:t>
    </dgm:pt>
    <dgm:pt modelId="{BCC74121-CB93-4DA2-9DCF-ABD643B97691}" type="sibTrans" cxnId="{376B05FB-E724-4B96-B443-082EC7A40E1C}">
      <dgm:prSet/>
      <dgm:spPr/>
      <dgm:t>
        <a:bodyPr/>
        <a:lstStyle/>
        <a:p>
          <a:pPr>
            <a:lnSpc>
              <a:spcPct val="100000"/>
            </a:lnSpc>
            <a:defRPr b="1"/>
          </a:pPr>
          <a:endParaRPr lang="en-US" sz="2400"/>
        </a:p>
      </dgm:t>
    </dgm:pt>
    <dgm:pt modelId="{29A83F55-404A-45F6-988A-9F8298DBDDC4}">
      <dgm:prSet custT="1"/>
      <dgm:spPr/>
      <dgm:t>
        <a:bodyPr/>
        <a:lstStyle/>
        <a:p>
          <a:pPr>
            <a:lnSpc>
              <a:spcPct val="100000"/>
            </a:lnSpc>
          </a:pPr>
          <a:r>
            <a:rPr lang="en-US" sz="2400" dirty="0"/>
            <a:t>- TCO</a:t>
          </a:r>
        </a:p>
        <a:p>
          <a:pPr>
            <a:lnSpc>
              <a:spcPct val="100000"/>
            </a:lnSpc>
          </a:pPr>
          <a:r>
            <a:rPr lang="en-US" sz="2400" dirty="0"/>
            <a:t>- Efficiency</a:t>
          </a:r>
        </a:p>
        <a:p>
          <a:pPr>
            <a:lnSpc>
              <a:spcPct val="100000"/>
            </a:lnSpc>
          </a:pPr>
          <a:r>
            <a:rPr lang="en-US" sz="2400" dirty="0"/>
            <a:t>- Resilience</a:t>
          </a:r>
        </a:p>
        <a:p>
          <a:pPr>
            <a:lnSpc>
              <a:spcPct val="100000"/>
            </a:lnSpc>
          </a:pPr>
          <a:r>
            <a:rPr lang="en-US" sz="2400" dirty="0"/>
            <a:t>- Agility</a:t>
          </a:r>
        </a:p>
        <a:p>
          <a:pPr>
            <a:lnSpc>
              <a:spcPct val="100000"/>
            </a:lnSpc>
            <a:buFont typeface="Wingdings" panose="05000000000000000000" pitchFamily="2" charset="2"/>
            <a:buChar char="n"/>
          </a:pPr>
          <a:endParaRPr lang="en-US" sz="2400" dirty="0"/>
        </a:p>
      </dgm:t>
    </dgm:pt>
    <dgm:pt modelId="{D443B758-64ED-436B-B1F8-07C8AF84CD8D}" type="parTrans" cxnId="{3071A64C-0C60-4EDA-B884-C16CA54BD913}">
      <dgm:prSet/>
      <dgm:spPr/>
      <dgm:t>
        <a:bodyPr/>
        <a:lstStyle/>
        <a:p>
          <a:endParaRPr lang="en-US" sz="2400"/>
        </a:p>
      </dgm:t>
    </dgm:pt>
    <dgm:pt modelId="{B91DC5E7-767E-454D-99B8-7C5FCF62B2E7}" type="sibTrans" cxnId="{3071A64C-0C60-4EDA-B884-C16CA54BD913}">
      <dgm:prSet/>
      <dgm:spPr/>
      <dgm:t>
        <a:bodyPr/>
        <a:lstStyle/>
        <a:p>
          <a:endParaRPr lang="en-US" sz="2400"/>
        </a:p>
      </dgm:t>
    </dgm:pt>
    <dgm:pt modelId="{705D398F-B3B8-4C23-B0D6-289B56B49A19}">
      <dgm:prSet custT="1"/>
      <dgm:spPr/>
      <dgm:t>
        <a:bodyPr/>
        <a:lstStyle/>
        <a:p>
          <a:pPr>
            <a:lnSpc>
              <a:spcPct val="100000"/>
            </a:lnSpc>
            <a:defRPr b="1"/>
          </a:pPr>
          <a:r>
            <a:rPr lang="en-US" sz="2400" dirty="0">
              <a:solidFill>
                <a:srgbClr val="FF0000"/>
              </a:solidFill>
            </a:rPr>
            <a:t>Pricing Strategies</a:t>
          </a:r>
        </a:p>
      </dgm:t>
    </dgm:pt>
    <dgm:pt modelId="{7724B1E7-236E-41E8-929E-6DFABF251076}" type="parTrans" cxnId="{3CD3DFA0-7F9E-4C1C-957A-3B02B0152E6D}">
      <dgm:prSet/>
      <dgm:spPr/>
      <dgm:t>
        <a:bodyPr/>
        <a:lstStyle/>
        <a:p>
          <a:endParaRPr lang="en-US" sz="2400"/>
        </a:p>
      </dgm:t>
    </dgm:pt>
    <dgm:pt modelId="{60E58AAF-C915-4501-A9F0-5F23B4BF675B}" type="sibTrans" cxnId="{3CD3DFA0-7F9E-4C1C-957A-3B02B0152E6D}">
      <dgm:prSet/>
      <dgm:spPr/>
      <dgm:t>
        <a:bodyPr/>
        <a:lstStyle/>
        <a:p>
          <a:pPr>
            <a:lnSpc>
              <a:spcPct val="100000"/>
            </a:lnSpc>
            <a:defRPr b="1"/>
          </a:pPr>
          <a:endParaRPr lang="en-US" sz="2400"/>
        </a:p>
      </dgm:t>
    </dgm:pt>
    <dgm:pt modelId="{1EE496FE-7ADE-4944-B541-1DC1A7ECC227}">
      <dgm:prSet custT="1"/>
      <dgm:spPr/>
      <dgm:t>
        <a:bodyPr/>
        <a:lstStyle/>
        <a:p>
          <a:pPr>
            <a:lnSpc>
              <a:spcPct val="100000"/>
            </a:lnSpc>
          </a:pPr>
          <a:r>
            <a:rPr lang="en-US" sz="2400" dirty="0"/>
            <a:t>- </a:t>
          </a:r>
          <a:r>
            <a:rPr lang="en-US" altLang="zh-CN" sz="2400" dirty="0"/>
            <a:t>Tiered Pricing</a:t>
          </a:r>
        </a:p>
        <a:p>
          <a:pPr>
            <a:lnSpc>
              <a:spcPct val="100000"/>
            </a:lnSpc>
          </a:pPr>
          <a:r>
            <a:rPr lang="en-US" sz="2400" dirty="0"/>
            <a:t>- </a:t>
          </a:r>
          <a:r>
            <a:rPr lang="en-US" altLang="zh-CN" sz="2400" dirty="0"/>
            <a:t>Per-unit Pricing</a:t>
          </a:r>
          <a:endParaRPr lang="en-US" sz="2400" dirty="0"/>
        </a:p>
        <a:p>
          <a:pPr>
            <a:lnSpc>
              <a:spcPct val="100000"/>
            </a:lnSpc>
          </a:pPr>
          <a:r>
            <a:rPr lang="en-US" sz="2400" dirty="0"/>
            <a:t>- </a:t>
          </a:r>
          <a:r>
            <a:rPr lang="en-US" altLang="zh-CN" sz="2000" dirty="0"/>
            <a:t>Subscription-based Pricing</a:t>
          </a:r>
          <a:endParaRPr lang="en-US" sz="2400" dirty="0"/>
        </a:p>
      </dgm:t>
    </dgm:pt>
    <dgm:pt modelId="{57C797A6-DCBA-4F55-827E-EDD1946D6F4E}" type="parTrans" cxnId="{82982EC6-4CF7-4DD5-99C6-3431728D6844}">
      <dgm:prSet/>
      <dgm:spPr/>
      <dgm:t>
        <a:bodyPr/>
        <a:lstStyle/>
        <a:p>
          <a:endParaRPr lang="en-US" sz="2400"/>
        </a:p>
      </dgm:t>
    </dgm:pt>
    <dgm:pt modelId="{67BE3E6D-522A-487C-AA04-19511310B5EF}" type="sibTrans" cxnId="{82982EC6-4CF7-4DD5-99C6-3431728D6844}">
      <dgm:prSet/>
      <dgm:spPr/>
      <dgm:t>
        <a:bodyPr/>
        <a:lstStyle/>
        <a:p>
          <a:endParaRPr lang="en-US" sz="2400"/>
        </a:p>
      </dgm:t>
    </dgm:pt>
    <dgm:pt modelId="{62BDFE41-5E02-4532-BB6C-D67954644E7E}">
      <dgm:prSet custT="1"/>
      <dgm:spPr/>
      <dgm:t>
        <a:bodyPr/>
        <a:lstStyle/>
        <a:p>
          <a:pPr>
            <a:lnSpc>
              <a:spcPct val="100000"/>
            </a:lnSpc>
            <a:defRPr b="1"/>
          </a:pPr>
          <a:r>
            <a:rPr lang="en-US" sz="2000" dirty="0">
              <a:solidFill>
                <a:srgbClr val="FF0000"/>
              </a:solidFill>
            </a:rPr>
            <a:t>Cloud Economics Pitfalls</a:t>
          </a:r>
        </a:p>
      </dgm:t>
    </dgm:pt>
    <dgm:pt modelId="{844F74D3-ACF2-4A31-BB97-4AE0F092351D}" type="parTrans" cxnId="{013890EB-36E0-49DB-A9DF-1E811D1BB023}">
      <dgm:prSet/>
      <dgm:spPr/>
      <dgm:t>
        <a:bodyPr/>
        <a:lstStyle/>
        <a:p>
          <a:endParaRPr lang="en-US" sz="2400"/>
        </a:p>
      </dgm:t>
    </dgm:pt>
    <dgm:pt modelId="{1983D605-FDD6-49AD-98B0-17C6A2C0BAE5}" type="sibTrans" cxnId="{013890EB-36E0-49DB-A9DF-1E811D1BB023}">
      <dgm:prSet/>
      <dgm:spPr/>
      <dgm:t>
        <a:bodyPr/>
        <a:lstStyle/>
        <a:p>
          <a:endParaRPr lang="en-US" sz="2400"/>
        </a:p>
      </dgm:t>
    </dgm:pt>
    <dgm:pt modelId="{ED92CF75-DC97-46E5-838F-39E37E0AAD2A}">
      <dgm:prSet custT="1"/>
      <dgm:spPr/>
      <dgm:t>
        <a:bodyPr/>
        <a:lstStyle/>
        <a:p>
          <a:pPr>
            <a:lnSpc>
              <a:spcPct val="100000"/>
            </a:lnSpc>
            <a:spcAft>
              <a:spcPts val="0"/>
            </a:spcAft>
          </a:pPr>
          <a:r>
            <a:rPr lang="en-US" sz="1800" baseline="0" dirty="0"/>
            <a:t>- </a:t>
          </a:r>
          <a:r>
            <a:rPr lang="en-US" altLang="zh-CN" sz="1800" baseline="0" dirty="0"/>
            <a:t>Assuming financials don’t      </a:t>
          </a:r>
        </a:p>
        <a:p>
          <a:pPr>
            <a:lnSpc>
              <a:spcPct val="100000"/>
            </a:lnSpc>
            <a:spcAft>
              <a:spcPts val="0"/>
            </a:spcAft>
          </a:pPr>
          <a:r>
            <a:rPr lang="en-US" altLang="zh-CN" sz="1800" baseline="0" dirty="0"/>
            <a:t>  evolve </a:t>
          </a:r>
        </a:p>
        <a:p>
          <a:pPr>
            <a:lnSpc>
              <a:spcPct val="100000"/>
            </a:lnSpc>
            <a:spcAft>
              <a:spcPts val="0"/>
            </a:spcAft>
          </a:pPr>
          <a:r>
            <a:rPr lang="en-US" altLang="zh-CN" sz="1800" baseline="0" dirty="0"/>
            <a:t>- Basing projections on historical </a:t>
          </a:r>
        </a:p>
        <a:p>
          <a:pPr>
            <a:lnSpc>
              <a:spcPct val="100000"/>
            </a:lnSpc>
            <a:spcAft>
              <a:spcPts val="0"/>
            </a:spcAft>
          </a:pPr>
          <a:r>
            <a:rPr lang="en-US" altLang="zh-CN" sz="1800" baseline="0" dirty="0"/>
            <a:t>   usage</a:t>
          </a:r>
          <a:endParaRPr lang="en-US" sz="1800" baseline="0" dirty="0"/>
        </a:p>
      </dgm:t>
    </dgm:pt>
    <dgm:pt modelId="{688304EC-FCA7-4FA5-8FCF-3A6A47818613}" type="parTrans" cxnId="{74DA073C-F9E2-4F31-826C-98F9C0195C00}">
      <dgm:prSet/>
      <dgm:spPr/>
      <dgm:t>
        <a:bodyPr/>
        <a:lstStyle/>
        <a:p>
          <a:endParaRPr lang="en-US" sz="2400"/>
        </a:p>
      </dgm:t>
    </dgm:pt>
    <dgm:pt modelId="{C8FCA181-653C-4EDE-9173-62D27C2F8941}" type="sibTrans" cxnId="{74DA073C-F9E2-4F31-826C-98F9C0195C00}">
      <dgm:prSet/>
      <dgm:spPr/>
      <dgm:t>
        <a:bodyPr/>
        <a:lstStyle/>
        <a:p>
          <a:endParaRPr lang="en-US" sz="2400"/>
        </a:p>
      </dgm:t>
    </dgm:pt>
    <dgm:pt modelId="{F44DE424-867C-4696-8A9B-1CB32EF1F7CB}">
      <dgm:prSet custT="1"/>
      <dgm:spPr/>
      <dgm:t>
        <a:bodyPr/>
        <a:lstStyle/>
        <a:p>
          <a:pPr>
            <a:lnSpc>
              <a:spcPct val="100000"/>
            </a:lnSpc>
            <a:spcAft>
              <a:spcPts val="0"/>
            </a:spcAft>
          </a:pPr>
          <a:r>
            <a:rPr lang="en-US" altLang="zh-CN" sz="1800" baseline="0" dirty="0"/>
            <a:t>- Treating all cloud elements the   </a:t>
          </a:r>
        </a:p>
        <a:p>
          <a:pPr>
            <a:lnSpc>
              <a:spcPct val="100000"/>
            </a:lnSpc>
            <a:spcAft>
              <a:spcPts val="0"/>
            </a:spcAft>
          </a:pPr>
          <a:r>
            <a:rPr lang="en-US" altLang="zh-CN" sz="1800" baseline="0" dirty="0"/>
            <a:t>   same</a:t>
          </a:r>
          <a:endParaRPr lang="zh-CN" altLang="en-US" sz="1800" baseline="0" dirty="0"/>
        </a:p>
      </dgm:t>
    </dgm:pt>
    <dgm:pt modelId="{11501CC6-18DF-4374-A7BA-A893B9243F27}" type="parTrans" cxnId="{B2208B05-E7CF-4EE5-8DB7-81234559E952}">
      <dgm:prSet/>
      <dgm:spPr/>
      <dgm:t>
        <a:bodyPr/>
        <a:lstStyle/>
        <a:p>
          <a:endParaRPr lang="zh-CN" altLang="en-US"/>
        </a:p>
      </dgm:t>
    </dgm:pt>
    <dgm:pt modelId="{ABFF0C79-8785-4B83-A150-BB5979CBCFA1}" type="sibTrans" cxnId="{B2208B05-E7CF-4EE5-8DB7-81234559E952}">
      <dgm:prSet/>
      <dgm:spPr/>
      <dgm:t>
        <a:bodyPr/>
        <a:lstStyle/>
        <a:p>
          <a:endParaRPr lang="zh-CN" altLang="en-US"/>
        </a:p>
      </dgm:t>
    </dgm:pt>
    <dgm:pt modelId="{2C736342-8F10-4F58-A3EC-7AB59693201E}">
      <dgm:prSet custT="1"/>
      <dgm:spPr/>
      <dgm:t>
        <a:bodyPr/>
        <a:lstStyle/>
        <a:p>
          <a:pPr>
            <a:lnSpc>
              <a:spcPct val="100000"/>
            </a:lnSpc>
            <a:spcAft>
              <a:spcPts val="0"/>
            </a:spcAft>
          </a:pPr>
          <a:r>
            <a:rPr lang="en-US" altLang="zh-CN" sz="1800" baseline="0" dirty="0"/>
            <a:t>- Putting all data in the cloud</a:t>
          </a:r>
          <a:endParaRPr lang="zh-CN" altLang="en-US" sz="1800" baseline="0" dirty="0"/>
        </a:p>
      </dgm:t>
    </dgm:pt>
    <dgm:pt modelId="{EE6EACA8-5B26-48AB-9B59-696BA9050DA2}" type="parTrans" cxnId="{77A163BC-AFF2-4BB7-91CC-415820A88D85}">
      <dgm:prSet/>
      <dgm:spPr/>
      <dgm:t>
        <a:bodyPr/>
        <a:lstStyle/>
        <a:p>
          <a:endParaRPr lang="zh-CN" altLang="en-US"/>
        </a:p>
      </dgm:t>
    </dgm:pt>
    <dgm:pt modelId="{07B85476-BC5C-4AC6-B777-14733B75B60B}" type="sibTrans" cxnId="{77A163BC-AFF2-4BB7-91CC-415820A88D85}">
      <dgm:prSet/>
      <dgm:spPr/>
      <dgm:t>
        <a:bodyPr/>
        <a:lstStyle/>
        <a:p>
          <a:endParaRPr lang="zh-CN" altLang="en-US"/>
        </a:p>
      </dgm:t>
    </dgm:pt>
    <dgm:pt modelId="{BC1DD5F7-CF13-445F-A4D9-245D34A17691}" type="pres">
      <dgm:prSet presAssocID="{C4ACCC08-719A-4326-B52F-4DCCA2CA8BF5}" presName="Name0" presStyleCnt="0">
        <dgm:presLayoutVars>
          <dgm:dir/>
          <dgm:resizeHandles val="exact"/>
        </dgm:presLayoutVars>
      </dgm:prSet>
      <dgm:spPr/>
    </dgm:pt>
    <dgm:pt modelId="{246C04FA-418F-4B89-8D64-F201130ABE6B}" type="pres">
      <dgm:prSet presAssocID="{A649DA23-AB08-48F4-BEA6-F30F28E06EC8}" presName="compNode" presStyleCnt="0"/>
      <dgm:spPr/>
    </dgm:pt>
    <dgm:pt modelId="{07EAC3AC-370A-4869-B730-E3C4A371B68E}" type="pres">
      <dgm:prSet presAssocID="{A649DA23-AB08-48F4-BEA6-F30F28E06EC8}" presName="pictRect" presStyleLbl="revTx" presStyleIdx="0" presStyleCnt="6">
        <dgm:presLayoutVars>
          <dgm:chMax val="0"/>
          <dgm:bulletEnabled/>
        </dgm:presLayoutVars>
      </dgm:prSet>
      <dgm:spPr/>
    </dgm:pt>
    <dgm:pt modelId="{61093B23-7CAD-496C-BB89-D56A2D6E34CF}" type="pres">
      <dgm:prSet presAssocID="{A649DA23-AB08-48F4-BEA6-F30F28E06EC8}" presName="textRect" presStyleLbl="revTx" presStyleIdx="1" presStyleCnt="6" custLinFactNeighborY="3021">
        <dgm:presLayoutVars>
          <dgm:bulletEnabled/>
        </dgm:presLayoutVars>
      </dgm:prSet>
      <dgm:spPr/>
    </dgm:pt>
    <dgm:pt modelId="{F4B825B1-3B02-4E42-BE25-9C0F6DA1509F}" type="pres">
      <dgm:prSet presAssocID="{BCC74121-CB93-4DA2-9DCF-ABD643B97691}" presName="sibTrans" presStyleLbl="sibTrans2D1" presStyleIdx="0" presStyleCnt="0"/>
      <dgm:spPr/>
    </dgm:pt>
    <dgm:pt modelId="{4AC90899-0708-4E43-B679-A76178D4BB43}" type="pres">
      <dgm:prSet presAssocID="{705D398F-B3B8-4C23-B0D6-289B56B49A19}" presName="compNode" presStyleCnt="0"/>
      <dgm:spPr/>
    </dgm:pt>
    <dgm:pt modelId="{1A6879FF-9584-47FA-A5AF-6081A0E0FEA6}" type="pres">
      <dgm:prSet presAssocID="{705D398F-B3B8-4C23-B0D6-289B56B49A19}" presName="pictRect" presStyleLbl="revTx" presStyleIdx="2" presStyleCnt="6">
        <dgm:presLayoutVars>
          <dgm:chMax val="0"/>
          <dgm:bulletEnabled/>
        </dgm:presLayoutVars>
      </dgm:prSet>
      <dgm:spPr/>
    </dgm:pt>
    <dgm:pt modelId="{180BAC68-36FD-4444-A8B0-F0615F1DA29E}" type="pres">
      <dgm:prSet presAssocID="{705D398F-B3B8-4C23-B0D6-289B56B49A19}" presName="textRect" presStyleLbl="revTx" presStyleIdx="3" presStyleCnt="6">
        <dgm:presLayoutVars>
          <dgm:bulletEnabled/>
        </dgm:presLayoutVars>
      </dgm:prSet>
      <dgm:spPr/>
    </dgm:pt>
    <dgm:pt modelId="{B12F1D38-05F0-4BB1-B5EF-7DCECF2A5E2E}" type="pres">
      <dgm:prSet presAssocID="{60E58AAF-C915-4501-A9F0-5F23B4BF675B}" presName="sibTrans" presStyleLbl="sibTrans2D1" presStyleIdx="0" presStyleCnt="0"/>
      <dgm:spPr/>
    </dgm:pt>
    <dgm:pt modelId="{47B589AB-4538-4ADA-B494-E479239854AF}" type="pres">
      <dgm:prSet presAssocID="{62BDFE41-5E02-4532-BB6C-D67954644E7E}" presName="compNode" presStyleCnt="0"/>
      <dgm:spPr/>
    </dgm:pt>
    <dgm:pt modelId="{B46D6A3A-1378-4F91-BF97-E26C2CCC8243}" type="pres">
      <dgm:prSet presAssocID="{62BDFE41-5E02-4532-BB6C-D67954644E7E}" presName="pictRect" presStyleLbl="revTx" presStyleIdx="4" presStyleCnt="6">
        <dgm:presLayoutVars>
          <dgm:chMax val="0"/>
          <dgm:bulletEnabled/>
        </dgm:presLayoutVars>
      </dgm:prSet>
      <dgm:spPr/>
    </dgm:pt>
    <dgm:pt modelId="{BDB6C0FB-7D5F-442E-9773-737A2732E092}" type="pres">
      <dgm:prSet presAssocID="{62BDFE41-5E02-4532-BB6C-D67954644E7E}" presName="textRect" presStyleLbl="revTx" presStyleIdx="5" presStyleCnt="6">
        <dgm:presLayoutVars>
          <dgm:bulletEnabled/>
        </dgm:presLayoutVars>
      </dgm:prSet>
      <dgm:spPr/>
    </dgm:pt>
  </dgm:ptLst>
  <dgm:cxnLst>
    <dgm:cxn modelId="{B2208B05-E7CF-4EE5-8DB7-81234559E952}" srcId="{62BDFE41-5E02-4532-BB6C-D67954644E7E}" destId="{F44DE424-867C-4696-8A9B-1CB32EF1F7CB}" srcOrd="1" destOrd="0" parTransId="{11501CC6-18DF-4374-A7BA-A893B9243F27}" sibTransId="{ABFF0C79-8785-4B83-A150-BB5979CBCFA1}"/>
    <dgm:cxn modelId="{E703371A-5C7C-4896-944B-6B0D755C4F6C}" type="presOf" srcId="{BCC74121-CB93-4DA2-9DCF-ABD643B97691}" destId="{F4B825B1-3B02-4E42-BE25-9C0F6DA1509F}" srcOrd="0" destOrd="0" presId="urn:microsoft.com/office/officeart/2024/3/layout/hArchList1"/>
    <dgm:cxn modelId="{E07E8C34-289D-416F-ABEF-03BDB3750099}" type="presOf" srcId="{2C736342-8F10-4F58-A3EC-7AB59693201E}" destId="{BDB6C0FB-7D5F-442E-9773-737A2732E092}" srcOrd="0" destOrd="2" presId="urn:microsoft.com/office/officeart/2024/3/layout/hArchList1"/>
    <dgm:cxn modelId="{B8C1193A-9893-4F3F-9DB0-8ED50B7EB03B}" type="presOf" srcId="{F44DE424-867C-4696-8A9B-1CB32EF1F7CB}" destId="{BDB6C0FB-7D5F-442E-9773-737A2732E092}" srcOrd="0" destOrd="1" presId="urn:microsoft.com/office/officeart/2024/3/layout/hArchList1"/>
    <dgm:cxn modelId="{74DA073C-F9E2-4F31-826C-98F9C0195C00}" srcId="{62BDFE41-5E02-4532-BB6C-D67954644E7E}" destId="{ED92CF75-DC97-46E5-838F-39E37E0AAD2A}" srcOrd="0" destOrd="0" parTransId="{688304EC-FCA7-4FA5-8FCF-3A6A47818613}" sibTransId="{C8FCA181-653C-4EDE-9173-62D27C2F8941}"/>
    <dgm:cxn modelId="{3071A64C-0C60-4EDA-B884-C16CA54BD913}" srcId="{A649DA23-AB08-48F4-BEA6-F30F28E06EC8}" destId="{29A83F55-404A-45F6-988A-9F8298DBDDC4}" srcOrd="0" destOrd="0" parTransId="{D443B758-64ED-436B-B1F8-07C8AF84CD8D}" sibTransId="{B91DC5E7-767E-454D-99B8-7C5FCF62B2E7}"/>
    <dgm:cxn modelId="{58625C71-0374-42B9-97A5-2907E7A5C188}" type="presOf" srcId="{60E58AAF-C915-4501-A9F0-5F23B4BF675B}" destId="{B12F1D38-05F0-4BB1-B5EF-7DCECF2A5E2E}" srcOrd="0" destOrd="0" presId="urn:microsoft.com/office/officeart/2024/3/layout/hArchList1"/>
    <dgm:cxn modelId="{943D5358-A612-4679-B4A0-0CA06F6C394F}" type="presOf" srcId="{29A83F55-404A-45F6-988A-9F8298DBDDC4}" destId="{61093B23-7CAD-496C-BB89-D56A2D6E34CF}" srcOrd="0" destOrd="0" presId="urn:microsoft.com/office/officeart/2024/3/layout/hArchList1"/>
    <dgm:cxn modelId="{D5B665A0-5244-4209-B633-3F1C13AF981F}" type="presOf" srcId="{1EE496FE-7ADE-4944-B541-1DC1A7ECC227}" destId="{180BAC68-36FD-4444-A8B0-F0615F1DA29E}" srcOrd="0" destOrd="0" presId="urn:microsoft.com/office/officeart/2024/3/layout/hArchList1"/>
    <dgm:cxn modelId="{3CD3DFA0-7F9E-4C1C-957A-3B02B0152E6D}" srcId="{C4ACCC08-719A-4326-B52F-4DCCA2CA8BF5}" destId="{705D398F-B3B8-4C23-B0D6-289B56B49A19}" srcOrd="1" destOrd="0" parTransId="{7724B1E7-236E-41E8-929E-6DFABF251076}" sibTransId="{60E58AAF-C915-4501-A9F0-5F23B4BF675B}"/>
    <dgm:cxn modelId="{77A163BC-AFF2-4BB7-91CC-415820A88D85}" srcId="{62BDFE41-5E02-4532-BB6C-D67954644E7E}" destId="{2C736342-8F10-4F58-A3EC-7AB59693201E}" srcOrd="2" destOrd="0" parTransId="{EE6EACA8-5B26-48AB-9B59-696BA9050DA2}" sibTransId="{07B85476-BC5C-4AC6-B777-14733B75B60B}"/>
    <dgm:cxn modelId="{82982EC6-4CF7-4DD5-99C6-3431728D6844}" srcId="{705D398F-B3B8-4C23-B0D6-289B56B49A19}" destId="{1EE496FE-7ADE-4944-B541-1DC1A7ECC227}" srcOrd="0" destOrd="0" parTransId="{57C797A6-DCBA-4F55-827E-EDD1946D6F4E}" sibTransId="{67BE3E6D-522A-487C-AA04-19511310B5EF}"/>
    <dgm:cxn modelId="{FAD86BCE-E505-45A0-841A-D25EDE92C604}" type="presOf" srcId="{62BDFE41-5E02-4532-BB6C-D67954644E7E}" destId="{B46D6A3A-1378-4F91-BF97-E26C2CCC8243}" srcOrd="0" destOrd="0" presId="urn:microsoft.com/office/officeart/2024/3/layout/hArchList1"/>
    <dgm:cxn modelId="{2AE312D8-2BC4-47C8-9CBB-B320E0E4378E}" type="presOf" srcId="{C4ACCC08-719A-4326-B52F-4DCCA2CA8BF5}" destId="{BC1DD5F7-CF13-445F-A4D9-245D34A17691}" srcOrd="0" destOrd="0" presId="urn:microsoft.com/office/officeart/2024/3/layout/hArchList1"/>
    <dgm:cxn modelId="{9967ADE5-D092-469B-A5C4-BD219AE18DF9}" type="presOf" srcId="{705D398F-B3B8-4C23-B0D6-289B56B49A19}" destId="{1A6879FF-9584-47FA-A5AF-6081A0E0FEA6}" srcOrd="0" destOrd="0" presId="urn:microsoft.com/office/officeart/2024/3/layout/hArchList1"/>
    <dgm:cxn modelId="{E0D413E6-9440-498A-993E-04D772402BA9}" type="presOf" srcId="{A649DA23-AB08-48F4-BEA6-F30F28E06EC8}" destId="{07EAC3AC-370A-4869-B730-E3C4A371B68E}" srcOrd="0" destOrd="0" presId="urn:microsoft.com/office/officeart/2024/3/layout/hArchList1"/>
    <dgm:cxn modelId="{013890EB-36E0-49DB-A9DF-1E811D1BB023}" srcId="{C4ACCC08-719A-4326-B52F-4DCCA2CA8BF5}" destId="{62BDFE41-5E02-4532-BB6C-D67954644E7E}" srcOrd="2" destOrd="0" parTransId="{844F74D3-ACF2-4A31-BB97-4AE0F092351D}" sibTransId="{1983D605-FDD6-49AD-98B0-17C6A2C0BAE5}"/>
    <dgm:cxn modelId="{1CA471ED-0F99-41E3-805D-1A29B39F947A}" type="presOf" srcId="{ED92CF75-DC97-46E5-838F-39E37E0AAD2A}" destId="{BDB6C0FB-7D5F-442E-9773-737A2732E092}" srcOrd="0" destOrd="0" presId="urn:microsoft.com/office/officeart/2024/3/layout/hArchList1"/>
    <dgm:cxn modelId="{376B05FB-E724-4B96-B443-082EC7A40E1C}" srcId="{C4ACCC08-719A-4326-B52F-4DCCA2CA8BF5}" destId="{A649DA23-AB08-48F4-BEA6-F30F28E06EC8}" srcOrd="0" destOrd="0" parTransId="{919548F6-F76E-4DF3-BE3A-505A7AB8827F}" sibTransId="{BCC74121-CB93-4DA2-9DCF-ABD643B97691}"/>
    <dgm:cxn modelId="{81EF00E9-70B9-4D75-A21E-6188D296EBF3}" type="presParOf" srcId="{BC1DD5F7-CF13-445F-A4D9-245D34A17691}" destId="{246C04FA-418F-4B89-8D64-F201130ABE6B}" srcOrd="0" destOrd="0" presId="urn:microsoft.com/office/officeart/2024/3/layout/hArchList1"/>
    <dgm:cxn modelId="{238962FD-B4B0-459F-A4EB-B25ECFC5F6B7}" type="presParOf" srcId="{246C04FA-418F-4B89-8D64-F201130ABE6B}" destId="{07EAC3AC-370A-4869-B730-E3C4A371B68E}" srcOrd="0" destOrd="0" presId="urn:microsoft.com/office/officeart/2024/3/layout/hArchList1"/>
    <dgm:cxn modelId="{0AEB83A5-F4A5-4654-BA77-FB723CDD066C}" type="presParOf" srcId="{246C04FA-418F-4B89-8D64-F201130ABE6B}" destId="{61093B23-7CAD-496C-BB89-D56A2D6E34CF}" srcOrd="1" destOrd="0" presId="urn:microsoft.com/office/officeart/2024/3/layout/hArchList1"/>
    <dgm:cxn modelId="{C517F042-3DBA-498D-A5EA-DF889EF1DE70}" type="presParOf" srcId="{BC1DD5F7-CF13-445F-A4D9-245D34A17691}" destId="{F4B825B1-3B02-4E42-BE25-9C0F6DA1509F}" srcOrd="1" destOrd="0" presId="urn:microsoft.com/office/officeart/2024/3/layout/hArchList1"/>
    <dgm:cxn modelId="{FBCAB4B8-0A5A-438E-BB5A-68D89623FAD6}" type="presParOf" srcId="{BC1DD5F7-CF13-445F-A4D9-245D34A17691}" destId="{4AC90899-0708-4E43-B679-A76178D4BB43}" srcOrd="2" destOrd="0" presId="urn:microsoft.com/office/officeart/2024/3/layout/hArchList1"/>
    <dgm:cxn modelId="{CC80280A-14E0-4BCA-A918-816D033AFF06}" type="presParOf" srcId="{4AC90899-0708-4E43-B679-A76178D4BB43}" destId="{1A6879FF-9584-47FA-A5AF-6081A0E0FEA6}" srcOrd="0" destOrd="0" presId="urn:microsoft.com/office/officeart/2024/3/layout/hArchList1"/>
    <dgm:cxn modelId="{08BCE8BF-0E29-4315-9BEF-9A8A9A07ED7F}" type="presParOf" srcId="{4AC90899-0708-4E43-B679-A76178D4BB43}" destId="{180BAC68-36FD-4444-A8B0-F0615F1DA29E}" srcOrd="1" destOrd="0" presId="urn:microsoft.com/office/officeart/2024/3/layout/hArchList1"/>
    <dgm:cxn modelId="{644D3494-0FBB-43D9-9361-3714941D2236}" type="presParOf" srcId="{BC1DD5F7-CF13-445F-A4D9-245D34A17691}" destId="{B12F1D38-05F0-4BB1-B5EF-7DCECF2A5E2E}" srcOrd="3" destOrd="0" presId="urn:microsoft.com/office/officeart/2024/3/layout/hArchList1"/>
    <dgm:cxn modelId="{CCB7667D-E130-4E12-ACF2-E288779A79B4}" type="presParOf" srcId="{BC1DD5F7-CF13-445F-A4D9-245D34A17691}" destId="{47B589AB-4538-4ADA-B494-E479239854AF}" srcOrd="4" destOrd="0" presId="urn:microsoft.com/office/officeart/2024/3/layout/hArchList1"/>
    <dgm:cxn modelId="{78A2ECE9-7898-4D71-8F01-344E58AB0732}" type="presParOf" srcId="{47B589AB-4538-4ADA-B494-E479239854AF}" destId="{B46D6A3A-1378-4F91-BF97-E26C2CCC8243}" srcOrd="0" destOrd="0" presId="urn:microsoft.com/office/officeart/2024/3/layout/hArchList1"/>
    <dgm:cxn modelId="{D562358B-2D67-4A20-9CA2-33FD67CD33D5}" type="presParOf" srcId="{47B589AB-4538-4ADA-B494-E479239854AF}" destId="{BDB6C0FB-7D5F-442E-9773-737A2732E092}"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EAC3AC-370A-4869-B730-E3C4A371B68E}">
      <dsp:nvSpPr>
        <dsp:cNvPr id="0" name=""/>
        <dsp:cNvSpPr/>
      </dsp:nvSpPr>
      <dsp:spPr>
        <a:xfrm>
          <a:off x="0" y="0"/>
          <a:ext cx="3481975" cy="46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defRPr b="1"/>
          </a:pPr>
          <a:r>
            <a:rPr lang="en-US" sz="2400" kern="1200" dirty="0">
              <a:solidFill>
                <a:srgbClr val="FF0000"/>
              </a:solidFill>
            </a:rPr>
            <a:t>Pillars of Cloud Valuing</a:t>
          </a:r>
        </a:p>
      </dsp:txBody>
      <dsp:txXfrm>
        <a:off x="0" y="0"/>
        <a:ext cx="3481975" cy="461999"/>
      </dsp:txXfrm>
    </dsp:sp>
    <dsp:sp modelId="{61093B23-7CAD-496C-BB89-D56A2D6E34CF}">
      <dsp:nvSpPr>
        <dsp:cNvPr id="0" name=""/>
        <dsp:cNvSpPr/>
      </dsp:nvSpPr>
      <dsp:spPr>
        <a:xfrm>
          <a:off x="0" y="510287"/>
          <a:ext cx="3481975" cy="19585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pPr>
          <a:r>
            <a:rPr lang="en-US" sz="2400" kern="1200" dirty="0"/>
            <a:t>- TCO</a:t>
          </a:r>
        </a:p>
        <a:p>
          <a:pPr marL="0" lvl="0" indent="0" algn="l" defTabSz="1066800">
            <a:lnSpc>
              <a:spcPct val="100000"/>
            </a:lnSpc>
            <a:spcBef>
              <a:spcPct val="0"/>
            </a:spcBef>
            <a:spcAft>
              <a:spcPct val="35000"/>
            </a:spcAft>
            <a:buNone/>
          </a:pPr>
          <a:r>
            <a:rPr lang="en-US" sz="2400" kern="1200" dirty="0"/>
            <a:t>- Efficiency</a:t>
          </a:r>
        </a:p>
        <a:p>
          <a:pPr marL="0" lvl="0" indent="0" algn="l" defTabSz="1066800">
            <a:lnSpc>
              <a:spcPct val="100000"/>
            </a:lnSpc>
            <a:spcBef>
              <a:spcPct val="0"/>
            </a:spcBef>
            <a:spcAft>
              <a:spcPct val="35000"/>
            </a:spcAft>
            <a:buNone/>
          </a:pPr>
          <a:r>
            <a:rPr lang="en-US" sz="2400" kern="1200" dirty="0"/>
            <a:t>- Resilience</a:t>
          </a:r>
        </a:p>
        <a:p>
          <a:pPr marL="0" lvl="0" indent="0" algn="l" defTabSz="1066800">
            <a:lnSpc>
              <a:spcPct val="100000"/>
            </a:lnSpc>
            <a:spcBef>
              <a:spcPct val="0"/>
            </a:spcBef>
            <a:spcAft>
              <a:spcPct val="35000"/>
            </a:spcAft>
            <a:buNone/>
          </a:pPr>
          <a:r>
            <a:rPr lang="en-US" sz="2400" kern="1200" dirty="0"/>
            <a:t>- Agility</a:t>
          </a:r>
        </a:p>
        <a:p>
          <a:pPr marL="0" lvl="0" indent="0" algn="l" defTabSz="1066800">
            <a:lnSpc>
              <a:spcPct val="100000"/>
            </a:lnSpc>
            <a:spcBef>
              <a:spcPct val="0"/>
            </a:spcBef>
            <a:spcAft>
              <a:spcPct val="35000"/>
            </a:spcAft>
            <a:buFont typeface="Wingdings" panose="05000000000000000000" pitchFamily="2" charset="2"/>
            <a:buNone/>
          </a:pPr>
          <a:endParaRPr lang="en-US" sz="2400" kern="1200" dirty="0"/>
        </a:p>
      </dsp:txBody>
      <dsp:txXfrm>
        <a:off x="0" y="510287"/>
        <a:ext cx="3481975" cy="1958592"/>
      </dsp:txXfrm>
    </dsp:sp>
    <dsp:sp modelId="{1A6879FF-9584-47FA-A5AF-6081A0E0FEA6}">
      <dsp:nvSpPr>
        <dsp:cNvPr id="0" name=""/>
        <dsp:cNvSpPr/>
      </dsp:nvSpPr>
      <dsp:spPr>
        <a:xfrm>
          <a:off x="3830173" y="0"/>
          <a:ext cx="3481975" cy="46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defRPr b="1"/>
          </a:pPr>
          <a:r>
            <a:rPr lang="en-US" sz="2400" kern="1200" dirty="0">
              <a:solidFill>
                <a:srgbClr val="FF0000"/>
              </a:solidFill>
            </a:rPr>
            <a:t>Pricing Strategies</a:t>
          </a:r>
        </a:p>
      </dsp:txBody>
      <dsp:txXfrm>
        <a:off x="3830173" y="0"/>
        <a:ext cx="3481975" cy="461999"/>
      </dsp:txXfrm>
    </dsp:sp>
    <dsp:sp modelId="{180BAC68-36FD-4444-A8B0-F0615F1DA29E}">
      <dsp:nvSpPr>
        <dsp:cNvPr id="0" name=""/>
        <dsp:cNvSpPr/>
      </dsp:nvSpPr>
      <dsp:spPr>
        <a:xfrm>
          <a:off x="3830173" y="461999"/>
          <a:ext cx="3481975" cy="19585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pPr>
          <a:r>
            <a:rPr lang="en-US" sz="2400" kern="1200" dirty="0"/>
            <a:t>- </a:t>
          </a:r>
          <a:r>
            <a:rPr lang="en-US" altLang="zh-CN" sz="2400" kern="1200" dirty="0"/>
            <a:t>Tiered Pricing</a:t>
          </a:r>
        </a:p>
        <a:p>
          <a:pPr marL="0" lvl="0" indent="0" algn="l" defTabSz="1066800">
            <a:lnSpc>
              <a:spcPct val="100000"/>
            </a:lnSpc>
            <a:spcBef>
              <a:spcPct val="0"/>
            </a:spcBef>
            <a:spcAft>
              <a:spcPct val="35000"/>
            </a:spcAft>
            <a:buNone/>
          </a:pPr>
          <a:r>
            <a:rPr lang="en-US" sz="2400" kern="1200" dirty="0"/>
            <a:t>- </a:t>
          </a:r>
          <a:r>
            <a:rPr lang="en-US" altLang="zh-CN" sz="2400" kern="1200" dirty="0"/>
            <a:t>Per-unit Pricing</a:t>
          </a:r>
          <a:endParaRPr lang="en-US" sz="2400" kern="1200" dirty="0"/>
        </a:p>
        <a:p>
          <a:pPr marL="0" lvl="0" indent="0" algn="l" defTabSz="1066800">
            <a:lnSpc>
              <a:spcPct val="100000"/>
            </a:lnSpc>
            <a:spcBef>
              <a:spcPct val="0"/>
            </a:spcBef>
            <a:spcAft>
              <a:spcPct val="35000"/>
            </a:spcAft>
            <a:buNone/>
          </a:pPr>
          <a:r>
            <a:rPr lang="en-US" sz="2400" kern="1200" dirty="0"/>
            <a:t>- </a:t>
          </a:r>
          <a:r>
            <a:rPr lang="en-US" altLang="zh-CN" sz="2000" kern="1200" dirty="0"/>
            <a:t>Subscription-based Pricing</a:t>
          </a:r>
          <a:endParaRPr lang="en-US" sz="2400" kern="1200" dirty="0"/>
        </a:p>
      </dsp:txBody>
      <dsp:txXfrm>
        <a:off x="3830173" y="461999"/>
        <a:ext cx="3481975" cy="1958592"/>
      </dsp:txXfrm>
    </dsp:sp>
    <dsp:sp modelId="{B46D6A3A-1378-4F91-BF97-E26C2CCC8243}">
      <dsp:nvSpPr>
        <dsp:cNvPr id="0" name=""/>
        <dsp:cNvSpPr/>
      </dsp:nvSpPr>
      <dsp:spPr>
        <a:xfrm>
          <a:off x="7660346" y="0"/>
          <a:ext cx="3481975" cy="46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5400" rIns="25400" bIns="25400" numCol="1" spcCol="1270" anchor="t" anchorCtr="0">
          <a:noAutofit/>
        </a:bodyPr>
        <a:lstStyle/>
        <a:p>
          <a:pPr marL="0" lvl="0" indent="0" algn="l" defTabSz="889000">
            <a:lnSpc>
              <a:spcPct val="100000"/>
            </a:lnSpc>
            <a:spcBef>
              <a:spcPct val="0"/>
            </a:spcBef>
            <a:spcAft>
              <a:spcPct val="35000"/>
            </a:spcAft>
            <a:buNone/>
            <a:defRPr b="1"/>
          </a:pPr>
          <a:r>
            <a:rPr lang="en-US" sz="2000" kern="1200" dirty="0">
              <a:solidFill>
                <a:srgbClr val="FF0000"/>
              </a:solidFill>
            </a:rPr>
            <a:t>Cloud Economics Pitfalls</a:t>
          </a:r>
        </a:p>
      </dsp:txBody>
      <dsp:txXfrm>
        <a:off x="7660346" y="0"/>
        <a:ext cx="3481975" cy="461999"/>
      </dsp:txXfrm>
    </dsp:sp>
    <dsp:sp modelId="{BDB6C0FB-7D5F-442E-9773-737A2732E092}">
      <dsp:nvSpPr>
        <dsp:cNvPr id="0" name=""/>
        <dsp:cNvSpPr/>
      </dsp:nvSpPr>
      <dsp:spPr>
        <a:xfrm>
          <a:off x="7660346" y="461999"/>
          <a:ext cx="3481975" cy="19585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ts val="0"/>
            </a:spcAft>
            <a:buNone/>
          </a:pPr>
          <a:r>
            <a:rPr lang="en-US" sz="1800" kern="1200" baseline="0" dirty="0"/>
            <a:t>- </a:t>
          </a:r>
          <a:r>
            <a:rPr lang="en-US" altLang="zh-CN" sz="1800" kern="1200" baseline="0" dirty="0"/>
            <a:t>Assuming financials don’t      </a:t>
          </a:r>
        </a:p>
        <a:p>
          <a:pPr marL="0" lvl="0" indent="0" algn="l" defTabSz="800100">
            <a:lnSpc>
              <a:spcPct val="100000"/>
            </a:lnSpc>
            <a:spcBef>
              <a:spcPct val="0"/>
            </a:spcBef>
            <a:spcAft>
              <a:spcPts val="0"/>
            </a:spcAft>
            <a:buNone/>
          </a:pPr>
          <a:r>
            <a:rPr lang="en-US" altLang="zh-CN" sz="1800" kern="1200" baseline="0" dirty="0"/>
            <a:t>  evolve </a:t>
          </a:r>
        </a:p>
        <a:p>
          <a:pPr marL="0" lvl="0" indent="0" algn="l" defTabSz="800100">
            <a:lnSpc>
              <a:spcPct val="100000"/>
            </a:lnSpc>
            <a:spcBef>
              <a:spcPct val="0"/>
            </a:spcBef>
            <a:spcAft>
              <a:spcPts val="0"/>
            </a:spcAft>
            <a:buNone/>
          </a:pPr>
          <a:r>
            <a:rPr lang="en-US" altLang="zh-CN" sz="1800" kern="1200" baseline="0" dirty="0"/>
            <a:t>- Basing projections on historical </a:t>
          </a:r>
        </a:p>
        <a:p>
          <a:pPr marL="0" lvl="0" indent="0" algn="l" defTabSz="800100">
            <a:lnSpc>
              <a:spcPct val="100000"/>
            </a:lnSpc>
            <a:spcBef>
              <a:spcPct val="0"/>
            </a:spcBef>
            <a:spcAft>
              <a:spcPts val="0"/>
            </a:spcAft>
            <a:buNone/>
          </a:pPr>
          <a:r>
            <a:rPr lang="en-US" altLang="zh-CN" sz="1800" kern="1200" baseline="0" dirty="0"/>
            <a:t>   usage</a:t>
          </a:r>
          <a:endParaRPr lang="en-US" sz="1800" kern="1200" baseline="0" dirty="0"/>
        </a:p>
        <a:p>
          <a:pPr marL="0" lvl="0" indent="0" algn="l" defTabSz="800100">
            <a:lnSpc>
              <a:spcPct val="100000"/>
            </a:lnSpc>
            <a:spcBef>
              <a:spcPct val="0"/>
            </a:spcBef>
            <a:spcAft>
              <a:spcPts val="0"/>
            </a:spcAft>
            <a:buNone/>
          </a:pPr>
          <a:r>
            <a:rPr lang="en-US" altLang="zh-CN" sz="1800" kern="1200" baseline="0" dirty="0"/>
            <a:t>- Treating all cloud elements the   </a:t>
          </a:r>
        </a:p>
        <a:p>
          <a:pPr marL="0" lvl="0" indent="0" algn="l" defTabSz="800100">
            <a:lnSpc>
              <a:spcPct val="100000"/>
            </a:lnSpc>
            <a:spcBef>
              <a:spcPct val="0"/>
            </a:spcBef>
            <a:spcAft>
              <a:spcPts val="0"/>
            </a:spcAft>
            <a:buNone/>
          </a:pPr>
          <a:r>
            <a:rPr lang="en-US" altLang="zh-CN" sz="1800" kern="1200" baseline="0" dirty="0"/>
            <a:t>   same</a:t>
          </a:r>
          <a:endParaRPr lang="zh-CN" altLang="en-US" sz="1800" kern="1200" baseline="0" dirty="0"/>
        </a:p>
        <a:p>
          <a:pPr marL="0" lvl="0" indent="0" algn="l" defTabSz="800100">
            <a:lnSpc>
              <a:spcPct val="100000"/>
            </a:lnSpc>
            <a:spcBef>
              <a:spcPct val="0"/>
            </a:spcBef>
            <a:spcAft>
              <a:spcPts val="0"/>
            </a:spcAft>
            <a:buNone/>
          </a:pPr>
          <a:r>
            <a:rPr lang="en-US" altLang="zh-CN" sz="1800" kern="1200" baseline="0" dirty="0"/>
            <a:t>- Putting all data in the cloud</a:t>
          </a:r>
          <a:endParaRPr lang="zh-CN" altLang="en-US" sz="1800" kern="1200" baseline="0" dirty="0"/>
        </a:p>
      </dsp:txBody>
      <dsp:txXfrm>
        <a:off x="7660346" y="461999"/>
        <a:ext cx="3481975" cy="1958592"/>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2/24/2025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2/24/2025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oracle.com/artificial-intelligence/machine-learning/what-is-machine-learning/"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1ACA3-C978-93D5-2052-A5BA35FAE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0FA9A-EB90-A016-CF4A-A687AB62A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ACD4B-773B-8AD2-C068-38C477B1CF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A35A31-D022-20A4-0081-BC09821DB7B1}"/>
              </a:ext>
            </a:extLst>
          </p:cNvPr>
          <p:cNvSpPr>
            <a:spLocks noGrp="1"/>
          </p:cNvSpPr>
          <p:nvPr>
            <p:ph type="sldNum" sz="quarter" idx="10"/>
          </p:nvPr>
        </p:nvSpPr>
        <p:spPr/>
        <p:txBody>
          <a:bodyPr/>
          <a:lstStyle/>
          <a:p>
            <a:fld id="{0A3C37BE-C303-496D-B5CD-85F2937540FC}" type="slidenum">
              <a:rPr lang="en-US" smtClean="0"/>
              <a:t>2</a:t>
            </a:fld>
            <a:endParaRPr lang="en-US"/>
          </a:p>
        </p:txBody>
      </p:sp>
    </p:spTree>
    <p:extLst>
      <p:ext uri="{BB962C8B-B14F-4D97-AF65-F5344CB8AC3E}">
        <p14:creationId xmlns:p14="http://schemas.microsoft.com/office/powerpoint/2010/main" val="415112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a:t>
            </a:fld>
            <a:endParaRPr lang="en-US"/>
          </a:p>
        </p:txBody>
      </p:sp>
    </p:spTree>
    <p:extLst>
      <p:ext uri="{BB962C8B-B14F-4D97-AF65-F5344CB8AC3E}">
        <p14:creationId xmlns:p14="http://schemas.microsoft.com/office/powerpoint/2010/main" val="40872537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ltLang="zh-CN" sz="1200" dirty="0"/>
              <a:t>Leaders assess the critical elements involved in a potential cloud migration.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dirty="0"/>
              <a:t>Cloud economics studies the financial impact of cloud computing, including elements such as :</a:t>
            </a:r>
            <a:br>
              <a:rPr lang="en-US" altLang="zh-CN" sz="1200" dirty="0"/>
            </a:br>
            <a:r>
              <a:rPr lang="en-US" altLang="zh-CN" sz="1200" dirty="0"/>
              <a:t>	legacy hardware investments, </a:t>
            </a:r>
          </a:p>
          <a:p>
            <a:pPr marL="914400"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dirty="0"/>
              <a:t>monthly cloud service budgeting, </a:t>
            </a:r>
          </a:p>
          <a:p>
            <a:pPr marL="914400"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dirty="0"/>
              <a:t>and projected savings due to better collaboration and technical innovations, </a:t>
            </a:r>
          </a:p>
          <a:p>
            <a:pPr marL="914400"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dirty="0"/>
              <a:t>to help an organization better assess its situation.</a:t>
            </a:r>
          </a:p>
          <a:p>
            <a:r>
              <a:rPr lang="en-US" altLang="zh-CN" b="1" dirty="0"/>
              <a:t>What is a cloud economist?</a:t>
            </a:r>
            <a:endParaRPr lang="en-US" altLang="zh-CN" dirty="0"/>
          </a:p>
          <a:p>
            <a:r>
              <a:rPr lang="en-US" altLang="zh-CN" dirty="0"/>
              <a:t>A cloud economist is someone in an organization that looks at the tangible and theoretical benefits of cloud infrastructure. </a:t>
            </a:r>
          </a:p>
          <a:p>
            <a:r>
              <a:rPr lang="en-US" altLang="zh-CN" dirty="0"/>
              <a:t>Their scope of examination ranges from practical cost savings via hardware reduction to projected savings from accelerated workflows and increased collaboration.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sz="1200" dirty="0"/>
          </a:p>
          <a:p>
            <a:pPr marL="171450" indent="-171450">
              <a:buFont typeface="Arial" panose="020B0604020202020204" pitchFamily="34" charset="0"/>
              <a:buChar char="•"/>
            </a:pPr>
            <a:endParaRPr lang="en-US" altLang="zh-CN" sz="1200" dirty="0"/>
          </a:p>
          <a:p>
            <a:pPr marL="171450" indent="-171450">
              <a:buFont typeface="Arial" panose="020B0604020202020204" pitchFamily="34" charset="0"/>
              <a:buChar char="•"/>
            </a:pP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4</a:t>
            </a:fld>
            <a:endParaRPr lang="en-US" dirty="0"/>
          </a:p>
        </p:txBody>
      </p:sp>
    </p:spTree>
    <p:extLst>
      <p:ext uri="{BB962C8B-B14F-4D97-AF65-F5344CB8AC3E}">
        <p14:creationId xmlns:p14="http://schemas.microsoft.com/office/powerpoint/2010/main" val="3400434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5</a:t>
            </a:fld>
            <a:endParaRPr lang="en-US" dirty="0"/>
          </a:p>
        </p:txBody>
      </p:sp>
    </p:spTree>
    <p:extLst>
      <p:ext uri="{BB962C8B-B14F-4D97-AF65-F5344CB8AC3E}">
        <p14:creationId xmlns:p14="http://schemas.microsoft.com/office/powerpoint/2010/main" val="39619919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26F8C-0F31-3E46-61AF-4695D24C8C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B15DAB-C7F0-E857-DBDD-B49AD9723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A38CF-6135-AA10-5810-1D819F587311}"/>
              </a:ext>
            </a:extLst>
          </p:cNvPr>
          <p:cNvSpPr>
            <a:spLocks noGrp="1"/>
          </p:cNvSpPr>
          <p:nvPr>
            <p:ph type="body" idx="1"/>
          </p:nvPr>
        </p:nvSpPr>
        <p:spPr/>
        <p:txBody>
          <a:bodyPr/>
          <a:lstStyle/>
          <a:p>
            <a:r>
              <a:rPr lang="en-US" altLang="zh-CN" b="1" dirty="0"/>
              <a:t>Scalability:</a:t>
            </a:r>
            <a:r>
              <a:rPr lang="en-US" altLang="zh-CN" dirty="0"/>
              <a:t> </a:t>
            </a:r>
          </a:p>
          <a:p>
            <a:r>
              <a:rPr lang="en-US" altLang="zh-CN" dirty="0"/>
              <a:t>In a data center, resource growth is dependent on purchasing and integrating new hardware. </a:t>
            </a:r>
          </a:p>
          <a:p>
            <a:r>
              <a:rPr lang="en-US" altLang="zh-CN" dirty="0"/>
              <a:t>When demand spikes, scaling to meet that demand can be a costly and slow process.</a:t>
            </a:r>
          </a:p>
          <a:p>
            <a:r>
              <a:rPr lang="en-US" altLang="zh-CN" dirty="0"/>
              <a:t>In a cloud environment, resource usage scales as needed based on configurations and SLAs, making it easier to maintain stability and functionality as your needs expand. </a:t>
            </a:r>
          </a:p>
          <a:p>
            <a:r>
              <a:rPr lang="en-US" altLang="zh-CN" dirty="0"/>
              <a:t>Businesses can easily scale cloud resources up or down based on demand, avoiding over-provisioning of hardware.</a:t>
            </a:r>
          </a:p>
          <a:p>
            <a:r>
              <a:rPr lang="en-US" altLang="zh-CN" b="1" dirty="0"/>
              <a:t>Improved collaboration:</a:t>
            </a:r>
            <a:endParaRPr lang="en-US" altLang="zh-CN" dirty="0"/>
          </a:p>
          <a:p>
            <a:r>
              <a:rPr lang="en-US" altLang="zh-CN" dirty="0"/>
              <a:t>By granting easier access to tools, data, and lines of communication, cloud computing can significantly </a:t>
            </a:r>
          </a:p>
          <a:p>
            <a:r>
              <a:rPr lang="en-US" altLang="zh-CN" dirty="0"/>
              <a:t>increase staff collaboration and accelerate data sharing among departments.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3D3D3D"/>
                </a:solidFill>
                <a:effectLst/>
                <a:latin typeface="Gill Sans MT" panose="020B0502020104020203" pitchFamily="34" charset="0"/>
              </a:rPr>
              <a:t>Flexibility:</a:t>
            </a:r>
            <a:r>
              <a:rPr lang="en-US" altLang="zh-CN" sz="1200" dirty="0">
                <a:solidFill>
                  <a:srgbClr val="3D3D3D"/>
                </a:solidFill>
                <a:effectLst/>
                <a:latin typeface="Gill Sans MT" panose="020B0502020104020203" pitchFamily="34" charset="0"/>
              </a:rPr>
              <a:t> The scalability of the cloud allows it to handle sudden increases in demand efficiently.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3D3D3D"/>
                </a:solidFill>
                <a:effectLst/>
                <a:latin typeface="Gill Sans MT" panose="020B0502020104020203" pitchFamily="34" charset="0"/>
              </a:rPr>
              <a:t>For instance, if an app experiences a surge in download requests due to a viral moment, local data centers may struggle to upgrade in time.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3D3D3D"/>
                </a:solidFill>
                <a:effectLst/>
                <a:latin typeface="Gill Sans MT" panose="020B0502020104020203" pitchFamily="34" charset="0"/>
              </a:rPr>
              <a:t>The cloud's pay-as-you-go model enables it to manage these spikes without requiring significant long-term investments.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3D3D3D"/>
                </a:solidFill>
                <a:effectLst/>
                <a:latin typeface="Gill Sans MT" panose="020B0502020104020203" pitchFamily="34" charset="0"/>
              </a:rPr>
              <a:t>IT productivity:</a:t>
            </a:r>
            <a:endParaRPr lang="en-US" altLang="zh-CN" sz="1200" dirty="0">
              <a:solidFill>
                <a:srgbClr val="3D3D3D"/>
              </a:solidFill>
              <a:effectLst/>
              <a:latin typeface="Gill Sans MT" panose="020B05020201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3D3D3D"/>
                </a:solidFill>
                <a:effectLst/>
                <a:latin typeface="Gill Sans MT" panose="020B0502020104020203" pitchFamily="34" charset="0"/>
              </a:rPr>
              <a:t>This transition enables staff to focus on more important projects that enhance the organization, such as product development.</a:t>
            </a:r>
          </a:p>
          <a:p>
            <a:r>
              <a:rPr lang="en-US" altLang="zh-CN" sz="1200" b="1" dirty="0"/>
              <a:t>Increased security:</a:t>
            </a:r>
            <a:r>
              <a:rPr lang="en-US" altLang="zh-CN" sz="1200" dirty="0"/>
              <a:t> </a:t>
            </a:r>
          </a:p>
          <a:p>
            <a:r>
              <a:rPr lang="en-US" altLang="zh-CN" sz="1200" dirty="0"/>
              <a:t>From a practical perspective, public cloud providers focus their entire business models on ensuring security for their customers, so their investments in and efforts to maintain security will generally outdo those of individual IT departments. </a:t>
            </a:r>
          </a:p>
          <a:p>
            <a:r>
              <a:rPr lang="en-US" altLang="zh-CN" sz="1200" dirty="0"/>
              <a:t>Big cloud providers have more tiers of defense, larger investments in the latest security innovations, a better ability to hire scarce security talent, and faster compliance with the latest regulatory rules. In addition, centralized administration executes all patching and security updates for infrastructure and applications quickly and with minimal or no downtime.</a:t>
            </a:r>
          </a:p>
          <a:p>
            <a:r>
              <a:rPr lang="en-US" altLang="zh-CN" sz="1200" b="1" dirty="0"/>
              <a:t>Better disaster recovery:</a:t>
            </a:r>
            <a:r>
              <a:rPr lang="en-US" altLang="zh-CN" sz="1200" dirty="0"/>
              <a:t> </a:t>
            </a:r>
          </a:p>
          <a:p>
            <a:r>
              <a:rPr lang="en-US" altLang="zh-CN" sz="1200" dirty="0"/>
              <a:t>Greater levels of redundancy, fast failover, and anywhere, anytime access ensure users can recover data, even in the event of a natural disaster.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3D3D3D"/>
              </a:solidFill>
              <a:effectLst/>
              <a:latin typeface="Gill Sans MT" panose="020B0502020104020203" pitchFamily="34" charset="0"/>
            </a:endParaRPr>
          </a:p>
          <a:p>
            <a:endParaRPr lang="en-US" altLang="zh-CN" dirty="0"/>
          </a:p>
          <a:p>
            <a:endParaRPr lang="zh-CN" altLang="en-US" dirty="0"/>
          </a:p>
        </p:txBody>
      </p:sp>
      <p:sp>
        <p:nvSpPr>
          <p:cNvPr id="4" name="Slide Number Placeholder 3">
            <a:extLst>
              <a:ext uri="{FF2B5EF4-FFF2-40B4-BE49-F238E27FC236}">
                <a16:creationId xmlns:a16="http://schemas.microsoft.com/office/drawing/2014/main" id="{61A42097-B287-A3DA-65EE-EE6EDDC5DF78}"/>
              </a:ext>
            </a:extLst>
          </p:cNvPr>
          <p:cNvSpPr>
            <a:spLocks noGrp="1"/>
          </p:cNvSpPr>
          <p:nvPr>
            <p:ph type="sldNum" sz="quarter" idx="5"/>
          </p:nvPr>
        </p:nvSpPr>
        <p:spPr/>
        <p:txBody>
          <a:bodyPr/>
          <a:lstStyle/>
          <a:p>
            <a:fld id="{C6B3AB32-59DF-41F1-9618-EDFBF5049629}" type="slidenum">
              <a:rPr lang="en-US" smtClean="0"/>
              <a:t>6</a:t>
            </a:fld>
            <a:endParaRPr lang="en-US" dirty="0"/>
          </a:p>
        </p:txBody>
      </p:sp>
    </p:spTree>
    <p:extLst>
      <p:ext uri="{BB962C8B-B14F-4D97-AF65-F5344CB8AC3E}">
        <p14:creationId xmlns:p14="http://schemas.microsoft.com/office/powerpoint/2010/main" val="3561881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7EF27-DFDA-4B8B-D461-4F252ECDD9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C5FF85-4052-E544-752E-BD559CA40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C300A5-44BF-5C9A-2A7D-FA4499C46259}"/>
              </a:ext>
            </a:extLst>
          </p:cNvPr>
          <p:cNvSpPr>
            <a:spLocks noGrp="1"/>
          </p:cNvSpPr>
          <p:nvPr>
            <p:ph type="body" idx="1"/>
          </p:nvPr>
        </p:nvSpPr>
        <p:spPr/>
        <p:txBody>
          <a:bodyPr/>
          <a:lstStyle/>
          <a:p>
            <a:r>
              <a:rPr lang="en-US" altLang="zh-CN" b="1" dirty="0"/>
              <a:t>Reduced TCO:</a:t>
            </a:r>
            <a:r>
              <a:rPr lang="en-US" altLang="zh-CN" dirty="0"/>
              <a:t> With an on-premises configuration, an organization must budget for all stages of a hardware cycle, from initial acquisition to maintenance costs and configuration time. In a cloud environment, the provider handles data center needs. The provider’s staff takes care of replacements and repairs, relieving cloud customers of the need for capital investments and ongoing licensing and maintenance costs.</a:t>
            </a:r>
          </a:p>
          <a:p>
            <a:r>
              <a:rPr lang="en-US" altLang="zh-CN" b="1" dirty="0"/>
              <a:t>Save on intangibles:</a:t>
            </a:r>
            <a:r>
              <a:rPr lang="en-US" altLang="zh-CN" dirty="0"/>
              <a:t> If your IT staff aren’t burdened by maintenance tasks, such as troubleshooting a problematic server, where could they spend that time and effort? Moving to the cloud frees them up so they can further IT innovation for the organization and drive improvements that create efficiencies and stability.</a:t>
            </a:r>
          </a:p>
          <a:p>
            <a:r>
              <a:rPr lang="en-US" altLang="zh-CN" b="1" dirty="0"/>
              <a:t>Scale as needed:</a:t>
            </a:r>
            <a:r>
              <a:rPr lang="en-US" altLang="zh-CN" dirty="0"/>
              <a:t> </a:t>
            </a:r>
          </a:p>
          <a:p>
            <a:r>
              <a:rPr lang="en-US" altLang="zh-CN" dirty="0"/>
              <a:t>When working with an on-premises data center, hardware plans must account for the maximum possible resource usage. </a:t>
            </a:r>
          </a:p>
          <a:p>
            <a:r>
              <a:rPr lang="en-US" altLang="zh-CN" dirty="0"/>
              <a:t>For example, if an upcoming launch is expected to drive traffic, then IT must scale to that volume with additional safety-net coverage. </a:t>
            </a:r>
          </a:p>
          <a:p>
            <a:r>
              <a:rPr lang="en-US" altLang="zh-CN" dirty="0"/>
              <a:t>However, if the app’s launch drives less than the anticipated traffic, all that overhead will be wasted. Cloud providers scale on demand with a pay-as-you-go pricing model</a:t>
            </a:r>
          </a:p>
          <a:p>
            <a:pPr marL="171450" indent="-171450">
              <a:buFont typeface="Arial" panose="020B0604020202020204" pitchFamily="34" charset="0"/>
              <a:buChar char="•"/>
            </a:pPr>
            <a:endParaRPr lang="zh-CN" altLang="en-US" dirty="0"/>
          </a:p>
        </p:txBody>
      </p:sp>
      <p:sp>
        <p:nvSpPr>
          <p:cNvPr id="4" name="Slide Number Placeholder 3">
            <a:extLst>
              <a:ext uri="{FF2B5EF4-FFF2-40B4-BE49-F238E27FC236}">
                <a16:creationId xmlns:a16="http://schemas.microsoft.com/office/drawing/2014/main" id="{A30EE62A-F626-DB8E-D5A8-4C1044DB9A75}"/>
              </a:ext>
            </a:extLst>
          </p:cNvPr>
          <p:cNvSpPr>
            <a:spLocks noGrp="1"/>
          </p:cNvSpPr>
          <p:nvPr>
            <p:ph type="sldNum" sz="quarter" idx="5"/>
          </p:nvPr>
        </p:nvSpPr>
        <p:spPr/>
        <p:txBody>
          <a:bodyPr/>
          <a:lstStyle/>
          <a:p>
            <a:fld id="{C6B3AB32-59DF-41F1-9618-EDFBF5049629}" type="slidenum">
              <a:rPr lang="en-US" smtClean="0"/>
              <a:t>7</a:t>
            </a:fld>
            <a:endParaRPr lang="en-US" dirty="0"/>
          </a:p>
        </p:txBody>
      </p:sp>
    </p:spTree>
    <p:extLst>
      <p:ext uri="{BB962C8B-B14F-4D97-AF65-F5344CB8AC3E}">
        <p14:creationId xmlns:p14="http://schemas.microsoft.com/office/powerpoint/2010/main" val="16064433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7B741-6743-DB5F-8184-811EE609C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88C26-D02D-761B-B9DF-1819DBB83A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09C7EA-07E9-37AE-B16E-A8371AF8779A}"/>
              </a:ext>
            </a:extLst>
          </p:cNvPr>
          <p:cNvSpPr>
            <a:spLocks noGrp="1"/>
          </p:cNvSpPr>
          <p:nvPr>
            <p:ph type="body" idx="1"/>
          </p:nvPr>
        </p:nvSpPr>
        <p:spPr/>
        <p:txBody>
          <a:bodyPr/>
          <a:lstStyle/>
          <a:p>
            <a:pPr marL="171450" indent="-171450">
              <a:buFont typeface="Arial" panose="020B0604020202020204" pitchFamily="34" charset="0"/>
              <a:buChar char="•"/>
            </a:pPr>
            <a:r>
              <a:rPr lang="en-US" altLang="zh-CN" sz="1200" dirty="0"/>
              <a:t>Human nature makes us all prone to bias. Whether it’s staff locked into legacy applications or simple resistance to new technologies</a:t>
            </a:r>
          </a:p>
          <a:p>
            <a:pPr marL="171450" indent="-171450">
              <a:buFont typeface="Arial" panose="020B0604020202020204" pitchFamily="34" charset="0"/>
              <a:buChar char="•"/>
            </a:pPr>
            <a:r>
              <a:rPr lang="en-US" altLang="zh-CN" sz="1200" dirty="0"/>
              <a:t>Each organization’s comfort level with risk varies and depends on criteria such as culture, budget, and technical expertise. Knowing an organization's standard risk/reward approach—and when it can be adjusted—builds tolerances and boundaries for cloud economics calculations</a:t>
            </a:r>
          </a:p>
          <a:p>
            <a:pPr marL="171450" indent="-171450">
              <a:buFont typeface="Arial" panose="020B0604020202020204" pitchFamily="34" charset="0"/>
              <a:buChar char="•"/>
            </a:pPr>
            <a:endParaRPr lang="en-US" altLang="zh-CN" sz="1200" dirty="0"/>
          </a:p>
          <a:p>
            <a:pPr algn="just"/>
            <a:r>
              <a:rPr lang="en-US" altLang="zh-CN" sz="1200" dirty="0"/>
              <a:t>In addition to expected financial and technology considerations, a cloud economics analysis should factor in the following cultural elements:</a:t>
            </a:r>
          </a:p>
          <a:p>
            <a:pPr marL="0" indent="0" algn="just">
              <a:buNone/>
            </a:pPr>
            <a:r>
              <a:rPr lang="en-US" altLang="zh-CN" sz="1200" b="1" dirty="0"/>
              <a:t>Current processes:</a:t>
            </a:r>
            <a:r>
              <a:rPr lang="en-US" altLang="zh-CN" sz="1200" dirty="0"/>
              <a:t> </a:t>
            </a:r>
          </a:p>
          <a:p>
            <a:pPr marL="0" indent="0" algn="just">
              <a:buNone/>
            </a:pPr>
            <a:r>
              <a:rPr lang="en-US" altLang="zh-CN" sz="1200" dirty="0"/>
              <a:t>Will a shift to cloud computing impact processes that drive core business? </a:t>
            </a:r>
          </a:p>
          <a:p>
            <a:pPr marL="0" indent="0" algn="just">
              <a:buNone/>
            </a:pPr>
            <a:r>
              <a:rPr lang="en-US" altLang="zh-CN" sz="1200" dirty="0"/>
              <a:t>If so, will the change require new training and skills? </a:t>
            </a:r>
          </a:p>
          <a:p>
            <a:pPr marL="0" indent="0" algn="just">
              <a:buNone/>
            </a:pPr>
            <a:r>
              <a:rPr lang="en-US" altLang="zh-CN" sz="1200" dirty="0"/>
              <a:t>And will the involved teams have the bandwidth to absorb such a change? </a:t>
            </a:r>
          </a:p>
          <a:p>
            <a:pPr marL="0" indent="0" algn="just">
              <a:buNone/>
            </a:pPr>
            <a:endParaRPr lang="en-US" altLang="zh-CN" sz="1200" dirty="0"/>
          </a:p>
          <a:p>
            <a:pPr marL="171450" indent="-171450">
              <a:buFont typeface="Arial" panose="020B0604020202020204" pitchFamily="34" charset="0"/>
              <a:buChar char="•"/>
            </a:pPr>
            <a:endParaRPr lang="zh-CN" altLang="en-US" dirty="0"/>
          </a:p>
        </p:txBody>
      </p:sp>
      <p:sp>
        <p:nvSpPr>
          <p:cNvPr id="4" name="Slide Number Placeholder 3">
            <a:extLst>
              <a:ext uri="{FF2B5EF4-FFF2-40B4-BE49-F238E27FC236}">
                <a16:creationId xmlns:a16="http://schemas.microsoft.com/office/drawing/2014/main" id="{0472F3E3-9306-46F1-C863-DE88432E7CB8}"/>
              </a:ext>
            </a:extLst>
          </p:cNvPr>
          <p:cNvSpPr>
            <a:spLocks noGrp="1"/>
          </p:cNvSpPr>
          <p:nvPr>
            <p:ph type="sldNum" sz="quarter" idx="5"/>
          </p:nvPr>
        </p:nvSpPr>
        <p:spPr/>
        <p:txBody>
          <a:bodyPr/>
          <a:lstStyle/>
          <a:p>
            <a:fld id="{C6B3AB32-59DF-41F1-9618-EDFBF5049629}" type="slidenum">
              <a:rPr lang="en-US" smtClean="0"/>
              <a:t>9</a:t>
            </a:fld>
            <a:endParaRPr lang="en-US" dirty="0"/>
          </a:p>
        </p:txBody>
      </p:sp>
    </p:spTree>
    <p:extLst>
      <p:ext uri="{BB962C8B-B14F-4D97-AF65-F5344CB8AC3E}">
        <p14:creationId xmlns:p14="http://schemas.microsoft.com/office/powerpoint/2010/main" val="653314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ltLang="zh-CN" dirty="0"/>
              <a:t>Cloud platforms provide organizational benefits, including improved collaboration and stronger DevOps support. </a:t>
            </a: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10</a:t>
            </a:fld>
            <a:endParaRPr lang="en-US" dirty="0"/>
          </a:p>
        </p:txBody>
      </p:sp>
    </p:spTree>
    <p:extLst>
      <p:ext uri="{BB962C8B-B14F-4D97-AF65-F5344CB8AC3E}">
        <p14:creationId xmlns:p14="http://schemas.microsoft.com/office/powerpoint/2010/main" val="1831629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E9BCC-D1ED-5769-E130-F5D0F9E95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97D8F3-EFC3-7E03-EC8D-FAA317DA40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A86944-9B10-FB98-5B8F-A12E26AA4293}"/>
              </a:ext>
            </a:extLst>
          </p:cNvPr>
          <p:cNvSpPr>
            <a:spLocks noGrp="1"/>
          </p:cNvSpPr>
          <p:nvPr>
            <p:ph type="body" idx="1"/>
          </p:nvPr>
        </p:nvSpPr>
        <p:spPr/>
        <p:txBody>
          <a:bodyPr/>
          <a:lstStyle/>
          <a:p>
            <a:pPr marL="171450" indent="-171450">
              <a:buFont typeface="Arial" panose="020B0604020202020204" pitchFamily="34" charset="0"/>
              <a:buChar char="•"/>
            </a:pPr>
            <a:r>
              <a:rPr lang="en-US" altLang="zh-CN" dirty="0"/>
              <a:t>Cloud platforms provide organizational benefits, including improved collaboration and stronger DevOps support.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b="1" dirty="0"/>
              <a:t>Operational resilience:</a:t>
            </a:r>
            <a:r>
              <a:rPr lang="en-US" altLang="zh-CN" dirty="0"/>
              <a:t> Local data centers face a constant risk of real-world issues affecting availability. Natural disasters, power outages, and even local politics regarding infrastructure can all cause unexpected downtime for on-premises equipment. Cloud providers build uptime guarantees into service level agreements and design their business models around redundancy, giving customers greater resilience.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b="1" dirty="0"/>
              <a:t>Operational agility</a:t>
            </a:r>
            <a:r>
              <a:rPr lang="en-US" altLang="zh-CN" dirty="0"/>
              <a:t> refers to an organization’s ability to quickly and effectively </a:t>
            </a:r>
            <a:r>
              <a:rPr lang="en-US" altLang="zh-CN" b="1" dirty="0"/>
              <a:t>adapt to changes</a:t>
            </a:r>
            <a:r>
              <a:rPr lang="en-US" altLang="zh-CN" dirty="0"/>
              <a:t> in its environment, operations, or market conditions</a:t>
            </a:r>
          </a:p>
          <a:p>
            <a:pPr marL="171450" indent="-171450">
              <a:buFont typeface="Arial" panose="020B0604020202020204" pitchFamily="34" charset="0"/>
              <a:buChar char="•"/>
            </a:pPr>
            <a:endParaRPr lang="zh-CN" altLang="en-US" dirty="0"/>
          </a:p>
        </p:txBody>
      </p:sp>
      <p:sp>
        <p:nvSpPr>
          <p:cNvPr id="4" name="Slide Number Placeholder 3">
            <a:extLst>
              <a:ext uri="{FF2B5EF4-FFF2-40B4-BE49-F238E27FC236}">
                <a16:creationId xmlns:a16="http://schemas.microsoft.com/office/drawing/2014/main" id="{DAEB4E50-0C65-4F81-3731-0BE4591CC609}"/>
              </a:ext>
            </a:extLst>
          </p:cNvPr>
          <p:cNvSpPr>
            <a:spLocks noGrp="1"/>
          </p:cNvSpPr>
          <p:nvPr>
            <p:ph type="sldNum" sz="quarter" idx="5"/>
          </p:nvPr>
        </p:nvSpPr>
        <p:spPr/>
        <p:txBody>
          <a:bodyPr/>
          <a:lstStyle/>
          <a:p>
            <a:fld id="{C6B3AB32-59DF-41F1-9618-EDFBF5049629}" type="slidenum">
              <a:rPr lang="en-US" smtClean="0"/>
              <a:t>11</a:t>
            </a:fld>
            <a:endParaRPr lang="en-US" dirty="0"/>
          </a:p>
        </p:txBody>
      </p:sp>
    </p:spTree>
    <p:extLst>
      <p:ext uri="{BB962C8B-B14F-4D97-AF65-F5344CB8AC3E}">
        <p14:creationId xmlns:p14="http://schemas.microsoft.com/office/powerpoint/2010/main" val="1174731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zh-CN" altLang="en-US" dirty="0"/>
              <a:t>A SWOT analysis of cloud computing highlights its strengths, such as flexibility and scalability, which make it attractive for businesses.</a:t>
            </a:r>
            <a:endParaRPr lang="en-US" altLang="zh-CN" dirty="0"/>
          </a:p>
          <a:p>
            <a:pPr marL="171450" indent="-171450">
              <a:buFont typeface="Arial" panose="020B0604020202020204" pitchFamily="34" charset="0"/>
              <a:buChar char="•"/>
            </a:pPr>
            <a:r>
              <a:rPr lang="zh-CN" altLang="en-US" dirty="0"/>
              <a:t> However, weaknesses like security risks and provider dependency must be managed. </a:t>
            </a:r>
            <a:endParaRPr lang="en-US" altLang="zh-CN" dirty="0"/>
          </a:p>
          <a:p>
            <a:pPr marL="171450" indent="-171450">
              <a:buFont typeface="Arial" panose="020B0604020202020204" pitchFamily="34" charset="0"/>
              <a:buChar char="•"/>
            </a:pPr>
            <a:r>
              <a:rPr lang="zh-CN" altLang="en-US" dirty="0"/>
              <a:t>Additionally, the rapid growth of cloud services presents opportunities, </a:t>
            </a:r>
            <a:endParaRPr lang="en-US" altLang="zh-CN" dirty="0"/>
          </a:p>
          <a:p>
            <a:pPr marL="171450" indent="-171450">
              <a:buFont typeface="Arial" panose="020B0604020202020204" pitchFamily="34" charset="0"/>
              <a:buChar char="•"/>
            </a:pPr>
            <a:r>
              <a:rPr lang="zh-CN" altLang="en-US" dirty="0"/>
              <a:t>while competitive pressures and regulatory issues pose potential threats. </a:t>
            </a:r>
            <a:r>
              <a:rPr lang="en-US" altLang="zh-CN" dirty="0"/>
              <a:t>Competition among cloud providers can lead to price wars, which can either benefit or harm businesses depending on their provider.</a:t>
            </a:r>
          </a:p>
          <a:p>
            <a:pPr marL="171450" indent="-171450">
              <a:buFont typeface="Arial" panose="020B0604020202020204" pitchFamily="34" charset="0"/>
              <a:buChar char="•"/>
            </a:pPr>
            <a:r>
              <a:rPr lang="en-US" altLang="zh-CN" b="1" dirty="0"/>
              <a:t>Opportunities</a:t>
            </a:r>
            <a:r>
              <a:rPr lang="en-US" altLang="zh-CN" dirty="0"/>
              <a:t>:</a:t>
            </a:r>
          </a:p>
          <a:p>
            <a:pPr marL="171450" indent="-171450">
              <a:buFont typeface="Arial" panose="020B0604020202020204" pitchFamily="34" charset="0"/>
              <a:buChar char="•"/>
            </a:pPr>
            <a:r>
              <a:rPr lang="en-US" altLang="zh-CN" dirty="0"/>
              <a:t>Growth in cloud adoption across industries, especially in AI, Big Data, and IoT.</a:t>
            </a:r>
          </a:p>
          <a:p>
            <a:pPr marL="171450" indent="-171450">
              <a:buFont typeface="Arial" panose="020B0604020202020204" pitchFamily="34" charset="0"/>
              <a:buChar char="•"/>
            </a:pPr>
            <a:r>
              <a:rPr lang="en-US" altLang="zh-CN" dirty="0"/>
              <a:t>New services, tools, and innovations in the cloud space (like edge computing and serverless architectures) offer cost-saving opportunities.</a:t>
            </a: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12</a:t>
            </a:fld>
            <a:endParaRPr lang="en-US" dirty="0"/>
          </a:p>
        </p:txBody>
      </p:sp>
    </p:spTree>
    <p:extLst>
      <p:ext uri="{BB962C8B-B14F-4D97-AF65-F5344CB8AC3E}">
        <p14:creationId xmlns:p14="http://schemas.microsoft.com/office/powerpoint/2010/main" val="2144635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General risks associated with cloud computing include data security, where breaches can lead to severe consequences. Compliance with various laws adds complexity, and service outages can greatly impact businesses. Additionally, risks of data loss through accidental deletions or attacks must be considered when relying on cloud services.</a:t>
            </a:r>
          </a:p>
        </p:txBody>
      </p:sp>
      <p:sp>
        <p:nvSpPr>
          <p:cNvPr id="4" name="Slide Number Placeholder 3"/>
          <p:cNvSpPr>
            <a:spLocks noGrp="1"/>
          </p:cNvSpPr>
          <p:nvPr>
            <p:ph type="sldNum" sz="quarter" idx="5"/>
          </p:nvPr>
        </p:nvSpPr>
        <p:spPr/>
        <p:txBody>
          <a:bodyPr/>
          <a:lstStyle/>
          <a:p>
            <a:fld id="{C6B3AB32-59DF-41F1-9618-EDFBF5049629}" type="slidenum">
              <a:rPr lang="en-US" smtClean="0"/>
              <a:t>13</a:t>
            </a:fld>
            <a:endParaRPr lang="en-US" dirty="0"/>
          </a:p>
        </p:txBody>
      </p:sp>
    </p:spTree>
    <p:extLst>
      <p:ext uri="{BB962C8B-B14F-4D97-AF65-F5344CB8AC3E}">
        <p14:creationId xmlns:p14="http://schemas.microsoft.com/office/powerpoint/2010/main" val="3672067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When analyzing the costs of cloud computing, it's essential to understand the total cost of ownership, including all services used. Different providers offer varying cost structures, and users should be aware of potential hidden costs, such as data transfer fees. Ongoing monitoring of usage is necessary for effective budgeting.</a:t>
            </a:r>
          </a:p>
        </p:txBody>
      </p:sp>
      <p:sp>
        <p:nvSpPr>
          <p:cNvPr id="4" name="Slide Number Placeholder 3"/>
          <p:cNvSpPr>
            <a:spLocks noGrp="1"/>
          </p:cNvSpPr>
          <p:nvPr>
            <p:ph type="sldNum" sz="quarter" idx="5"/>
          </p:nvPr>
        </p:nvSpPr>
        <p:spPr/>
        <p:txBody>
          <a:bodyPr/>
          <a:lstStyle/>
          <a:p>
            <a:fld id="{C6B3AB32-59DF-41F1-9618-EDFBF5049629}" type="slidenum">
              <a:rPr lang="en-US" smtClean="0"/>
              <a:t>14</a:t>
            </a:fld>
            <a:endParaRPr lang="en-US" dirty="0"/>
          </a:p>
        </p:txBody>
      </p:sp>
    </p:spTree>
    <p:extLst>
      <p:ext uri="{BB962C8B-B14F-4D97-AF65-F5344CB8AC3E}">
        <p14:creationId xmlns:p14="http://schemas.microsoft.com/office/powerpoint/2010/main" val="8931440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When selecting an Infrastructure as a Service (IaaS) provider, it's vital to evaluate the reliability and uptime guarantees of the service. A diverse range of services provided can enhance flexibility. The geographical location of data centers is important for compliance and performance, while robust customer support is essential for addressing issues quickly.</a:t>
            </a:r>
          </a:p>
        </p:txBody>
      </p:sp>
      <p:sp>
        <p:nvSpPr>
          <p:cNvPr id="4" name="Slide Number Placeholder 3"/>
          <p:cNvSpPr>
            <a:spLocks noGrp="1"/>
          </p:cNvSpPr>
          <p:nvPr>
            <p:ph type="sldNum" sz="quarter" idx="5"/>
          </p:nvPr>
        </p:nvSpPr>
        <p:spPr/>
        <p:txBody>
          <a:bodyPr/>
          <a:lstStyle/>
          <a:p>
            <a:fld id="{C6B3AB32-59DF-41F1-9618-EDFBF5049629}" type="slidenum">
              <a:rPr lang="en-US" smtClean="0"/>
              <a:t>15</a:t>
            </a:fld>
            <a:endParaRPr lang="en-US" dirty="0"/>
          </a:p>
        </p:txBody>
      </p:sp>
    </p:spTree>
    <p:extLst>
      <p:ext uri="{BB962C8B-B14F-4D97-AF65-F5344CB8AC3E}">
        <p14:creationId xmlns:p14="http://schemas.microsoft.com/office/powerpoint/2010/main" val="24258259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Cloud standards play a crucial role in ensuring compatibility among various services, which facilitates interoperability. </a:t>
            </a:r>
            <a:endParaRPr lang="en-US" altLang="zh-CN" dirty="0"/>
          </a:p>
          <a:p>
            <a:r>
              <a:rPr lang="zh-CN" altLang="en-US" dirty="0"/>
              <a:t>This compatibility allows organizations to avoid vendor lock-in, enhancing their operational flexibility. </a:t>
            </a:r>
            <a:endParaRPr lang="en-US" altLang="zh-CN" dirty="0"/>
          </a:p>
          <a:p>
            <a:r>
              <a:rPr lang="zh-CN" altLang="en-US" dirty="0"/>
              <a:t>By adopting open standards, businesses can drive innovation, although they must remain vigilant about the evolving nature of these standards.</a:t>
            </a:r>
          </a:p>
        </p:txBody>
      </p:sp>
      <p:sp>
        <p:nvSpPr>
          <p:cNvPr id="4" name="Slide Number Placeholder 3"/>
          <p:cNvSpPr>
            <a:spLocks noGrp="1"/>
          </p:cNvSpPr>
          <p:nvPr>
            <p:ph type="sldNum" sz="quarter" idx="5"/>
          </p:nvPr>
        </p:nvSpPr>
        <p:spPr/>
        <p:txBody>
          <a:bodyPr/>
          <a:lstStyle/>
          <a:p>
            <a:fld id="{C6B3AB32-59DF-41F1-9618-EDFBF5049629}" type="slidenum">
              <a:rPr lang="en-US" smtClean="0"/>
              <a:t>16</a:t>
            </a:fld>
            <a:endParaRPr lang="en-US" dirty="0"/>
          </a:p>
        </p:txBody>
      </p:sp>
    </p:spTree>
    <p:extLst>
      <p:ext uri="{BB962C8B-B14F-4D97-AF65-F5344CB8AC3E}">
        <p14:creationId xmlns:p14="http://schemas.microsoft.com/office/powerpoint/2010/main" val="40938925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To achieve a successful cloud migration, organizations should develop a clear strategy and roadmap that outlines the process. </a:t>
            </a:r>
            <a:endParaRPr lang="en-US" altLang="zh-CN" dirty="0"/>
          </a:p>
          <a:p>
            <a:r>
              <a:rPr lang="zh-CN" altLang="en-US" dirty="0"/>
              <a:t>Identifying and prioritizing applications for migration helps streamline efforts. </a:t>
            </a:r>
            <a:endParaRPr lang="en-US" altLang="zh-CN" dirty="0"/>
          </a:p>
          <a:p>
            <a:r>
              <a:rPr lang="zh-CN" altLang="en-US" dirty="0"/>
              <a:t>Comprehensive testing before full deployment mitigates risks, and engaging stakeholders throughout the process ensures buy-in and alignment with business goals.</a:t>
            </a:r>
          </a:p>
        </p:txBody>
      </p:sp>
      <p:sp>
        <p:nvSpPr>
          <p:cNvPr id="4" name="Slide Number Placeholder 3"/>
          <p:cNvSpPr>
            <a:spLocks noGrp="1"/>
          </p:cNvSpPr>
          <p:nvPr>
            <p:ph type="sldNum" sz="quarter" idx="5"/>
          </p:nvPr>
        </p:nvSpPr>
        <p:spPr/>
        <p:txBody>
          <a:bodyPr/>
          <a:lstStyle/>
          <a:p>
            <a:fld id="{C6B3AB32-59DF-41F1-9618-EDFBF5049629}" type="slidenum">
              <a:rPr lang="en-US" smtClean="0"/>
              <a:t>17</a:t>
            </a:fld>
            <a:endParaRPr lang="en-US" dirty="0"/>
          </a:p>
        </p:txBody>
      </p:sp>
    </p:spTree>
    <p:extLst>
      <p:ext uri="{BB962C8B-B14F-4D97-AF65-F5344CB8AC3E}">
        <p14:creationId xmlns:p14="http://schemas.microsoft.com/office/powerpoint/2010/main" val="31130651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To get approval for the cloud migration process, organizations must make a business case that addresses their specific needs. </a:t>
            </a:r>
          </a:p>
          <a:p>
            <a:r>
              <a:rPr lang="en-US" altLang="zh-CN" dirty="0"/>
              <a:t>A government office will have different needs than a small tech startup or an established corporation with legacy databases. A cloud environment will likely provide more flexibility while reducing costs in nearly any circumstance—but realizing the benefits depends on the execution.</a:t>
            </a:r>
          </a:p>
          <a:p>
            <a:r>
              <a:rPr lang="en-US" altLang="zh-CN" dirty="0"/>
              <a:t>To make a sound business case for cloud economics, organizations should consider the following questions:</a:t>
            </a:r>
          </a:p>
          <a:p>
            <a:endParaRPr lang="en-US" altLang="zh-CN" dirty="0"/>
          </a:p>
          <a:p>
            <a:r>
              <a:rPr lang="en-US" altLang="zh-CN" b="1" dirty="0"/>
              <a:t>What are our existing data center costs?</a:t>
            </a:r>
            <a:r>
              <a:rPr lang="en-US" altLang="zh-CN" dirty="0"/>
              <a:t> To get started, organizations must evaluate their existing data center hardware, software, maintenance, and operational spend. Technical resources, licenses, regular repair and maintenance, and human labor costs all add up to a number that acts as a benchmark for a cloud economics analysis.</a:t>
            </a:r>
          </a:p>
          <a:p>
            <a:r>
              <a:rPr lang="en-US" altLang="zh-CN" b="1" dirty="0"/>
              <a:t>How difficult will migration be?</a:t>
            </a:r>
            <a:r>
              <a:rPr lang="en-US" altLang="zh-CN" dirty="0"/>
              <a:t> </a:t>
            </a:r>
          </a:p>
          <a:p>
            <a:r>
              <a:rPr lang="en-US" altLang="zh-CN" dirty="0"/>
              <a:t>An organization that has an existing configuration with databases and internal networking is likely to have a more straightforward migration than a company that bases revenue on a larger customer base querying database records via an app. </a:t>
            </a:r>
          </a:p>
          <a:p>
            <a:r>
              <a:rPr lang="en-US" altLang="zh-CN" dirty="0"/>
              <a:t>Migration can be gradual, completed in stages, or done in one fell swoop with planned downtime and a backup strategy in place. </a:t>
            </a:r>
          </a:p>
          <a:p>
            <a:r>
              <a:rPr lang="en-US" altLang="zh-CN" dirty="0"/>
              <a:t>Organizations must project the one-time costs of migration, including time for testing apps on the new infrastructure. </a:t>
            </a:r>
          </a:p>
          <a:p>
            <a:r>
              <a:rPr lang="en-US" altLang="zh-CN" dirty="0"/>
              <a:t>Do you have a lot of custom or homegrown applications that will need to be moved to the cloud?</a:t>
            </a:r>
          </a:p>
          <a:p>
            <a:r>
              <a:rPr lang="en-US" altLang="zh-CN" b="1" dirty="0"/>
              <a:t>What will monthly cloud costs be?</a:t>
            </a:r>
            <a:r>
              <a:rPr lang="en-US" altLang="zh-CN" dirty="0"/>
              <a:t> Once migration is complete, organizations can begin to examine projected monthly costs based on a combination of historical usage and upcoming activity. In addition to provider estimates for monthly fees, budget projections should include related costs such as management time, training, and governance.</a:t>
            </a:r>
          </a:p>
          <a:p>
            <a:r>
              <a:rPr lang="en-US" altLang="zh-CN" b="1" dirty="0"/>
              <a:t>How will this improve processes?</a:t>
            </a:r>
            <a:r>
              <a:rPr lang="en-US" altLang="zh-CN" dirty="0"/>
              <a:t> If cloud migration will reduce monthly costs, then that offers a strong business case for transitioning. However, decision makers should look beyond the numbers to fully understand the scope of change. Enhanced collaboration, </a:t>
            </a:r>
            <a:r>
              <a:rPr lang="en-US" altLang="zh-CN" dirty="0">
                <a:hlinkClick r:id="rId3"/>
              </a:rPr>
              <a:t>machine learning capabilities</a:t>
            </a:r>
            <a:r>
              <a:rPr lang="en-US" altLang="zh-CN" dirty="0"/>
              <a:t>, improved processes, and increased levels of security are just the start. For developers and engineers, the cloud can accelerate rollouts while allowing for micro-updates rather than huge milestone releases. For operations teams, the cloud offers easier ways to unify and share data, allowing different groups to gain insights on demand. When making the business case for cloud economics, organizations must factor in the financial impact of these improvements as part of their long-term projections.</a:t>
            </a:r>
          </a:p>
          <a:p>
            <a:endParaRPr lang="en-US" altLang="zh-CN" dirty="0"/>
          </a:p>
          <a:p>
            <a:endParaRPr lang="en-US" altLang="zh-CN" dirty="0"/>
          </a:p>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19</a:t>
            </a:fld>
            <a:endParaRPr lang="en-US" dirty="0"/>
          </a:p>
        </p:txBody>
      </p:sp>
    </p:spTree>
    <p:extLst>
      <p:ext uri="{BB962C8B-B14F-4D97-AF65-F5344CB8AC3E}">
        <p14:creationId xmlns:p14="http://schemas.microsoft.com/office/powerpoint/2010/main" val="3831540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While it’s true that a cloud migration delivers many benefits, the nuances of cloud economics require forethought, smart decision-making, and continual monitoring. </a:t>
            </a:r>
          </a:p>
          <a:p>
            <a:r>
              <a:rPr lang="en-US" altLang="zh-CN" dirty="0"/>
              <a:t>Otherwise, common mistakes can occur, including the following:</a:t>
            </a:r>
          </a:p>
          <a:p>
            <a:r>
              <a:rPr lang="en-US" altLang="zh-CN" b="1" dirty="0"/>
              <a:t>Assuming financials don’t evolve:</a:t>
            </a:r>
            <a:r>
              <a:rPr lang="en-US" altLang="zh-CN" dirty="0"/>
              <a:t> </a:t>
            </a:r>
          </a:p>
          <a:p>
            <a:r>
              <a:rPr lang="en-US" altLang="zh-CN" dirty="0"/>
              <a:t>The savings accrued during the first week, month, or even year don’t necessarily reflect longer-term financial projections. </a:t>
            </a:r>
          </a:p>
          <a:p>
            <a:r>
              <a:rPr lang="en-US" altLang="zh-CN" dirty="0"/>
              <a:t>Big-picture cloud economics takes many different variables into account, including accelerated development time and new cloud-based features. </a:t>
            </a:r>
          </a:p>
          <a:p>
            <a:r>
              <a:rPr lang="en-US" altLang="zh-CN" b="1" dirty="0"/>
              <a:t>Basing projections on historical usage:</a:t>
            </a:r>
            <a:r>
              <a:rPr lang="en-US" altLang="zh-CN" dirty="0"/>
              <a:t> </a:t>
            </a:r>
          </a:p>
          <a:p>
            <a:r>
              <a:rPr lang="en-US" altLang="zh-CN" dirty="0"/>
              <a:t>Cloud budgeting is based on a pay-as-you-go model, but organizations that rely only on historical usage patterns may find themselves unprepared to handle a spike in activity. </a:t>
            </a:r>
          </a:p>
          <a:p>
            <a:r>
              <a:rPr lang="en-US" altLang="zh-CN" dirty="0"/>
              <a:t>Historical usage should be only one of the data points considered in projecting budgets. Seasonality, the frequency of releases and upgrades, publicity and marketing campaigns, and other factors also require consideration for proper cloud resource planning.</a:t>
            </a:r>
          </a:p>
          <a:p>
            <a:r>
              <a:rPr lang="en-US" altLang="zh-CN" dirty="0"/>
              <a:t>While it’s true that a cloud migration delivers many benefits, the nuances of cloud economics require forethought, smart decision-making, and continual monitoring. Otherwise, common mistakes can occur, including the following:</a:t>
            </a:r>
          </a:p>
          <a:p>
            <a:r>
              <a:rPr lang="en-US" altLang="zh-CN" b="1" dirty="0"/>
              <a:t>Treating all cloud elements the same:</a:t>
            </a:r>
            <a:r>
              <a:rPr lang="en-US" altLang="zh-CN" dirty="0"/>
              <a:t> </a:t>
            </a:r>
          </a:p>
          <a:p>
            <a:r>
              <a:rPr lang="en-US" altLang="zh-CN" dirty="0"/>
              <a:t>Compute, storage, and other infrastructure elements will likely hold different priorities for each organization. IT teams should identify their priorities and the scope of their resources to understand which elements benefit most from the scalability and elasticity of a cloud environment.</a:t>
            </a:r>
          </a:p>
          <a:p>
            <a:r>
              <a:rPr lang="en-US" altLang="zh-CN" b="1" dirty="0"/>
              <a:t>Putting all data in the cloud:</a:t>
            </a:r>
            <a:r>
              <a:rPr lang="en-US" altLang="zh-CN" dirty="0"/>
              <a:t> Some applications won’t benefit from being in the cloud. In these situations, migrating the app creates additional work and costs when it might be simpler and more cost-effective to keep the status quo. Organizations should evaluate all their potential workloads to identify any that can, and should, remain as is for cost and resource efficiency.</a:t>
            </a:r>
          </a:p>
          <a:p>
            <a:endParaRPr lang="en-US" altLang="zh-CN" dirty="0"/>
          </a:p>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20</a:t>
            </a:fld>
            <a:endParaRPr lang="en-US" dirty="0"/>
          </a:p>
        </p:txBody>
      </p:sp>
    </p:spTree>
    <p:extLst>
      <p:ext uri="{BB962C8B-B14F-4D97-AF65-F5344CB8AC3E}">
        <p14:creationId xmlns:p14="http://schemas.microsoft.com/office/powerpoint/2010/main" val="38604335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There are three different </a:t>
            </a:r>
            <a:r>
              <a:rPr lang="en-US" altLang="zh-CN" b="1" dirty="0"/>
              <a:t>Pricing Strategies</a:t>
            </a:r>
            <a:r>
              <a:rPr lang="en-US" altLang="zh-CN" dirty="0"/>
              <a:t> that are introduced by Cloud Computing: Tiered Pricing, Per-unit Pricing, and Subscription-based Pricing.</a:t>
            </a:r>
          </a:p>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21</a:t>
            </a:fld>
            <a:endParaRPr lang="en-US" dirty="0"/>
          </a:p>
        </p:txBody>
      </p:sp>
    </p:spTree>
    <p:extLst>
      <p:ext uri="{BB962C8B-B14F-4D97-AF65-F5344CB8AC3E}">
        <p14:creationId xmlns:p14="http://schemas.microsoft.com/office/powerpoint/2010/main" val="4306864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Under normal conditions, we don’t have to pay for more than what we need and at the same time we do not want to receive less than what we paid for.</a:t>
            </a:r>
          </a:p>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22</a:t>
            </a:fld>
            <a:endParaRPr lang="en-US" dirty="0"/>
          </a:p>
        </p:txBody>
      </p:sp>
    </p:spTree>
    <p:extLst>
      <p:ext uri="{BB962C8B-B14F-4D97-AF65-F5344CB8AC3E}">
        <p14:creationId xmlns:p14="http://schemas.microsoft.com/office/powerpoint/2010/main" val="41528481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In the best of all worlds, at all times we would have exactly the correct amount of resources to satisfy demand or D(t) =R(t). We can call this </a:t>
            </a:r>
            <a:r>
              <a:rPr lang="en-US" altLang="zh-CN" sz="1200" b="1" dirty="0">
                <a:solidFill>
                  <a:srgbClr val="C00000"/>
                </a:solidFill>
              </a:rPr>
              <a:t>perfect capacity</a:t>
            </a:r>
            <a:r>
              <a:rPr lang="en-US" altLang="zh-CN" sz="1200" dirty="0"/>
              <a:t>. In attempting to match resources to capacity, there are six major areas to consider.</a:t>
            </a:r>
          </a:p>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23</a:t>
            </a:fld>
            <a:endParaRPr lang="en-US" dirty="0"/>
          </a:p>
        </p:txBody>
      </p:sp>
    </p:spTree>
    <p:extLst>
      <p:ext uri="{BB962C8B-B14F-4D97-AF65-F5344CB8AC3E}">
        <p14:creationId xmlns:p14="http://schemas.microsoft.com/office/powerpoint/2010/main" val="1449389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dirty="0"/>
              <a:t>Case Study Reflection Questions</a:t>
            </a:r>
          </a:p>
          <a:p>
            <a:pPr>
              <a:buFont typeface="Arial" panose="020B0604020202020204" pitchFamily="34" charset="0"/>
              <a:buChar char="•"/>
            </a:pPr>
            <a:r>
              <a:rPr lang="en-US" altLang="zh-CN" dirty="0"/>
              <a:t>What are the key cost drivers in cloud computing?</a:t>
            </a:r>
          </a:p>
          <a:p>
            <a:pPr>
              <a:buFont typeface="Arial" panose="020B0604020202020204" pitchFamily="34" charset="0"/>
              <a:buChar char="•"/>
            </a:pPr>
            <a:r>
              <a:rPr lang="en-US" altLang="zh-CN" dirty="0"/>
              <a:t>How does scalability impact economic decisions in cloud adoption?</a:t>
            </a:r>
          </a:p>
          <a:p>
            <a:pPr>
              <a:buFont typeface="Arial" panose="020B0604020202020204" pitchFamily="34" charset="0"/>
              <a:buChar char="•"/>
            </a:pPr>
            <a:r>
              <a:rPr lang="en-US" altLang="zh-CN" dirty="0"/>
              <a:t>What strategies can </a:t>
            </a:r>
            <a:r>
              <a:rPr lang="en-US" altLang="zh-CN" dirty="0" err="1"/>
              <a:t>OptiSoft</a:t>
            </a:r>
            <a:r>
              <a:rPr lang="en-US" altLang="zh-CN" dirty="0"/>
              <a:t> Uganda use to minimize cloud expenses?</a:t>
            </a:r>
          </a:p>
          <a:p>
            <a:pPr>
              <a:buFont typeface="Arial" panose="020B0604020202020204" pitchFamily="34" charset="0"/>
              <a:buChar char="•"/>
            </a:pPr>
            <a:r>
              <a:rPr lang="en-US" altLang="zh-CN" dirty="0"/>
              <a:t>What are the hidden costs of cloud migration that </a:t>
            </a:r>
            <a:r>
              <a:rPr lang="en-US" altLang="zh-CN" dirty="0" err="1"/>
              <a:t>OptiSoft</a:t>
            </a:r>
            <a:r>
              <a:rPr lang="en-US" altLang="zh-CN" dirty="0"/>
              <a:t> Uganda should consider?</a:t>
            </a:r>
          </a:p>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27</a:t>
            </a:fld>
            <a:endParaRPr lang="en-US" dirty="0"/>
          </a:p>
        </p:txBody>
      </p:sp>
    </p:spTree>
    <p:extLst>
      <p:ext uri="{BB962C8B-B14F-4D97-AF65-F5344CB8AC3E}">
        <p14:creationId xmlns:p14="http://schemas.microsoft.com/office/powerpoint/2010/main" val="1717326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6F4C7-A5CC-EE2A-1A96-72A14DE7E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6E4F6-6054-D155-9AC7-C5D06ABD8A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60A033-BAED-A68E-1A4B-C2E405EAB4ED}"/>
              </a:ext>
            </a:extLst>
          </p:cNvPr>
          <p:cNvSpPr>
            <a:spLocks noGrp="1"/>
          </p:cNvSpPr>
          <p:nvPr>
            <p:ph type="body" idx="1"/>
          </p:nvPr>
        </p:nvSpPr>
        <p:spPr/>
        <p:txBody>
          <a:bodyPr/>
          <a:lstStyle/>
          <a:p>
            <a:r>
              <a:rPr lang="en-US" altLang="zh-CN" b="1" dirty="0"/>
              <a:t>Decision Point</a:t>
            </a:r>
          </a:p>
          <a:p>
            <a:r>
              <a:rPr lang="en-US" altLang="zh-CN" dirty="0"/>
              <a:t>Before making the final decision, </a:t>
            </a:r>
            <a:r>
              <a:rPr lang="en-US" altLang="zh-CN" dirty="0" err="1"/>
              <a:t>OptiSoft</a:t>
            </a:r>
            <a:r>
              <a:rPr lang="en-US" altLang="zh-CN" dirty="0"/>
              <a:t> Uganda’s leadership team wants to analyze the </a:t>
            </a:r>
            <a:r>
              <a:rPr lang="en-US" altLang="zh-CN" b="1" dirty="0"/>
              <a:t>economic impact</a:t>
            </a:r>
            <a:r>
              <a:rPr lang="en-US" altLang="zh-CN" dirty="0"/>
              <a:t> of moving to the cloud. The company is concerned about:</a:t>
            </a:r>
          </a:p>
          <a:p>
            <a:pPr>
              <a:buFont typeface="+mj-lt"/>
              <a:buAutoNum type="arabicPeriod"/>
            </a:pPr>
            <a:r>
              <a:rPr lang="en-US" altLang="zh-CN" b="1" dirty="0"/>
              <a:t>Cost savings vs. long-term expenses</a:t>
            </a:r>
            <a:r>
              <a:rPr lang="en-US" altLang="zh-CN" dirty="0"/>
              <a:t>: Is pay-as-you-go truly more economical than owning infrastructure?</a:t>
            </a:r>
          </a:p>
          <a:p>
            <a:pPr>
              <a:buFont typeface="+mj-lt"/>
              <a:buAutoNum type="arabicPeriod"/>
            </a:pPr>
            <a:r>
              <a:rPr lang="en-US" altLang="zh-CN" b="1" dirty="0"/>
              <a:t>Vendor lock-in</a:t>
            </a:r>
            <a:r>
              <a:rPr lang="en-US" altLang="zh-CN" dirty="0"/>
              <a:t>: If they commit to one cloud provider, will it be difficult and costly to switch later?</a:t>
            </a:r>
          </a:p>
          <a:p>
            <a:pPr>
              <a:buFont typeface="+mj-lt"/>
              <a:buAutoNum type="arabicPeriod"/>
            </a:pPr>
            <a:r>
              <a:rPr lang="en-US" altLang="zh-CN" b="1" dirty="0"/>
              <a:t>Security risks</a:t>
            </a:r>
            <a:r>
              <a:rPr lang="en-US" altLang="zh-CN" dirty="0"/>
              <a:t>: Can the cloud provider guarantee the same level of security as an on-premise setup?</a:t>
            </a:r>
          </a:p>
          <a:p>
            <a:pPr>
              <a:buFont typeface="+mj-lt"/>
              <a:buAutoNum type="arabicPeriod"/>
            </a:pPr>
            <a:r>
              <a:rPr lang="en-US" altLang="zh-CN" b="1" dirty="0"/>
              <a:t>Performance concerns</a:t>
            </a:r>
            <a:r>
              <a:rPr lang="en-US" altLang="zh-CN" dirty="0"/>
              <a:t>: Will cloud latency impact software deployment and performance?</a:t>
            </a:r>
          </a:p>
          <a:p>
            <a:endParaRPr lang="en-US" altLang="zh-CN" b="1" dirty="0"/>
          </a:p>
          <a:p>
            <a:r>
              <a:rPr lang="en-US" altLang="zh-CN" b="1" dirty="0"/>
              <a:t>Case Study Reflection Questions</a:t>
            </a:r>
          </a:p>
          <a:p>
            <a:pPr>
              <a:buFont typeface="Arial" panose="020B0604020202020204" pitchFamily="34" charset="0"/>
              <a:buChar char="•"/>
            </a:pPr>
            <a:r>
              <a:rPr lang="en-US" altLang="zh-CN" dirty="0"/>
              <a:t>What are the key cost drivers in cloud computing?</a:t>
            </a:r>
          </a:p>
          <a:p>
            <a:pPr>
              <a:buFont typeface="Arial" panose="020B0604020202020204" pitchFamily="34" charset="0"/>
              <a:buChar char="•"/>
            </a:pPr>
            <a:r>
              <a:rPr lang="en-US" altLang="zh-CN" dirty="0"/>
              <a:t>How does scalability impact economic decisions in cloud adoption?</a:t>
            </a:r>
          </a:p>
          <a:p>
            <a:pPr>
              <a:buFont typeface="Arial" panose="020B0604020202020204" pitchFamily="34" charset="0"/>
              <a:buChar char="•"/>
            </a:pPr>
            <a:r>
              <a:rPr lang="en-US" altLang="zh-CN" dirty="0"/>
              <a:t>What strategies can </a:t>
            </a:r>
            <a:r>
              <a:rPr lang="en-US" altLang="zh-CN" dirty="0" err="1"/>
              <a:t>OptiSoft</a:t>
            </a:r>
            <a:r>
              <a:rPr lang="en-US" altLang="zh-CN" dirty="0"/>
              <a:t> Uganda use to minimize cloud expenses?</a:t>
            </a:r>
          </a:p>
          <a:p>
            <a:pPr>
              <a:buFont typeface="Arial" panose="020B0604020202020204" pitchFamily="34" charset="0"/>
              <a:buChar char="•"/>
            </a:pPr>
            <a:r>
              <a:rPr lang="en-US" altLang="zh-CN" dirty="0"/>
              <a:t>What are the hidden costs of cloud migration that </a:t>
            </a:r>
            <a:r>
              <a:rPr lang="en-US" altLang="zh-CN" dirty="0" err="1"/>
              <a:t>OptiSoft</a:t>
            </a:r>
            <a:r>
              <a:rPr lang="en-US" altLang="zh-CN" dirty="0"/>
              <a:t> Uganda should consider?</a:t>
            </a:r>
          </a:p>
          <a:p>
            <a:endParaRPr lang="zh-CN" altLang="en-US" dirty="0"/>
          </a:p>
        </p:txBody>
      </p:sp>
      <p:sp>
        <p:nvSpPr>
          <p:cNvPr id="4" name="Slide Number Placeholder 3">
            <a:extLst>
              <a:ext uri="{FF2B5EF4-FFF2-40B4-BE49-F238E27FC236}">
                <a16:creationId xmlns:a16="http://schemas.microsoft.com/office/drawing/2014/main" id="{7AF5444C-E380-F928-D0F3-0488104190E5}"/>
              </a:ext>
            </a:extLst>
          </p:cNvPr>
          <p:cNvSpPr>
            <a:spLocks noGrp="1"/>
          </p:cNvSpPr>
          <p:nvPr>
            <p:ph type="sldNum" sz="quarter" idx="5"/>
          </p:nvPr>
        </p:nvSpPr>
        <p:spPr/>
        <p:txBody>
          <a:bodyPr/>
          <a:lstStyle/>
          <a:p>
            <a:fld id="{C6B3AB32-59DF-41F1-9618-EDFBF5049629}" type="slidenum">
              <a:rPr lang="en-US" smtClean="0"/>
              <a:t>28</a:t>
            </a:fld>
            <a:endParaRPr lang="en-US" dirty="0"/>
          </a:p>
        </p:txBody>
      </p:sp>
    </p:spTree>
    <p:extLst>
      <p:ext uri="{BB962C8B-B14F-4D97-AF65-F5344CB8AC3E}">
        <p14:creationId xmlns:p14="http://schemas.microsoft.com/office/powerpoint/2010/main" val="4768652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dirty="0"/>
              <a:t>TCO:</a:t>
            </a:r>
            <a:r>
              <a:rPr lang="en-US" altLang="zh-CN" dirty="0"/>
              <a:t> Savings from reducing hardware and overhead expenses and changing to a pay-as-you-go model.</a:t>
            </a:r>
          </a:p>
          <a:p>
            <a:r>
              <a:rPr lang="en-US" altLang="zh-CN" b="1" dirty="0"/>
              <a:t>Efficiency:</a:t>
            </a:r>
            <a:r>
              <a:rPr lang="en-US" altLang="zh-CN" dirty="0"/>
              <a:t> Accelerated development, increased collaboration, and other operational benefits that improve an organization’s efficiency over the long term.</a:t>
            </a:r>
          </a:p>
          <a:p>
            <a:r>
              <a:rPr lang="en-US" altLang="zh-CN" b="1" dirty="0"/>
              <a:t>Resilience:</a:t>
            </a:r>
            <a:r>
              <a:rPr lang="en-US" altLang="zh-CN" dirty="0"/>
              <a:t> A stronger operational experience due to better network performance, improved disaster recovery, and higher and more stable availability.</a:t>
            </a:r>
          </a:p>
          <a:p>
            <a:r>
              <a:rPr lang="en-US" altLang="zh-CN" b="1" dirty="0"/>
              <a:t>Agility:</a:t>
            </a:r>
            <a:r>
              <a:rPr lang="en-US" altLang="zh-CN" dirty="0"/>
              <a:t> The ability to launch with micro-updates, scale as needed, and shorten the development cycle, all leading to better business opportunities.</a:t>
            </a:r>
          </a:p>
          <a:p>
            <a:r>
              <a:rPr lang="en-US" altLang="zh-CN" b="1" dirty="0"/>
              <a:t>Which cloud model is most economical?</a:t>
            </a:r>
            <a:endParaRPr lang="en-US" altLang="zh-CN" dirty="0"/>
          </a:p>
          <a:p>
            <a:r>
              <a:rPr lang="en-US" altLang="zh-CN" dirty="0"/>
              <a:t>Cloud providers typically offer public and private models. Between these two, public is the easiest to implement, both in terms of functionality and cost. Private clouds require more management and initial setup. However, organizations can use hybrid models to connect public and private systems. The economics of hybrid clouds vary and often fall somewhere in between the public and private cloud in terms of cost.</a:t>
            </a:r>
          </a:p>
          <a:p>
            <a:endParaRPr lang="en-US" altLang="zh-CN" dirty="0"/>
          </a:p>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763BF7-D2AD-47B0-B689-7EC73BE3A6C0}"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321480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2/24/2025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7" y="614407"/>
            <a:ext cx="11309337"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697026"/>
            <a:ext cx="11029616" cy="657721"/>
          </a:xfrm>
        </p:spPr>
        <p:txBody>
          <a:bodyPr/>
          <a:lstStyle/>
          <a:p>
            <a:r>
              <a:rPr lang="en-US" dirty="0"/>
              <a:t>Click to edit Master title style</a:t>
            </a:r>
          </a:p>
        </p:txBody>
      </p:sp>
      <p:sp>
        <p:nvSpPr>
          <p:cNvPr id="3" name="Content Placeholder 2"/>
          <p:cNvSpPr>
            <a:spLocks noGrp="1"/>
          </p:cNvSpPr>
          <p:nvPr>
            <p:ph idx="1"/>
          </p:nvPr>
        </p:nvSpPr>
        <p:spPr>
          <a:xfrm>
            <a:off x="440286" y="1572672"/>
            <a:ext cx="11309338" cy="4379139"/>
          </a:xfrm>
        </p:spPr>
        <p:txBody>
          <a:bodyPr anchor="t">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2/24/2025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2/24/2025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4" y="606555"/>
            <a:ext cx="11313654"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81194" y="663848"/>
            <a:ext cx="11029616" cy="708373"/>
          </a:xfrm>
        </p:spPr>
        <p:txBody>
          <a:bodyPr/>
          <a:lstStyle/>
          <a:p>
            <a:r>
              <a:rPr lang="en-US" dirty="0"/>
              <a:t>Click to edit Master title style</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2/24/2025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2/24/2025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58E14-23EC-4C25-974C-48FA83988655}"/>
              </a:ext>
            </a:extLst>
          </p:cNvPr>
          <p:cNvSpPr>
            <a:spLocks noGrp="1"/>
          </p:cNvSpPr>
          <p:nvPr>
            <p:ph type="ctrTitle"/>
          </p:nvPr>
        </p:nvSpPr>
        <p:spPr>
          <a:xfrm>
            <a:off x="517870" y="978408"/>
            <a:ext cx="5021183" cy="507422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E9FEDD4-20A1-49F6-9E3E-0B26B426BB73}"/>
              </a:ext>
            </a:extLst>
          </p:cNvPr>
          <p:cNvSpPr>
            <a:spLocks noGrp="1"/>
          </p:cNvSpPr>
          <p:nvPr>
            <p:ph type="subTitle" idx="1"/>
          </p:nvPr>
        </p:nvSpPr>
        <p:spPr>
          <a:xfrm>
            <a:off x="6662167" y="3602038"/>
            <a:ext cx="5021183" cy="2244580"/>
          </a:xfrm>
        </p:spPr>
        <p:txBody>
          <a:bodyPr anchor="b">
            <a:normAutofit/>
          </a:bodyPr>
          <a:lstStyle>
            <a:lvl1pPr marL="0" indent="0" algn="l">
              <a:lnSpc>
                <a:spcPct val="100000"/>
              </a:lnSpc>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580A32F-E6F3-4C2E-B9E3-E47868E42511}"/>
              </a:ext>
            </a:extLst>
          </p:cNvPr>
          <p:cNvSpPr>
            <a:spLocks noGrp="1"/>
          </p:cNvSpPr>
          <p:nvPr>
            <p:ph type="dt" sz="half" idx="10"/>
          </p:nvPr>
        </p:nvSpPr>
        <p:spPr/>
        <p:txBody>
          <a:bodyPr/>
          <a:lstStyle/>
          <a:p>
            <a:fld id="{3391A759-BFF8-4B5B-9ECE-D93AC303B331}" type="datetime1">
              <a:rPr lang="en-US" smtClean="0"/>
              <a:t>2/24/2025</a:t>
            </a:fld>
            <a:endParaRPr lang="en-US"/>
          </a:p>
        </p:txBody>
      </p:sp>
      <p:sp>
        <p:nvSpPr>
          <p:cNvPr id="5" name="Footer Placeholder 4">
            <a:extLst>
              <a:ext uri="{FF2B5EF4-FFF2-40B4-BE49-F238E27FC236}">
                <a16:creationId xmlns:a16="http://schemas.microsoft.com/office/drawing/2014/main" id="{78806724-A87A-4231-BFD9-277482AF78C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30D1AF-36B8-4BB8-BD6A-71194F7BC31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8" name="Rectangle 7">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031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63D8A-C68D-4CF9-9D15-3E09BCC09F6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524D94C-E537-4FF3-AAF8-A85F05C31A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824B1D4-6731-4993-8609-16C1D3327986}"/>
              </a:ext>
            </a:extLst>
          </p:cNvPr>
          <p:cNvSpPr>
            <a:spLocks noGrp="1"/>
          </p:cNvSpPr>
          <p:nvPr>
            <p:ph type="dt" sz="half" idx="10"/>
          </p:nvPr>
        </p:nvSpPr>
        <p:spPr/>
        <p:txBody>
          <a:bodyPr/>
          <a:lstStyle/>
          <a:p>
            <a:fld id="{EEBAB316-A2E6-49F2-825C-64AA951E4184}" type="datetime1">
              <a:rPr lang="en-US" smtClean="0"/>
              <a:t>2/24/2025</a:t>
            </a:fld>
            <a:endParaRPr lang="en-US"/>
          </a:p>
        </p:txBody>
      </p:sp>
      <p:sp>
        <p:nvSpPr>
          <p:cNvPr id="5" name="Footer Placeholder 4">
            <a:extLst>
              <a:ext uri="{FF2B5EF4-FFF2-40B4-BE49-F238E27FC236}">
                <a16:creationId xmlns:a16="http://schemas.microsoft.com/office/drawing/2014/main" id="{3DFB7BBD-CEEB-4256-84B2-6D907E1188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972A8B7-F430-4F4A-BB63-481F51E5880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8879940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AC1C-A332-4BA5-8C9C-FE0396C81619}"/>
              </a:ext>
            </a:extLst>
          </p:cNvPr>
          <p:cNvSpPr>
            <a:spLocks noGrp="1"/>
          </p:cNvSpPr>
          <p:nvPr>
            <p:ph type="title"/>
          </p:nvPr>
        </p:nvSpPr>
        <p:spPr>
          <a:xfrm>
            <a:off x="517870" y="978408"/>
            <a:ext cx="5020056" cy="4870974"/>
          </a:xfrm>
        </p:spPr>
        <p:txBody>
          <a:bodyPr anchor="t">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8D137-710E-4125-B5E9-F63E7F1C9C9D}"/>
              </a:ext>
            </a:extLst>
          </p:cNvPr>
          <p:cNvSpPr>
            <a:spLocks noGrp="1"/>
          </p:cNvSpPr>
          <p:nvPr>
            <p:ph type="body" idx="1"/>
          </p:nvPr>
        </p:nvSpPr>
        <p:spPr>
          <a:xfrm>
            <a:off x="6662167" y="3566639"/>
            <a:ext cx="5021183" cy="2279979"/>
          </a:xfrm>
        </p:spPr>
        <p:txBody>
          <a:bodyPr anchor="b">
            <a:normAutofit/>
          </a:bodyPr>
          <a:lstStyle>
            <a:lvl1pPr marL="0" indent="0">
              <a:buNone/>
              <a:defRPr sz="2200" i="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5480C5-E9A6-425E-B050-03E444BE92C9}"/>
              </a:ext>
            </a:extLst>
          </p:cNvPr>
          <p:cNvSpPr>
            <a:spLocks noGrp="1"/>
          </p:cNvSpPr>
          <p:nvPr>
            <p:ph type="dt" sz="half" idx="10"/>
          </p:nvPr>
        </p:nvSpPr>
        <p:spPr/>
        <p:txBody>
          <a:bodyPr/>
          <a:lstStyle/>
          <a:p>
            <a:fld id="{5AE9748B-ADD6-4C5A-8C2A-A39721276E74}" type="datetime1">
              <a:rPr lang="en-US" smtClean="0"/>
              <a:t>2/24/2025</a:t>
            </a:fld>
            <a:endParaRPr lang="en-US"/>
          </a:p>
        </p:txBody>
      </p:sp>
      <p:sp>
        <p:nvSpPr>
          <p:cNvPr id="5" name="Footer Placeholder 4">
            <a:extLst>
              <a:ext uri="{FF2B5EF4-FFF2-40B4-BE49-F238E27FC236}">
                <a16:creationId xmlns:a16="http://schemas.microsoft.com/office/drawing/2014/main" id="{951B4831-6C0B-4E0B-A341-91E4C5D36B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F011EE6-252D-46DD-94DF-C42657EF2CD9}"/>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0322331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4B06-C54A-4B7B-B6D1-436428EAF8E2}"/>
              </a:ext>
            </a:extLst>
          </p:cNvPr>
          <p:cNvSpPr>
            <a:spLocks noGrp="1"/>
          </p:cNvSpPr>
          <p:nvPr>
            <p:ph type="title"/>
          </p:nvPr>
        </p:nvSpPr>
        <p:spPr>
          <a:xfrm>
            <a:off x="517870" y="978408"/>
            <a:ext cx="5021182" cy="520769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723919-9A2F-4D97-8F31-6E35BD5975B0}"/>
              </a:ext>
            </a:extLst>
          </p:cNvPr>
          <p:cNvSpPr>
            <a:spLocks noGrp="1"/>
          </p:cNvSpPr>
          <p:nvPr>
            <p:ph sz="half" idx="1"/>
          </p:nvPr>
        </p:nvSpPr>
        <p:spPr>
          <a:xfrm>
            <a:off x="6063049" y="969264"/>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F8DA345-F684-4BAA-A22C-E725B3A6037F}"/>
              </a:ext>
            </a:extLst>
          </p:cNvPr>
          <p:cNvSpPr>
            <a:spLocks noGrp="1"/>
          </p:cNvSpPr>
          <p:nvPr>
            <p:ph sz="half" idx="2"/>
          </p:nvPr>
        </p:nvSpPr>
        <p:spPr>
          <a:xfrm>
            <a:off x="6063049" y="3621849"/>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399C52-9753-45D8-9646-CF31BB01577C}"/>
              </a:ext>
            </a:extLst>
          </p:cNvPr>
          <p:cNvSpPr>
            <a:spLocks noGrp="1"/>
          </p:cNvSpPr>
          <p:nvPr>
            <p:ph type="dt" sz="half" idx="10"/>
          </p:nvPr>
        </p:nvSpPr>
        <p:spPr/>
        <p:txBody>
          <a:bodyPr/>
          <a:lstStyle/>
          <a:p>
            <a:fld id="{7241FB0F-3C5C-4949-B933-9C7E511ED094}" type="datetime1">
              <a:rPr lang="en-US" smtClean="0"/>
              <a:t>2/24/2025</a:t>
            </a:fld>
            <a:endParaRPr lang="en-US"/>
          </a:p>
        </p:txBody>
      </p:sp>
      <p:sp>
        <p:nvSpPr>
          <p:cNvPr id="6" name="Footer Placeholder 5">
            <a:extLst>
              <a:ext uri="{FF2B5EF4-FFF2-40B4-BE49-F238E27FC236}">
                <a16:creationId xmlns:a16="http://schemas.microsoft.com/office/drawing/2014/main" id="{C2F95E57-622C-4199-940E-F5462E1AC44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01B7592-00E8-41EF-B749-2A5EA8E460DA}"/>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0737032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2291277-967B-4176-B40B-9EC360626994}"/>
              </a:ext>
            </a:extLst>
          </p:cNvPr>
          <p:cNvSpPr/>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cap="none" spc="0">
              <a:ln w="0"/>
              <a:solidFill>
                <a:schemeClr val="tx1"/>
              </a:solidFill>
              <a:effectLst>
                <a:outerShdw blurRad="38100" dist="19050" dir="2700000" algn="tl" rotWithShape="0">
                  <a:schemeClr val="dk1">
                    <a:alpha val="40000"/>
                  </a:schemeClr>
                </a:outerShdw>
              </a:effectLst>
            </a:endParaRPr>
          </a:p>
        </p:txBody>
      </p:sp>
      <p:sp>
        <p:nvSpPr>
          <p:cNvPr id="2" name="Title 1">
            <a:extLst>
              <a:ext uri="{FF2B5EF4-FFF2-40B4-BE49-F238E27FC236}">
                <a16:creationId xmlns:a16="http://schemas.microsoft.com/office/drawing/2014/main" id="{FCB11C00-F7CB-4484-807A-D12745CD3CC8}"/>
              </a:ext>
            </a:extLst>
          </p:cNvPr>
          <p:cNvSpPr>
            <a:spLocks noGrp="1"/>
          </p:cNvSpPr>
          <p:nvPr>
            <p:ph type="title"/>
          </p:nvPr>
        </p:nvSpPr>
        <p:spPr>
          <a:xfrm>
            <a:off x="517869" y="978119"/>
            <a:ext cx="11165481" cy="107305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FAAA6E-E243-48B3-9585-3C1420B3E19F}"/>
              </a:ext>
            </a:extLst>
          </p:cNvPr>
          <p:cNvSpPr>
            <a:spLocks noGrp="1"/>
          </p:cNvSpPr>
          <p:nvPr>
            <p:ph type="body" idx="1"/>
          </p:nvPr>
        </p:nvSpPr>
        <p:spPr>
          <a:xfrm>
            <a:off x="517870" y="2178908"/>
            <a:ext cx="5020056"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D01B8-0F2E-41A4-B21C-334393F6A677}"/>
              </a:ext>
            </a:extLst>
          </p:cNvPr>
          <p:cNvSpPr>
            <a:spLocks noGrp="1"/>
          </p:cNvSpPr>
          <p:nvPr>
            <p:ph sz="half" idx="2"/>
          </p:nvPr>
        </p:nvSpPr>
        <p:spPr>
          <a:xfrm>
            <a:off x="517870" y="2876085"/>
            <a:ext cx="5020056"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9B23F-3E60-415A-9CE7-0928B5CFB2B3}"/>
              </a:ext>
            </a:extLst>
          </p:cNvPr>
          <p:cNvSpPr>
            <a:spLocks noGrp="1"/>
          </p:cNvSpPr>
          <p:nvPr>
            <p:ph type="body" sz="quarter" idx="3"/>
          </p:nvPr>
        </p:nvSpPr>
        <p:spPr>
          <a:xfrm>
            <a:off x="6662168" y="2178908"/>
            <a:ext cx="5021182"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223446-0CDC-402B-8D71-D9D29F6DFFCC}"/>
              </a:ext>
            </a:extLst>
          </p:cNvPr>
          <p:cNvSpPr>
            <a:spLocks noGrp="1"/>
          </p:cNvSpPr>
          <p:nvPr>
            <p:ph sz="quarter" idx="4"/>
          </p:nvPr>
        </p:nvSpPr>
        <p:spPr>
          <a:xfrm>
            <a:off x="6662168" y="2876085"/>
            <a:ext cx="5021182"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02B77D3-C6EC-4FFD-9E10-24E1AC542019}"/>
              </a:ext>
            </a:extLst>
          </p:cNvPr>
          <p:cNvSpPr>
            <a:spLocks noGrp="1"/>
          </p:cNvSpPr>
          <p:nvPr>
            <p:ph type="dt" sz="half" idx="10"/>
          </p:nvPr>
        </p:nvSpPr>
        <p:spPr>
          <a:xfrm>
            <a:off x="517870" y="6420414"/>
            <a:ext cx="2743200" cy="365125"/>
          </a:xfrm>
        </p:spPr>
        <p:txBody>
          <a:bodyPr/>
          <a:lstStyle/>
          <a:p>
            <a:fld id="{C2F01D58-E949-4BCB-829A-BBF80E38D59C}" type="datetime1">
              <a:rPr lang="en-US" smtClean="0"/>
              <a:t>2/24/2025</a:t>
            </a:fld>
            <a:endParaRPr lang="en-US"/>
          </a:p>
        </p:txBody>
      </p:sp>
      <p:sp>
        <p:nvSpPr>
          <p:cNvPr id="8" name="Footer Placeholder 7">
            <a:extLst>
              <a:ext uri="{FF2B5EF4-FFF2-40B4-BE49-F238E27FC236}">
                <a16:creationId xmlns:a16="http://schemas.microsoft.com/office/drawing/2014/main" id="{209DF31B-BD07-4DC2-95C2-B77E51AAEFF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54CE5A-3A0A-4AAB-81D2-F1C20636E54C}"/>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644403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216B8-52AB-412B-BBE7-B6BE698FA29B}"/>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BF779C3-9D19-467E-A5D2-0920834DA13C}"/>
              </a:ext>
            </a:extLst>
          </p:cNvPr>
          <p:cNvSpPr>
            <a:spLocks noGrp="1"/>
          </p:cNvSpPr>
          <p:nvPr>
            <p:ph type="dt" sz="half" idx="10"/>
          </p:nvPr>
        </p:nvSpPr>
        <p:spPr/>
        <p:txBody>
          <a:bodyPr/>
          <a:lstStyle/>
          <a:p>
            <a:fld id="{FF10A846-0DA4-4D92-9BF1-DE8C52C1F4DF}" type="datetime1">
              <a:rPr lang="en-US" smtClean="0"/>
              <a:t>2/24/2025</a:t>
            </a:fld>
            <a:endParaRPr lang="en-US"/>
          </a:p>
        </p:txBody>
      </p:sp>
      <p:sp>
        <p:nvSpPr>
          <p:cNvPr id="4" name="Footer Placeholder 3">
            <a:extLst>
              <a:ext uri="{FF2B5EF4-FFF2-40B4-BE49-F238E27FC236}">
                <a16:creationId xmlns:a16="http://schemas.microsoft.com/office/drawing/2014/main" id="{8E272BB4-C8D8-4F74-9677-5AC979932A7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96B49B8-779F-4492-ABD9-96F0D042AC41}"/>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489099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B976BF-9339-48D6-881A-280D15492E05}"/>
              </a:ext>
            </a:extLst>
          </p:cNvPr>
          <p:cNvSpPr>
            <a:spLocks noGrp="1"/>
          </p:cNvSpPr>
          <p:nvPr>
            <p:ph type="dt" sz="half" idx="10"/>
          </p:nvPr>
        </p:nvSpPr>
        <p:spPr/>
        <p:txBody>
          <a:bodyPr/>
          <a:lstStyle/>
          <a:p>
            <a:fld id="{E9412331-4A9C-472F-A7FA-968157338839}" type="datetime1">
              <a:rPr lang="en-US" smtClean="0"/>
              <a:t>2/24/2025</a:t>
            </a:fld>
            <a:endParaRPr lang="en-US"/>
          </a:p>
        </p:txBody>
      </p:sp>
      <p:sp>
        <p:nvSpPr>
          <p:cNvPr id="3" name="Footer Placeholder 2">
            <a:extLst>
              <a:ext uri="{FF2B5EF4-FFF2-40B4-BE49-F238E27FC236}">
                <a16:creationId xmlns:a16="http://schemas.microsoft.com/office/drawing/2014/main" id="{45277605-C9C8-432E-9662-D7D410B151D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22432B6-4A12-46EF-98A7-B5D50BD516F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52343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191C-AF68-4230-A7B2-F8F07B486EDC}"/>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8F9F11-5FCF-4D7E-BA51-38CB84277DC9}"/>
              </a:ext>
            </a:extLst>
          </p:cNvPr>
          <p:cNvSpPr>
            <a:spLocks noGrp="1"/>
          </p:cNvSpPr>
          <p:nvPr>
            <p:ph idx="1"/>
          </p:nvPr>
        </p:nvSpPr>
        <p:spPr>
          <a:xfrm>
            <a:off x="6653182" y="987423"/>
            <a:ext cx="5020948"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73B519B-06C0-41BC-95FB-FB1FE436375E}"/>
              </a:ext>
            </a:extLst>
          </p:cNvPr>
          <p:cNvSpPr>
            <a:spLocks noGrp="1"/>
          </p:cNvSpPr>
          <p:nvPr>
            <p:ph type="body" sz="half" idx="2"/>
          </p:nvPr>
        </p:nvSpPr>
        <p:spPr>
          <a:xfrm>
            <a:off x="517870" y="3361038"/>
            <a:ext cx="5020948" cy="2507949"/>
          </a:xfrm>
        </p:spPr>
        <p:txBody>
          <a:bodyPr>
            <a:normAutofit/>
          </a:bodyPr>
          <a:lstStyle>
            <a:lvl1pPr marL="0" indent="0">
              <a:buNone/>
              <a:defRPr sz="24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B8B70C-015C-4832-AFF6-D033E022746B}"/>
              </a:ext>
            </a:extLst>
          </p:cNvPr>
          <p:cNvSpPr>
            <a:spLocks noGrp="1"/>
          </p:cNvSpPr>
          <p:nvPr>
            <p:ph type="dt" sz="half" idx="10"/>
          </p:nvPr>
        </p:nvSpPr>
        <p:spPr/>
        <p:txBody>
          <a:bodyPr/>
          <a:lstStyle/>
          <a:p>
            <a:fld id="{A2197F3D-ED52-43FD-A26D-318B71534485}" type="datetime1">
              <a:rPr lang="en-US" smtClean="0"/>
              <a:t>2/24/2025</a:t>
            </a:fld>
            <a:endParaRPr lang="en-US"/>
          </a:p>
        </p:txBody>
      </p:sp>
      <p:sp>
        <p:nvSpPr>
          <p:cNvPr id="6" name="Footer Placeholder 5">
            <a:extLst>
              <a:ext uri="{FF2B5EF4-FFF2-40B4-BE49-F238E27FC236}">
                <a16:creationId xmlns:a16="http://schemas.microsoft.com/office/drawing/2014/main" id="{BEF1A6FB-8C14-46D1-90A5-0FF11DE7863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782C585-6FA1-4E94-9C1C-A1DEDE55108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9126717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98B43-D1CE-43F4-A367-EF1FE9688913}"/>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2B73978-8CDF-4C0E-ABA1-7291A0347362}"/>
              </a:ext>
            </a:extLst>
          </p:cNvPr>
          <p:cNvSpPr>
            <a:spLocks noGrp="1"/>
          </p:cNvSpPr>
          <p:nvPr>
            <p:ph type="pic" idx="1"/>
          </p:nvPr>
        </p:nvSpPr>
        <p:spPr>
          <a:xfrm>
            <a:off x="6662168" y="987425"/>
            <a:ext cx="502700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5BECC62-ED45-451E-BEC5-A03C6A554D26}"/>
              </a:ext>
            </a:extLst>
          </p:cNvPr>
          <p:cNvSpPr>
            <a:spLocks noGrp="1"/>
          </p:cNvSpPr>
          <p:nvPr>
            <p:ph type="body" sz="half" idx="2"/>
          </p:nvPr>
        </p:nvSpPr>
        <p:spPr>
          <a:xfrm>
            <a:off x="517870" y="3340442"/>
            <a:ext cx="5020948" cy="2528545"/>
          </a:xfrm>
        </p:spPr>
        <p:txBody>
          <a:bodyPr>
            <a:normAutofit/>
          </a:bodyPr>
          <a:lstStyle>
            <a:lvl1pPr marL="0" indent="0">
              <a:buNone/>
              <a:defRPr sz="22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1A7A86-B983-4315-9312-936B4FCF75FE}"/>
              </a:ext>
            </a:extLst>
          </p:cNvPr>
          <p:cNvSpPr>
            <a:spLocks noGrp="1"/>
          </p:cNvSpPr>
          <p:nvPr>
            <p:ph type="dt" sz="half" idx="10"/>
          </p:nvPr>
        </p:nvSpPr>
        <p:spPr/>
        <p:txBody>
          <a:bodyPr/>
          <a:lstStyle/>
          <a:p>
            <a:fld id="{3D291FA4-6264-4BB8-B3B5-77711EED2D82}" type="datetime1">
              <a:rPr lang="en-US" smtClean="0"/>
              <a:t>2/24/2025</a:t>
            </a:fld>
            <a:endParaRPr lang="en-US"/>
          </a:p>
        </p:txBody>
      </p:sp>
      <p:sp>
        <p:nvSpPr>
          <p:cNvPr id="6" name="Footer Placeholder 5">
            <a:extLst>
              <a:ext uri="{FF2B5EF4-FFF2-40B4-BE49-F238E27FC236}">
                <a16:creationId xmlns:a16="http://schemas.microsoft.com/office/drawing/2014/main" id="{1E2E88C0-25A5-46F9-AB35-EAD50E6B913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A0F9EA8-45AD-478E-8606-9328245BC8A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7402788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F6B8E-1D8E-4105-9BBB-D53AD24B738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3825530-6629-4FEA-9670-EB21A2F5BA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64C7A-A73F-46F5-BC33-696671DAEEE7}"/>
              </a:ext>
            </a:extLst>
          </p:cNvPr>
          <p:cNvSpPr>
            <a:spLocks noGrp="1"/>
          </p:cNvSpPr>
          <p:nvPr>
            <p:ph type="dt" sz="half" idx="10"/>
          </p:nvPr>
        </p:nvSpPr>
        <p:spPr/>
        <p:txBody>
          <a:bodyPr/>
          <a:lstStyle/>
          <a:p>
            <a:fld id="{6DFDF398-5DA3-4937-BE3F-7CA1B9158252}" type="datetime1">
              <a:rPr lang="en-US" smtClean="0"/>
              <a:t>2/24/2025</a:t>
            </a:fld>
            <a:endParaRPr lang="en-US"/>
          </a:p>
        </p:txBody>
      </p:sp>
      <p:sp>
        <p:nvSpPr>
          <p:cNvPr id="5" name="Footer Placeholder 4">
            <a:extLst>
              <a:ext uri="{FF2B5EF4-FFF2-40B4-BE49-F238E27FC236}">
                <a16:creationId xmlns:a16="http://schemas.microsoft.com/office/drawing/2014/main" id="{512B3CC0-B649-4509-A4B6-DF9D20EFACE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2CECCCA-3F2A-46F3-BF45-7C862FF1D752}"/>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6438494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50133B-2446-4168-AA17-6538910668FD}"/>
              </a:ext>
            </a:extLst>
          </p:cNvPr>
          <p:cNvSpPr>
            <a:spLocks noGrp="1"/>
          </p:cNvSpPr>
          <p:nvPr>
            <p:ph type="title" orient="vert"/>
          </p:nvPr>
        </p:nvSpPr>
        <p:spPr>
          <a:xfrm>
            <a:off x="6662168" y="996791"/>
            <a:ext cx="5011962" cy="495692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006A9AD-2756-4C51-A958-6756301EB938}"/>
              </a:ext>
            </a:extLst>
          </p:cNvPr>
          <p:cNvSpPr>
            <a:spLocks noGrp="1"/>
          </p:cNvSpPr>
          <p:nvPr>
            <p:ph type="body" orient="vert" idx="1"/>
          </p:nvPr>
        </p:nvSpPr>
        <p:spPr>
          <a:xfrm>
            <a:off x="517870" y="996791"/>
            <a:ext cx="5021183" cy="4956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42995D-CCEA-43AF-973B-8B6B56A567E8}"/>
              </a:ext>
            </a:extLst>
          </p:cNvPr>
          <p:cNvSpPr>
            <a:spLocks noGrp="1"/>
          </p:cNvSpPr>
          <p:nvPr>
            <p:ph type="dt" sz="half" idx="10"/>
          </p:nvPr>
        </p:nvSpPr>
        <p:spPr/>
        <p:txBody>
          <a:bodyPr/>
          <a:lstStyle/>
          <a:p>
            <a:fld id="{8F191ED9-F929-4A92-90F9-3C9C84ABBE83}" type="datetime1">
              <a:rPr lang="en-US" smtClean="0"/>
              <a:t>2/24/2025</a:t>
            </a:fld>
            <a:endParaRPr lang="en-US"/>
          </a:p>
        </p:txBody>
      </p:sp>
      <p:sp>
        <p:nvSpPr>
          <p:cNvPr id="5" name="Footer Placeholder 4">
            <a:extLst>
              <a:ext uri="{FF2B5EF4-FFF2-40B4-BE49-F238E27FC236}">
                <a16:creationId xmlns:a16="http://schemas.microsoft.com/office/drawing/2014/main" id="{2A4029CF-BA62-4CCD-956E-FFA0B37B8A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CE0B3D-96AB-41B3-ABDD-5B0DE863DAF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12" name="Rectangle 11">
            <a:extLst>
              <a:ext uri="{FF2B5EF4-FFF2-40B4-BE49-F238E27FC236}">
                <a16:creationId xmlns:a16="http://schemas.microsoft.com/office/drawing/2014/main" id="{4618136A-0796-46EB-89BB-4C73C0258FE9}"/>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5916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2/24/2025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1" descr="F:\mak-logo-clear.png">
            <a:extLst>
              <a:ext uri="{FF2B5EF4-FFF2-40B4-BE49-F238E27FC236}">
                <a16:creationId xmlns:a16="http://schemas.microsoft.com/office/drawing/2014/main" id="{6B5FC763-E5D6-4237-840D-9E90282E4032}"/>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446534" y="5951811"/>
            <a:ext cx="681905" cy="55975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32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8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61AD20-E240-4E6F-AF91-689F7AEEE33A}"/>
              </a:ext>
            </a:extLst>
          </p:cNvPr>
          <p:cNvSpPr>
            <a:spLocks noGrp="1"/>
          </p:cNvSpPr>
          <p:nvPr>
            <p:ph type="title"/>
          </p:nvPr>
        </p:nvSpPr>
        <p:spPr>
          <a:xfrm>
            <a:off x="517870" y="978408"/>
            <a:ext cx="5021182" cy="487045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2E78801-35D1-4C19-BC2B-EAC7EE917E73}"/>
              </a:ext>
            </a:extLst>
          </p:cNvPr>
          <p:cNvSpPr>
            <a:spLocks noGrp="1"/>
          </p:cNvSpPr>
          <p:nvPr>
            <p:ph type="body" idx="1"/>
          </p:nvPr>
        </p:nvSpPr>
        <p:spPr>
          <a:xfrm>
            <a:off x="6662168" y="969264"/>
            <a:ext cx="5021182" cy="48704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1282A45-C5B9-4575-8E28-A35767B4D71C}"/>
              </a:ext>
            </a:extLst>
          </p:cNvPr>
          <p:cNvSpPr>
            <a:spLocks noGrp="1"/>
          </p:cNvSpPr>
          <p:nvPr>
            <p:ph type="dt" sz="half" idx="2"/>
          </p:nvPr>
        </p:nvSpPr>
        <p:spPr>
          <a:xfrm>
            <a:off x="517870" y="6420414"/>
            <a:ext cx="2743200" cy="365125"/>
          </a:xfrm>
          <a:prstGeom prst="rect">
            <a:avLst/>
          </a:prstGeom>
        </p:spPr>
        <p:txBody>
          <a:bodyPr vert="horz" lIns="91440" tIns="45720" rIns="91440" bIns="45720" rtlCol="0" anchor="ctr"/>
          <a:lstStyle>
            <a:lvl1pPr algn="l">
              <a:defRPr sz="900">
                <a:solidFill>
                  <a:schemeClr val="tx1"/>
                </a:solidFill>
              </a:defRPr>
            </a:lvl1pPr>
          </a:lstStyle>
          <a:p>
            <a:fld id="{E7F6A1D9-D323-4F4E-8655-25E2D32CE742}" type="datetime1">
              <a:rPr lang="en-US" smtClean="0"/>
              <a:t>2/24/2025</a:t>
            </a:fld>
            <a:endParaRPr lang="en-US"/>
          </a:p>
        </p:txBody>
      </p:sp>
      <p:sp>
        <p:nvSpPr>
          <p:cNvPr id="5" name="Footer Placeholder 4">
            <a:extLst>
              <a:ext uri="{FF2B5EF4-FFF2-40B4-BE49-F238E27FC236}">
                <a16:creationId xmlns:a16="http://schemas.microsoft.com/office/drawing/2014/main" id="{2E9D0933-AA03-4018-8E37-004CFB9F61D6}"/>
              </a:ext>
            </a:extLst>
          </p:cNvPr>
          <p:cNvSpPr>
            <a:spLocks noGrp="1"/>
          </p:cNvSpPr>
          <p:nvPr>
            <p:ph type="ftr" sz="quarter" idx="3"/>
          </p:nvPr>
        </p:nvSpPr>
        <p:spPr>
          <a:xfrm>
            <a:off x="517870" y="97713"/>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F282A-DF4A-4A2D-9672-8F0F770A3F1A}"/>
              </a:ext>
            </a:extLst>
          </p:cNvPr>
          <p:cNvSpPr>
            <a:spLocks noGrp="1"/>
          </p:cNvSpPr>
          <p:nvPr>
            <p:ph type="sldNum" sz="quarter" idx="4"/>
          </p:nvPr>
        </p:nvSpPr>
        <p:spPr>
          <a:xfrm>
            <a:off x="11454317" y="6420414"/>
            <a:ext cx="637909" cy="365125"/>
          </a:xfrm>
          <a:prstGeom prst="rect">
            <a:avLst/>
          </a:prstGeom>
        </p:spPr>
        <p:txBody>
          <a:bodyPr vert="horz" lIns="91440" tIns="45720" rIns="91440" bIns="45720" rtlCol="0" anchor="ctr"/>
          <a:lstStyle>
            <a:lvl1pPr algn="r">
              <a:defRPr sz="900">
                <a:solidFill>
                  <a:schemeClr val="tx1"/>
                </a:solidFill>
              </a:defRPr>
            </a:lvl1pPr>
          </a:lstStyle>
          <a:p>
            <a:fld id="{DFDF98CC-160E-494C-8C3C-8CDC5FA257DE}" type="slidenum">
              <a:rPr lang="en-US" smtClean="0"/>
              <a:pPr/>
              <a:t>‹#›</a:t>
            </a:fld>
            <a:endParaRPr lang="en-US" dirty="0"/>
          </a:p>
        </p:txBody>
      </p:sp>
      <p:sp>
        <p:nvSpPr>
          <p:cNvPr id="14" name="Rectangle 13">
            <a:extLst>
              <a:ext uri="{FF2B5EF4-FFF2-40B4-BE49-F238E27FC236}">
                <a16:creationId xmlns:a16="http://schemas.microsoft.com/office/drawing/2014/main" id="{ADE57300-C7FF-4578-99A0-42B0295B123C}"/>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B8F8250-7A81-4A19-87AD-FFB2CE4E39A5}"/>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99F38FC-2DEA-2647-C409-EF75720C1017}"/>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41139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274320" indent="-27432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27432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548640" indent="-27432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54864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0.xml.rels><?xml version="1.0" encoding="UTF-8" standalone="yes"?>
<Relationships xmlns="http://schemas.openxmlformats.org/package/2006/relationships"><Relationship Id="rId2" Type="http://schemas.openxmlformats.org/officeDocument/2006/relationships/hyperlink" Target="https://www.oracle.com/cloud/cloud-economics-explained/"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2290" y="3728435"/>
            <a:ext cx="10993549" cy="1962497"/>
          </a:xfrm>
        </p:spPr>
        <p:txBody>
          <a:bodyPr>
            <a:noAutofit/>
          </a:bodyPr>
          <a:lstStyle/>
          <a:p>
            <a:r>
              <a:rPr lang="en-US" dirty="0">
                <a:solidFill>
                  <a:schemeClr val="bg1"/>
                </a:solidFill>
              </a:rPr>
              <a:t>Bse3214:  </a:t>
            </a:r>
            <a:r>
              <a:rPr lang="en-US" cap="none" dirty="0">
                <a:solidFill>
                  <a:schemeClr val="bg1"/>
                </a:solidFill>
              </a:rPr>
              <a:t>Cloud Computing and Big Data</a:t>
            </a:r>
            <a:br>
              <a:rPr lang="en-US" dirty="0">
                <a:solidFill>
                  <a:schemeClr val="bg1"/>
                </a:solidFill>
              </a:rPr>
            </a:br>
            <a:endParaRPr lang="en-US" dirty="0">
              <a:solidFill>
                <a:schemeClr val="bg1"/>
              </a:solidFill>
            </a:endParaRP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96717" y="5409315"/>
            <a:ext cx="10993546" cy="814504"/>
          </a:xfrm>
        </p:spPr>
        <p:txBody>
          <a:bodyPr>
            <a:normAutofit/>
          </a:bodyPr>
          <a:lstStyle/>
          <a:p>
            <a:pPr algn="r"/>
            <a:r>
              <a:rPr lang="en-US" altLang="zh-CN" sz="2400" dirty="0">
                <a:solidFill>
                  <a:srgbClr val="7CEBFF"/>
                </a:solidFill>
              </a:rPr>
              <a:t>Economics of Cloud Computing</a:t>
            </a:r>
            <a:endParaRPr lang="en-US" sz="2400" dirty="0">
              <a:solidFill>
                <a:srgbClr val="7CEBFF"/>
              </a:solidFill>
            </a:endParaRPr>
          </a:p>
        </p:txBody>
      </p:sp>
      <p:pic>
        <p:nvPicPr>
          <p:cNvPr id="1026" name="Picture 1" descr="F:\mak-logo-clear.png">
            <a:extLst>
              <a:ext uri="{FF2B5EF4-FFF2-40B4-BE49-F238E27FC236}">
                <a16:creationId xmlns:a16="http://schemas.microsoft.com/office/drawing/2014/main" id="{F1237124-16E3-E244-E341-44CDCF02B3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8288" y="1120031"/>
            <a:ext cx="2481550" cy="20370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09A1C36-C8EB-51EA-2024-C9D93456598F}"/>
              </a:ext>
            </a:extLst>
          </p:cNvPr>
          <p:cNvSpPr txBox="1"/>
          <p:nvPr/>
        </p:nvSpPr>
        <p:spPr>
          <a:xfrm>
            <a:off x="3346448" y="3606688"/>
            <a:ext cx="5494083" cy="707886"/>
          </a:xfrm>
          <a:prstGeom prst="rect">
            <a:avLst/>
          </a:prstGeom>
          <a:noFill/>
        </p:spPr>
        <p:txBody>
          <a:bodyPr wrap="square" rtlCol="0">
            <a:spAutoFit/>
          </a:bodyPr>
          <a:lstStyle/>
          <a:p>
            <a:pPr algn="ctr"/>
            <a:r>
              <a:rPr lang="zh-CN" altLang="en-US" sz="2000" i="1" dirty="0">
                <a:solidFill>
                  <a:schemeClr val="bg1">
                    <a:lumMod val="95000"/>
                  </a:schemeClr>
                </a:solidFill>
              </a:rPr>
              <a:t>Understanding data management in the digital age</a:t>
            </a:r>
          </a:p>
          <a:p>
            <a:pPr algn="ctr"/>
            <a:endParaRPr lang="zh-CN" altLang="en-US" sz="2000" i="1" dirty="0">
              <a:solidFill>
                <a:schemeClr val="bg1">
                  <a:lumMod val="95000"/>
                </a:schemeClr>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1DD6D-ED9E-1166-45FA-0819ACBB9239}"/>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16D13ACE-AD44-E376-8E43-C06210CE4F93}"/>
              </a:ext>
            </a:extLst>
          </p:cNvPr>
          <p:cNvSpPr>
            <a:spLocks noGrp="1"/>
          </p:cNvSpPr>
          <p:nvPr>
            <p:ph type="title"/>
          </p:nvPr>
        </p:nvSpPr>
        <p:spPr/>
        <p:txBody>
          <a:bodyPr>
            <a:normAutofit/>
          </a:bodyPr>
          <a:lstStyle/>
          <a:p>
            <a:r>
              <a:rPr lang="en-US" sz="3600" b="1" dirty="0">
                <a:latin typeface="LM Roman 12" panose="00000500000000000000" pitchFamily="50" charset="0"/>
              </a:rPr>
              <a:t>In last Lecture</a:t>
            </a:r>
          </a:p>
        </p:txBody>
      </p:sp>
      <p:sp>
        <p:nvSpPr>
          <p:cNvPr id="14" name="Content Placeholder 13">
            <a:extLst>
              <a:ext uri="{FF2B5EF4-FFF2-40B4-BE49-F238E27FC236}">
                <a16:creationId xmlns:a16="http://schemas.microsoft.com/office/drawing/2014/main" id="{D7190C29-2940-A139-1166-AF13860DF4C8}"/>
              </a:ext>
            </a:extLst>
          </p:cNvPr>
          <p:cNvSpPr>
            <a:spLocks noGrp="1"/>
          </p:cNvSpPr>
          <p:nvPr>
            <p:ph idx="1"/>
          </p:nvPr>
        </p:nvSpPr>
        <p:spPr>
          <a:xfrm>
            <a:off x="457200" y="1626248"/>
            <a:ext cx="11219688" cy="4572000"/>
          </a:xfrm>
        </p:spPr>
        <p:txBody>
          <a:bodyPr>
            <a:normAutofit/>
          </a:bodyPr>
          <a:lstStyle/>
          <a:p>
            <a:pPr lvl="1">
              <a:lnSpc>
                <a:spcPct val="150000"/>
              </a:lnSpc>
            </a:pPr>
            <a:r>
              <a:rPr lang="en-US" altLang="zh-CN" sz="2800" dirty="0">
                <a:latin typeface="Palatino Linotype" panose="02040502050505030304" pitchFamily="18" charset="0"/>
              </a:rPr>
              <a:t>SaaS Interaction Dynamics and Software Stack Control</a:t>
            </a:r>
            <a:endParaRPr lang="en-US" altLang="zh-CN" dirty="0">
              <a:latin typeface="Palatino Linotype" panose="02040502050505030304" pitchFamily="18" charset="0"/>
            </a:endParaRPr>
          </a:p>
          <a:p>
            <a:pPr lvl="1">
              <a:lnSpc>
                <a:spcPct val="150000"/>
              </a:lnSpc>
            </a:pPr>
            <a:r>
              <a:rPr lang="en-US" altLang="zh-CN" sz="2800" dirty="0">
                <a:latin typeface="Palatino Linotype" panose="02040502050505030304" pitchFamily="18" charset="0"/>
              </a:rPr>
              <a:t>SaaS Benefits, Issues and Concerns, Suitability, and Recommendations</a:t>
            </a:r>
          </a:p>
          <a:p>
            <a:pPr lvl="1">
              <a:lnSpc>
                <a:spcPct val="150000"/>
              </a:lnSpc>
            </a:pPr>
            <a:r>
              <a:rPr lang="en-US" altLang="zh-CN" sz="2800" dirty="0">
                <a:latin typeface="Palatino Linotype" panose="02040502050505030304" pitchFamily="18" charset="0"/>
              </a:rPr>
              <a:t>PaaS Benefits, Issues and Concerns, Suitability, and Recommendations</a:t>
            </a:r>
            <a:endParaRPr lang="zh-CN" altLang="zh-CN" sz="2800" dirty="0">
              <a:latin typeface="Palatino Linotype" panose="02040502050505030304" pitchFamily="18" charset="0"/>
            </a:endParaRPr>
          </a:p>
        </p:txBody>
      </p:sp>
      <p:sp>
        <p:nvSpPr>
          <p:cNvPr id="2" name="Date Placeholder 1">
            <a:extLst>
              <a:ext uri="{FF2B5EF4-FFF2-40B4-BE49-F238E27FC236}">
                <a16:creationId xmlns:a16="http://schemas.microsoft.com/office/drawing/2014/main" id="{A1FDCCA0-4223-6F9C-36F4-815B6483DB68}"/>
              </a:ext>
            </a:extLst>
          </p:cNvPr>
          <p:cNvSpPr>
            <a:spLocks noGrp="1"/>
          </p:cNvSpPr>
          <p:nvPr>
            <p:ph type="dt" sz="half" idx="4294967295"/>
          </p:nvPr>
        </p:nvSpPr>
        <p:spPr>
          <a:xfrm>
            <a:off x="1104900" y="6355975"/>
            <a:ext cx="1829559" cy="365125"/>
          </a:xfrm>
        </p:spPr>
        <p:txBody>
          <a:bodyPr/>
          <a:lstStyle/>
          <a:p>
            <a:r>
              <a:rPr lang="en-US"/>
              <a:t>8:14 PM</a:t>
            </a:r>
          </a:p>
        </p:txBody>
      </p:sp>
      <p:sp>
        <p:nvSpPr>
          <p:cNvPr id="3" name="Slide Number Placeholder 2">
            <a:extLst>
              <a:ext uri="{FF2B5EF4-FFF2-40B4-BE49-F238E27FC236}">
                <a16:creationId xmlns:a16="http://schemas.microsoft.com/office/drawing/2014/main" id="{27DB74D5-4BBB-85A7-3DCF-A92E0839F162}"/>
              </a:ext>
            </a:extLst>
          </p:cNvPr>
          <p:cNvSpPr>
            <a:spLocks noGrp="1"/>
          </p:cNvSpPr>
          <p:nvPr>
            <p:ph type="sldNum" sz="quarter" idx="12"/>
          </p:nvPr>
        </p:nvSpPr>
        <p:spPr/>
        <p:txBody>
          <a:bodyPr/>
          <a:lstStyle/>
          <a:p>
            <a:fld id="{0FF54DE5-C571-48E8-A5BC-B369434E2F44}" type="slidenum">
              <a:rPr lang="en-US" smtClean="0"/>
              <a:t>2</a:t>
            </a:fld>
            <a:endParaRPr lang="en-US"/>
          </a:p>
        </p:txBody>
      </p:sp>
    </p:spTree>
    <p:extLst>
      <p:ext uri="{BB962C8B-B14F-4D97-AF65-F5344CB8AC3E}">
        <p14:creationId xmlns:p14="http://schemas.microsoft.com/office/powerpoint/2010/main" val="2257732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sz="3600" b="1" dirty="0">
                <a:latin typeface="LM Roman 12" panose="00000500000000000000" pitchFamily="50" charset="0"/>
              </a:rPr>
              <a:t>In this Lecture</a:t>
            </a:r>
          </a:p>
        </p:txBody>
      </p:sp>
      <p:sp>
        <p:nvSpPr>
          <p:cNvPr id="14" name="Content Placeholder 13"/>
          <p:cNvSpPr>
            <a:spLocks noGrp="1"/>
          </p:cNvSpPr>
          <p:nvPr>
            <p:ph idx="1"/>
          </p:nvPr>
        </p:nvSpPr>
        <p:spPr>
          <a:xfrm>
            <a:off x="1104900" y="1626248"/>
            <a:ext cx="9982200" cy="4572000"/>
          </a:xfrm>
        </p:spPr>
        <p:txBody>
          <a:bodyPr>
            <a:normAutofit fontScale="77500" lnSpcReduction="20000"/>
          </a:bodyPr>
          <a:lstStyle/>
          <a:p>
            <a:pPr lvl="1">
              <a:lnSpc>
                <a:spcPct val="150000"/>
              </a:lnSpc>
            </a:pPr>
            <a:r>
              <a:rPr lang="en-US" dirty="0">
                <a:latin typeface="Palatino Linotype" panose="02040502050505030304" pitchFamily="18" charset="0"/>
              </a:rPr>
              <a:t>Cloud Economics</a:t>
            </a:r>
          </a:p>
          <a:p>
            <a:pPr lvl="1">
              <a:lnSpc>
                <a:spcPct val="150000"/>
              </a:lnSpc>
            </a:pPr>
            <a:r>
              <a:rPr lang="en-US" dirty="0">
                <a:latin typeface="Palatino Linotype" panose="02040502050505030304" pitchFamily="18" charset="0"/>
              </a:rPr>
              <a:t>SWOT Analysis and Value Proposition</a:t>
            </a:r>
          </a:p>
          <a:p>
            <a:pPr lvl="1">
              <a:lnSpc>
                <a:spcPct val="150000"/>
              </a:lnSpc>
            </a:pPr>
            <a:r>
              <a:rPr lang="en-US" dirty="0">
                <a:latin typeface="Palatino Linotype" panose="02040502050505030304" pitchFamily="18" charset="0"/>
              </a:rPr>
              <a:t>General Cloud Computing Risks</a:t>
            </a:r>
          </a:p>
          <a:p>
            <a:pPr lvl="1">
              <a:lnSpc>
                <a:spcPct val="150000"/>
              </a:lnSpc>
            </a:pPr>
            <a:r>
              <a:rPr lang="en-US" dirty="0">
                <a:latin typeface="Palatino Linotype" panose="02040502050505030304" pitchFamily="18" charset="0"/>
              </a:rPr>
              <a:t>Cloud Computing Cost Analysis</a:t>
            </a:r>
          </a:p>
          <a:p>
            <a:pPr lvl="1">
              <a:lnSpc>
                <a:spcPct val="150000"/>
              </a:lnSpc>
            </a:pPr>
            <a:r>
              <a:rPr lang="en-US" dirty="0">
                <a:latin typeface="Palatino Linotype" panose="02040502050505030304" pitchFamily="18" charset="0"/>
              </a:rPr>
              <a:t>Selecting an IaaS Provider</a:t>
            </a:r>
          </a:p>
          <a:p>
            <a:pPr lvl="1">
              <a:lnSpc>
                <a:spcPct val="150000"/>
              </a:lnSpc>
            </a:pPr>
            <a:r>
              <a:rPr lang="en-US" dirty="0">
                <a:latin typeface="Palatino Linotype" panose="02040502050505030304" pitchFamily="18" charset="0"/>
              </a:rPr>
              <a:t>Cloud Standards and Inter cloud Interoperability</a:t>
            </a:r>
          </a:p>
          <a:p>
            <a:pPr lvl="1">
              <a:lnSpc>
                <a:spcPct val="150000"/>
              </a:lnSpc>
            </a:pPr>
            <a:r>
              <a:rPr lang="en-US" dirty="0">
                <a:latin typeface="Palatino Linotype" panose="02040502050505030304" pitchFamily="18" charset="0"/>
              </a:rPr>
              <a:t>Recommendations for Successful Cloud Migration</a:t>
            </a:r>
          </a:p>
        </p:txBody>
      </p:sp>
      <p:sp>
        <p:nvSpPr>
          <p:cNvPr id="2" name="Date Placeholder 1">
            <a:extLst>
              <a:ext uri="{FF2B5EF4-FFF2-40B4-BE49-F238E27FC236}">
                <a16:creationId xmlns:a16="http://schemas.microsoft.com/office/drawing/2014/main" id="{3BBDC454-3B5C-4728-9837-BDA08E001946}"/>
              </a:ext>
            </a:extLst>
          </p:cNvPr>
          <p:cNvSpPr>
            <a:spLocks noGrp="1"/>
          </p:cNvSpPr>
          <p:nvPr>
            <p:ph type="dt" sz="half" idx="4294967295"/>
          </p:nvPr>
        </p:nvSpPr>
        <p:spPr>
          <a:xfrm>
            <a:off x="1104900" y="6355975"/>
            <a:ext cx="1829559" cy="365125"/>
          </a:xfrm>
        </p:spPr>
        <p:txBody>
          <a:bodyPr/>
          <a:lstStyle/>
          <a:p>
            <a:r>
              <a:rPr lang="en-US"/>
              <a:t>8:14 PM</a:t>
            </a:r>
          </a:p>
        </p:txBody>
      </p:sp>
      <p:sp>
        <p:nvSpPr>
          <p:cNvPr id="3" name="Slide Number Placeholder 2">
            <a:extLst>
              <a:ext uri="{FF2B5EF4-FFF2-40B4-BE49-F238E27FC236}">
                <a16:creationId xmlns:a16="http://schemas.microsoft.com/office/drawing/2014/main" id="{77E9BBD6-437F-49B4-A592-B33C372FB910}"/>
              </a:ext>
            </a:extLst>
          </p:cNvPr>
          <p:cNvSpPr>
            <a:spLocks noGrp="1"/>
          </p:cNvSpPr>
          <p:nvPr>
            <p:ph type="sldNum" sz="quarter" idx="12"/>
          </p:nvPr>
        </p:nvSpPr>
        <p:spPr/>
        <p:txBody>
          <a:bodyPr/>
          <a:lstStyle/>
          <a:p>
            <a:fld id="{0FF54DE5-C571-48E8-A5BC-B369434E2F44}" type="slidenum">
              <a:rPr lang="en-US" smtClean="0"/>
              <a:t>3</a:t>
            </a:fld>
            <a:endParaRPr lang="en-US"/>
          </a:p>
        </p:txBody>
      </p:sp>
    </p:spTree>
    <p:extLst>
      <p:ext uri="{BB962C8B-B14F-4D97-AF65-F5344CB8AC3E}">
        <p14:creationId xmlns:p14="http://schemas.microsoft.com/office/powerpoint/2010/main" val="1086027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D528A-DAC6-0580-3543-4BC3DB513C14}"/>
              </a:ext>
            </a:extLst>
          </p:cNvPr>
          <p:cNvSpPr>
            <a:spLocks noGrp="1"/>
          </p:cNvSpPr>
          <p:nvPr>
            <p:ph type="title"/>
          </p:nvPr>
        </p:nvSpPr>
        <p:spPr/>
        <p:txBody>
          <a:bodyPr/>
          <a:lstStyle/>
          <a:p>
            <a:r>
              <a:rPr lang="en-US" altLang="zh-CN" dirty="0"/>
              <a:t>Cloud economics</a:t>
            </a:r>
            <a:endParaRPr lang="zh-CN" altLang="en-US" dirty="0"/>
          </a:p>
        </p:txBody>
      </p:sp>
      <p:sp>
        <p:nvSpPr>
          <p:cNvPr id="3" name="Content Placeholder 2">
            <a:extLst>
              <a:ext uri="{FF2B5EF4-FFF2-40B4-BE49-F238E27FC236}">
                <a16:creationId xmlns:a16="http://schemas.microsoft.com/office/drawing/2014/main" id="{773D6C0D-D5CB-5E75-4334-D5BE96C181D6}"/>
              </a:ext>
            </a:extLst>
          </p:cNvPr>
          <p:cNvSpPr>
            <a:spLocks noGrp="1"/>
          </p:cNvSpPr>
          <p:nvPr>
            <p:ph idx="1"/>
          </p:nvPr>
        </p:nvSpPr>
        <p:spPr/>
        <p:txBody>
          <a:bodyPr>
            <a:normAutofit/>
          </a:bodyPr>
          <a:lstStyle/>
          <a:p>
            <a:r>
              <a:rPr lang="en-US" altLang="zh-CN" sz="2800" b="1" dirty="0">
                <a:solidFill>
                  <a:srgbClr val="C00000"/>
                </a:solidFill>
              </a:rPr>
              <a:t>Cloud economics </a:t>
            </a:r>
            <a:r>
              <a:rPr lang="en-US" altLang="zh-CN" sz="2800" dirty="0"/>
              <a:t>is the process of examining the financial and functional impact of cloud computing on an organization. </a:t>
            </a:r>
          </a:p>
          <a:p>
            <a:r>
              <a:rPr lang="en-US" altLang="zh-CN" sz="2800" dirty="0"/>
              <a:t>A cloud economics analysis weighs financial factors such as return on investment (ROI), legacy hardware investment, and the </a:t>
            </a:r>
            <a:r>
              <a:rPr lang="en-US" altLang="zh-CN" sz="2800" dirty="0">
                <a:solidFill>
                  <a:srgbClr val="FF0000"/>
                </a:solidFill>
              </a:rPr>
              <a:t>total</a:t>
            </a:r>
            <a:r>
              <a:rPr lang="en-US" altLang="zh-CN" sz="2800" dirty="0"/>
              <a:t> </a:t>
            </a:r>
            <a:r>
              <a:rPr lang="en-US" altLang="zh-CN" sz="2800" dirty="0">
                <a:solidFill>
                  <a:srgbClr val="C00000"/>
                </a:solidFill>
              </a:rPr>
              <a:t>cost of ownership (TCO) </a:t>
            </a:r>
            <a:r>
              <a:rPr lang="en-US" altLang="zh-CN" sz="2800" dirty="0"/>
              <a:t>for the cloud versus on-premises data centers.</a:t>
            </a:r>
          </a:p>
          <a:p>
            <a:r>
              <a:rPr lang="en-US" altLang="zh-CN" sz="2800" b="1" dirty="0"/>
              <a:t>A cloud economist </a:t>
            </a:r>
            <a:r>
              <a:rPr lang="en-US" altLang="zh-CN" sz="2800" dirty="0"/>
              <a:t>is someone in an organization that looks at the tangible and theoretical benefits of cloud infrastructure. </a:t>
            </a:r>
          </a:p>
          <a:p>
            <a:r>
              <a:rPr lang="en-US" altLang="zh-CN" sz="2800" dirty="0"/>
              <a:t>Understanding cloud economics is essential for organizations.</a:t>
            </a:r>
          </a:p>
          <a:p>
            <a:endParaRPr lang="en-US" altLang="zh-CN" sz="2800" dirty="0"/>
          </a:p>
          <a:p>
            <a:endParaRPr lang="zh-CN" altLang="en-US" sz="2800" dirty="0"/>
          </a:p>
        </p:txBody>
      </p:sp>
    </p:spTree>
    <p:extLst>
      <p:ext uri="{BB962C8B-B14F-4D97-AF65-F5344CB8AC3E}">
        <p14:creationId xmlns:p14="http://schemas.microsoft.com/office/powerpoint/2010/main" val="813498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DCBC9-92E5-4B4B-C5EC-37B1C1FA0520}"/>
              </a:ext>
            </a:extLst>
          </p:cNvPr>
          <p:cNvSpPr>
            <a:spLocks noGrp="1"/>
          </p:cNvSpPr>
          <p:nvPr>
            <p:ph type="title"/>
          </p:nvPr>
        </p:nvSpPr>
        <p:spPr/>
        <p:txBody>
          <a:bodyPr/>
          <a:lstStyle/>
          <a:p>
            <a:r>
              <a:rPr lang="en-US" altLang="zh-CN" dirty="0"/>
              <a:t>What is cloud economics analysis</a:t>
            </a:r>
            <a:endParaRPr lang="zh-CN" altLang="en-US" dirty="0"/>
          </a:p>
        </p:txBody>
      </p:sp>
      <p:sp>
        <p:nvSpPr>
          <p:cNvPr id="3" name="Content Placeholder 2">
            <a:extLst>
              <a:ext uri="{FF2B5EF4-FFF2-40B4-BE49-F238E27FC236}">
                <a16:creationId xmlns:a16="http://schemas.microsoft.com/office/drawing/2014/main" id="{3D7E81BA-AF9A-7CD0-C8FA-620EC84DDDAC}"/>
              </a:ext>
            </a:extLst>
          </p:cNvPr>
          <p:cNvSpPr>
            <a:spLocks noGrp="1"/>
          </p:cNvSpPr>
          <p:nvPr>
            <p:ph idx="1"/>
          </p:nvPr>
        </p:nvSpPr>
        <p:spPr/>
        <p:txBody>
          <a:bodyPr>
            <a:normAutofit fontScale="92500" lnSpcReduction="10000"/>
          </a:bodyPr>
          <a:lstStyle/>
          <a:p>
            <a:pPr marL="0" indent="0">
              <a:buNone/>
            </a:pPr>
            <a:r>
              <a:rPr lang="en-US" altLang="zh-CN" sz="3200" b="1" dirty="0">
                <a:solidFill>
                  <a:srgbClr val="C00000"/>
                </a:solidFill>
              </a:rPr>
              <a:t>A cloud economics analysis should answer the following questions:</a:t>
            </a:r>
            <a:endParaRPr lang="en-US" altLang="zh-CN" sz="3200" dirty="0"/>
          </a:p>
          <a:p>
            <a:r>
              <a:rPr lang="en-US" altLang="zh-CN" sz="3000" dirty="0"/>
              <a:t>What do internal operations teams need?</a:t>
            </a:r>
          </a:p>
          <a:p>
            <a:r>
              <a:rPr lang="en-US" altLang="zh-CN" sz="3000" dirty="0"/>
              <a:t>What do customers need?</a:t>
            </a:r>
          </a:p>
          <a:p>
            <a:r>
              <a:rPr lang="en-US" altLang="zh-CN" sz="3000" dirty="0"/>
              <a:t>Do the company’s products or services require IT support for core functionality?</a:t>
            </a:r>
          </a:p>
          <a:p>
            <a:r>
              <a:rPr lang="en-US" altLang="zh-CN" sz="3000" dirty="0"/>
              <a:t>What cloud-based tools do employees use?</a:t>
            </a:r>
          </a:p>
          <a:p>
            <a:r>
              <a:rPr lang="en-US" altLang="zh-CN" sz="3000" dirty="0"/>
              <a:t>What compliance and regulatory factors apply?</a:t>
            </a:r>
          </a:p>
          <a:p>
            <a:endParaRPr lang="zh-CN" altLang="en-US" dirty="0"/>
          </a:p>
        </p:txBody>
      </p:sp>
    </p:spTree>
    <p:extLst>
      <p:ext uri="{BB962C8B-B14F-4D97-AF65-F5344CB8AC3E}">
        <p14:creationId xmlns:p14="http://schemas.microsoft.com/office/powerpoint/2010/main" val="333817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BCF95-A6A9-FB50-E500-75B69D51A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C25FD-4390-6049-B454-6918A8F1E6FF}"/>
              </a:ext>
            </a:extLst>
          </p:cNvPr>
          <p:cNvSpPr>
            <a:spLocks noGrp="1"/>
          </p:cNvSpPr>
          <p:nvPr>
            <p:ph type="title"/>
          </p:nvPr>
        </p:nvSpPr>
        <p:spPr/>
        <p:txBody>
          <a:bodyPr/>
          <a:lstStyle/>
          <a:p>
            <a:r>
              <a:rPr lang="en-US" altLang="zh-CN" dirty="0"/>
              <a:t>Why do companies move to the cloud</a:t>
            </a:r>
            <a:endParaRPr lang="zh-CN" altLang="en-US" dirty="0"/>
          </a:p>
        </p:txBody>
      </p:sp>
      <p:sp>
        <p:nvSpPr>
          <p:cNvPr id="3" name="Content Placeholder 2">
            <a:extLst>
              <a:ext uri="{FF2B5EF4-FFF2-40B4-BE49-F238E27FC236}">
                <a16:creationId xmlns:a16="http://schemas.microsoft.com/office/drawing/2014/main" id="{1D768368-E180-A03C-CA73-97B41FD6E3F2}"/>
              </a:ext>
            </a:extLst>
          </p:cNvPr>
          <p:cNvSpPr>
            <a:spLocks noGrp="1"/>
          </p:cNvSpPr>
          <p:nvPr>
            <p:ph idx="1"/>
          </p:nvPr>
        </p:nvSpPr>
        <p:spPr/>
        <p:txBody>
          <a:bodyPr>
            <a:normAutofit fontScale="77500" lnSpcReduction="20000"/>
          </a:bodyPr>
          <a:lstStyle/>
          <a:p>
            <a:r>
              <a:rPr lang="en-US" altLang="zh-CN" sz="3200" b="1" dirty="0">
                <a:solidFill>
                  <a:srgbClr val="3D3D3D"/>
                </a:solidFill>
                <a:latin typeface="Gill Sans MT" panose="020B0502020104020203" pitchFamily="34" charset="0"/>
              </a:rPr>
              <a:t>Scalability</a:t>
            </a:r>
            <a:r>
              <a:rPr lang="en-US" altLang="zh-CN" sz="3200" dirty="0"/>
              <a:t>: Easy to scale resources in a cloud environment. </a:t>
            </a:r>
          </a:p>
          <a:p>
            <a:r>
              <a:rPr lang="en-US" altLang="zh-CN" sz="3200" b="1" dirty="0">
                <a:solidFill>
                  <a:srgbClr val="3D3D3D"/>
                </a:solidFill>
                <a:latin typeface="Gill Sans MT" panose="020B0502020104020203" pitchFamily="34" charset="0"/>
              </a:rPr>
              <a:t>Improved collaboration</a:t>
            </a:r>
            <a:r>
              <a:rPr lang="en-US" altLang="zh-CN" sz="3200" dirty="0"/>
              <a:t>: Cloud infrastructure better supports data integration, remote access, and other methods of flexibly syncing users. </a:t>
            </a:r>
          </a:p>
          <a:p>
            <a:r>
              <a:rPr lang="en-US" altLang="zh-CN" sz="3200" b="1" dirty="0">
                <a:solidFill>
                  <a:srgbClr val="3D3D3D"/>
                </a:solidFill>
                <a:effectLst/>
                <a:latin typeface="Gill Sans MT" panose="020B0502020104020203" pitchFamily="34" charset="0"/>
              </a:rPr>
              <a:t>Flexibility:</a:t>
            </a:r>
            <a:r>
              <a:rPr lang="en-US" altLang="zh-CN" sz="3200" dirty="0">
                <a:solidFill>
                  <a:srgbClr val="3D3D3D"/>
                </a:solidFill>
                <a:effectLst/>
                <a:latin typeface="Gill Sans MT" panose="020B0502020104020203" pitchFamily="34" charset="0"/>
              </a:rPr>
              <a:t> The scalability of the cloud allows it to handle sudden increases in demand efficiently. </a:t>
            </a:r>
          </a:p>
          <a:p>
            <a:r>
              <a:rPr lang="en-US" altLang="zh-CN" sz="3200" b="1" dirty="0">
                <a:solidFill>
                  <a:srgbClr val="3D3D3D"/>
                </a:solidFill>
                <a:effectLst/>
                <a:latin typeface="Gill Sans MT" panose="020B0502020104020203" pitchFamily="34" charset="0"/>
              </a:rPr>
              <a:t>IT productivity:</a:t>
            </a:r>
            <a:r>
              <a:rPr lang="en-US" altLang="zh-CN" sz="3200" dirty="0">
                <a:solidFill>
                  <a:srgbClr val="3D3D3D"/>
                </a:solidFill>
                <a:effectLst/>
                <a:latin typeface="Gill Sans MT" panose="020B0502020104020203" pitchFamily="34" charset="0"/>
              </a:rPr>
              <a:t> Cloud services shift regular server maintenance to the provider, alleviating the workload of essential IT tasks. </a:t>
            </a:r>
          </a:p>
          <a:p>
            <a:r>
              <a:rPr lang="en-US" altLang="zh-CN" sz="3200" b="1" dirty="0"/>
              <a:t>Increased security:</a:t>
            </a:r>
            <a:r>
              <a:rPr lang="en-US" altLang="zh-CN" sz="3200" dirty="0"/>
              <a:t> Cloud infrastructure offers many data security improvements. </a:t>
            </a:r>
          </a:p>
          <a:p>
            <a:r>
              <a:rPr lang="en-US" altLang="zh-CN" sz="3200" b="1" dirty="0"/>
              <a:t>Better disaster recovery:</a:t>
            </a:r>
            <a:r>
              <a:rPr lang="en-US" altLang="zh-CN" sz="3200" dirty="0"/>
              <a:t> Cloud providers business models are built around data availability and often offer more options and faster execution when it comes to disaster recovery. </a:t>
            </a:r>
            <a:endParaRPr lang="en-US" altLang="zh-CN" sz="3000" dirty="0"/>
          </a:p>
          <a:p>
            <a:endParaRPr lang="zh-CN" altLang="en-US" dirty="0"/>
          </a:p>
        </p:txBody>
      </p:sp>
    </p:spTree>
    <p:extLst>
      <p:ext uri="{BB962C8B-B14F-4D97-AF65-F5344CB8AC3E}">
        <p14:creationId xmlns:p14="http://schemas.microsoft.com/office/powerpoint/2010/main" val="862799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32183F4-1E56-F680-36CE-759285993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CB5AFC-1BDC-3E58-536C-37AF5A2C10FE}"/>
              </a:ext>
            </a:extLst>
          </p:cNvPr>
          <p:cNvSpPr>
            <a:spLocks noGrp="1"/>
          </p:cNvSpPr>
          <p:nvPr>
            <p:ph type="title"/>
          </p:nvPr>
        </p:nvSpPr>
        <p:spPr/>
        <p:txBody>
          <a:bodyPr/>
          <a:lstStyle/>
          <a:p>
            <a:r>
              <a:rPr lang="en-US" altLang="zh-CN" dirty="0"/>
              <a:t>Economic benefits of the cloud</a:t>
            </a:r>
            <a:endParaRPr lang="zh-CN" altLang="en-US" dirty="0"/>
          </a:p>
        </p:txBody>
      </p:sp>
      <p:sp>
        <p:nvSpPr>
          <p:cNvPr id="3" name="Content Placeholder 2">
            <a:extLst>
              <a:ext uri="{FF2B5EF4-FFF2-40B4-BE49-F238E27FC236}">
                <a16:creationId xmlns:a16="http://schemas.microsoft.com/office/drawing/2014/main" id="{55A73595-4A44-363E-4709-042AD2887C6F}"/>
              </a:ext>
            </a:extLst>
          </p:cNvPr>
          <p:cNvSpPr>
            <a:spLocks noGrp="1"/>
          </p:cNvSpPr>
          <p:nvPr>
            <p:ph idx="1"/>
          </p:nvPr>
        </p:nvSpPr>
        <p:spPr/>
        <p:txBody>
          <a:bodyPr>
            <a:normAutofit/>
          </a:bodyPr>
          <a:lstStyle/>
          <a:p>
            <a:r>
              <a:rPr lang="en-US" altLang="zh-CN" sz="2800" b="1" dirty="0"/>
              <a:t>Reduced TCO</a:t>
            </a:r>
            <a:r>
              <a:rPr lang="en-US" altLang="zh-CN" sz="2800" dirty="0"/>
              <a:t>: With an on-premises configuration, an organization must budget for all stages of a hardware cycle</a:t>
            </a:r>
          </a:p>
          <a:p>
            <a:r>
              <a:rPr lang="en-US" altLang="zh-CN" sz="2800" b="1" dirty="0"/>
              <a:t>Save on intangibles:</a:t>
            </a:r>
            <a:r>
              <a:rPr lang="en-US" altLang="zh-CN" sz="2800" dirty="0"/>
              <a:t> Cloud alleviates IT staff from maintenance tasks.</a:t>
            </a:r>
          </a:p>
          <a:p>
            <a:r>
              <a:rPr lang="en-US" altLang="zh-CN" sz="2800" b="1" dirty="0"/>
              <a:t>Scale as needed:  </a:t>
            </a:r>
            <a:r>
              <a:rPr lang="en-US" altLang="zh-CN" sz="2800" dirty="0"/>
              <a:t>Cloud providers scale on demand with a pay-as-you-go pricing model</a:t>
            </a:r>
          </a:p>
          <a:p>
            <a:endParaRPr lang="en-US" altLang="zh-CN" sz="2800" dirty="0"/>
          </a:p>
          <a:p>
            <a:endParaRPr lang="zh-CN" altLang="en-US" sz="3200" dirty="0"/>
          </a:p>
        </p:txBody>
      </p:sp>
    </p:spTree>
    <p:extLst>
      <p:ext uri="{BB962C8B-B14F-4D97-AF65-F5344CB8AC3E}">
        <p14:creationId xmlns:p14="http://schemas.microsoft.com/office/powerpoint/2010/main" val="3973026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18131"/>
            <a:ext cx="10515600" cy="607027"/>
          </a:xfrm>
        </p:spPr>
        <p:txBody>
          <a:bodyPr>
            <a:noAutofit/>
          </a:bodyPr>
          <a:lstStyle/>
          <a:p>
            <a:r>
              <a:rPr lang="en-US" sz="2400" b="1" dirty="0"/>
              <a:t>Cloud Use cases and considerations </a:t>
            </a:r>
          </a:p>
        </p:txBody>
      </p:sp>
      <p:pic>
        <p:nvPicPr>
          <p:cNvPr id="4" name="Picture 3">
            <a:extLst>
              <a:ext uri="{FF2B5EF4-FFF2-40B4-BE49-F238E27FC236}">
                <a16:creationId xmlns:a16="http://schemas.microsoft.com/office/drawing/2014/main" id="{85834F9F-A3F1-5A9F-BCE2-17C0AFA84CC4}"/>
              </a:ext>
            </a:extLst>
          </p:cNvPr>
          <p:cNvPicPr>
            <a:picLocks noChangeAspect="1"/>
          </p:cNvPicPr>
          <p:nvPr/>
        </p:nvPicPr>
        <p:blipFill>
          <a:blip r:embed="rId2"/>
          <a:stretch>
            <a:fillRect/>
          </a:stretch>
        </p:blipFill>
        <p:spPr>
          <a:xfrm>
            <a:off x="1159966" y="1478049"/>
            <a:ext cx="10193834" cy="5379951"/>
          </a:xfrm>
          <a:prstGeom prst="rect">
            <a:avLst/>
          </a:prstGeom>
        </p:spPr>
      </p:pic>
    </p:spTree>
    <p:extLst>
      <p:ext uri="{BB962C8B-B14F-4D97-AF65-F5344CB8AC3E}">
        <p14:creationId xmlns:p14="http://schemas.microsoft.com/office/powerpoint/2010/main" val="940195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02E779C-FF4C-D31C-DE65-670D07B4D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6F695-3C03-DFD7-DED3-38C2C029E223}"/>
              </a:ext>
            </a:extLst>
          </p:cNvPr>
          <p:cNvSpPr>
            <a:spLocks noGrp="1"/>
          </p:cNvSpPr>
          <p:nvPr>
            <p:ph type="title"/>
          </p:nvPr>
        </p:nvSpPr>
        <p:spPr/>
        <p:txBody>
          <a:bodyPr/>
          <a:lstStyle/>
          <a:p>
            <a:r>
              <a:rPr lang="en-US" altLang="zh-CN" dirty="0"/>
              <a:t>Cloud economics</a:t>
            </a:r>
            <a:endParaRPr lang="zh-CN" altLang="en-US" dirty="0"/>
          </a:p>
        </p:txBody>
      </p:sp>
      <p:sp>
        <p:nvSpPr>
          <p:cNvPr id="3" name="Content Placeholder 2">
            <a:extLst>
              <a:ext uri="{FF2B5EF4-FFF2-40B4-BE49-F238E27FC236}">
                <a16:creationId xmlns:a16="http://schemas.microsoft.com/office/drawing/2014/main" id="{36F3B042-84E2-632D-1855-FF2554429E87}"/>
              </a:ext>
            </a:extLst>
          </p:cNvPr>
          <p:cNvSpPr>
            <a:spLocks noGrp="1"/>
          </p:cNvSpPr>
          <p:nvPr>
            <p:ph idx="1"/>
          </p:nvPr>
        </p:nvSpPr>
        <p:spPr/>
        <p:txBody>
          <a:bodyPr>
            <a:normAutofit/>
          </a:bodyPr>
          <a:lstStyle/>
          <a:p>
            <a:pPr marL="0" indent="0" algn="just">
              <a:buNone/>
            </a:pPr>
            <a:r>
              <a:rPr lang="en-US" altLang="zh-CN" sz="2800" dirty="0"/>
              <a:t>Cloud economics analysis should also consider:</a:t>
            </a:r>
          </a:p>
          <a:p>
            <a:pPr algn="just"/>
            <a:r>
              <a:rPr lang="en-US" altLang="zh-CN" sz="2800" b="1" dirty="0"/>
              <a:t>Existing biases:</a:t>
            </a:r>
            <a:r>
              <a:rPr lang="en-US" altLang="zh-CN" sz="2800" dirty="0"/>
              <a:t> Organizations must practice self-awareness to overcome human biases for an objective cloud economics evaluation</a:t>
            </a:r>
          </a:p>
          <a:p>
            <a:pPr algn="just"/>
            <a:r>
              <a:rPr lang="en-US" altLang="zh-CN" sz="2800" b="1" dirty="0"/>
              <a:t>Risk/reward threshold:</a:t>
            </a:r>
            <a:r>
              <a:rPr lang="en-US" altLang="zh-CN" sz="2800" dirty="0"/>
              <a:t> Knowing an organization's standard risk/reward approach—and when it can be adjusted—builds tolerances and boundaries for cloud economics calculations</a:t>
            </a:r>
          </a:p>
          <a:p>
            <a:r>
              <a:rPr lang="en-US" altLang="zh-CN" sz="2800" b="1" dirty="0"/>
              <a:t>Current processes:</a:t>
            </a:r>
            <a:r>
              <a:rPr lang="en-US" altLang="zh-CN" sz="2800" dirty="0"/>
              <a:t> Will a shift to cloud computing impact processes that drive core business?</a:t>
            </a:r>
          </a:p>
          <a:p>
            <a:endParaRPr lang="en-US" altLang="zh-CN" sz="2800" dirty="0"/>
          </a:p>
          <a:p>
            <a:endParaRPr lang="zh-CN" altLang="en-US" sz="2800" dirty="0"/>
          </a:p>
        </p:txBody>
      </p:sp>
    </p:spTree>
    <p:extLst>
      <p:ext uri="{BB962C8B-B14F-4D97-AF65-F5344CB8AC3E}">
        <p14:creationId xmlns:p14="http://schemas.microsoft.com/office/powerpoint/2010/main" val="4131636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A6C3D-5BA7-9EBD-9CBC-712DC17EA12D}"/>
              </a:ext>
            </a:extLst>
          </p:cNvPr>
          <p:cNvSpPr>
            <a:spLocks noGrp="1"/>
          </p:cNvSpPr>
          <p:nvPr>
            <p:ph type="title"/>
          </p:nvPr>
        </p:nvSpPr>
        <p:spPr/>
        <p:txBody>
          <a:bodyPr/>
          <a:lstStyle/>
          <a:p>
            <a:r>
              <a:rPr lang="en-US" altLang="zh-CN" dirty="0"/>
              <a:t>Pillars cloud of economics approach</a:t>
            </a:r>
            <a:endParaRPr lang="zh-CN" altLang="en-US" dirty="0"/>
          </a:p>
        </p:txBody>
      </p:sp>
      <p:sp>
        <p:nvSpPr>
          <p:cNvPr id="3" name="Content Placeholder 2">
            <a:extLst>
              <a:ext uri="{FF2B5EF4-FFF2-40B4-BE49-F238E27FC236}">
                <a16:creationId xmlns:a16="http://schemas.microsoft.com/office/drawing/2014/main" id="{8215FD83-CEB3-A04C-DDD0-47F1EE847330}"/>
              </a:ext>
            </a:extLst>
          </p:cNvPr>
          <p:cNvSpPr>
            <a:spLocks noGrp="1"/>
          </p:cNvSpPr>
          <p:nvPr>
            <p:ph idx="1"/>
          </p:nvPr>
        </p:nvSpPr>
        <p:spPr/>
        <p:txBody>
          <a:bodyPr>
            <a:normAutofit lnSpcReduction="10000"/>
          </a:bodyPr>
          <a:lstStyle/>
          <a:p>
            <a:pPr algn="just"/>
            <a:r>
              <a:rPr lang="en-US" altLang="zh-CN" sz="2400" b="1" dirty="0"/>
              <a:t>Total cost of ownership:</a:t>
            </a:r>
            <a:r>
              <a:rPr lang="en-US" altLang="zh-CN" sz="2400" dirty="0"/>
              <a:t> TCO includes:</a:t>
            </a:r>
          </a:p>
          <a:p>
            <a:pPr lvl="1" algn="just"/>
            <a:r>
              <a:rPr lang="en-US" altLang="zh-CN" sz="2400" dirty="0"/>
              <a:t>Infrastructure costs, such as the purchase or lease of the physical building, power and cooling systems, and networking. </a:t>
            </a:r>
          </a:p>
          <a:p>
            <a:pPr lvl="1" algn="just"/>
            <a:r>
              <a:rPr lang="en-US" altLang="zh-CN" sz="2400" dirty="0"/>
              <a:t>Costs associated with hardware and software; personnel, including salaries and benefits for IT staff; maintenance and support, including software updates;</a:t>
            </a:r>
          </a:p>
          <a:p>
            <a:pPr lvl="1" algn="just"/>
            <a:r>
              <a:rPr lang="en-US" altLang="zh-CN" sz="2400" dirty="0"/>
              <a:t>Energy (data centers require a substantial amount of power to operate).</a:t>
            </a:r>
          </a:p>
          <a:p>
            <a:pPr algn="just"/>
            <a:r>
              <a:rPr lang="en-US" altLang="zh-CN" sz="2400" b="1" dirty="0"/>
              <a:t>Efficiency improvements:</a:t>
            </a:r>
            <a:r>
              <a:rPr lang="en-US" altLang="zh-CN" sz="2400" dirty="0"/>
              <a:t> Efficiency improvements can vary in size and scope; </a:t>
            </a:r>
            <a:r>
              <a:rPr lang="en-US" altLang="zh-CN" sz="2400" dirty="0" err="1"/>
              <a:t>e.g</a:t>
            </a:r>
            <a:r>
              <a:rPr lang="en-US" altLang="zh-CN" sz="2400" dirty="0"/>
              <a:t> faster data sharing between sales and marketing teams, new IT innovations after freeing staff from data center responsibilities, and automatic data integration into applications such as self-service analytics.</a:t>
            </a:r>
          </a:p>
          <a:p>
            <a:pPr algn="just"/>
            <a:endParaRPr lang="en-US" altLang="zh-CN" sz="2400" dirty="0"/>
          </a:p>
          <a:p>
            <a:endParaRPr lang="zh-CN" altLang="en-US" sz="2400" dirty="0"/>
          </a:p>
        </p:txBody>
      </p:sp>
    </p:spTree>
    <p:extLst>
      <p:ext uri="{BB962C8B-B14F-4D97-AF65-F5344CB8AC3E}">
        <p14:creationId xmlns:p14="http://schemas.microsoft.com/office/powerpoint/2010/main" val="3903212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7526F-8C18-2FE3-6BE4-169A2C80C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8B71B1-0F29-171A-68AE-CB57FBF72AA6}"/>
              </a:ext>
            </a:extLst>
          </p:cNvPr>
          <p:cNvSpPr>
            <a:spLocks noGrp="1"/>
          </p:cNvSpPr>
          <p:nvPr>
            <p:ph type="title"/>
          </p:nvPr>
        </p:nvSpPr>
        <p:spPr/>
        <p:txBody>
          <a:bodyPr/>
          <a:lstStyle/>
          <a:p>
            <a:r>
              <a:rPr lang="en-US" altLang="zh-CN" dirty="0"/>
              <a:t>Pillars of cloud economics approach</a:t>
            </a:r>
            <a:endParaRPr lang="zh-CN" altLang="en-US" dirty="0"/>
          </a:p>
        </p:txBody>
      </p:sp>
      <p:sp>
        <p:nvSpPr>
          <p:cNvPr id="3" name="Content Placeholder 2">
            <a:extLst>
              <a:ext uri="{FF2B5EF4-FFF2-40B4-BE49-F238E27FC236}">
                <a16:creationId xmlns:a16="http://schemas.microsoft.com/office/drawing/2014/main" id="{0A64CA18-D009-5F71-4DE1-B54314185F6E}"/>
              </a:ext>
            </a:extLst>
          </p:cNvPr>
          <p:cNvSpPr>
            <a:spLocks noGrp="1"/>
          </p:cNvSpPr>
          <p:nvPr>
            <p:ph idx="1"/>
          </p:nvPr>
        </p:nvSpPr>
        <p:spPr/>
        <p:txBody>
          <a:bodyPr>
            <a:normAutofit lnSpcReduction="10000"/>
          </a:bodyPr>
          <a:lstStyle/>
          <a:p>
            <a:pPr algn="just"/>
            <a:r>
              <a:rPr lang="en-US" altLang="zh-CN" sz="2800" b="1" dirty="0"/>
              <a:t>Operational resilience:</a:t>
            </a:r>
            <a:r>
              <a:rPr lang="en-US" altLang="zh-CN" sz="2800" dirty="0"/>
              <a:t> Local data centers are vulnerable to real-world issues such as natural disasters, power outages, and local political decisions, which can lead to unexpected downtime.</a:t>
            </a:r>
          </a:p>
          <a:p>
            <a:pPr algn="just"/>
            <a:r>
              <a:rPr lang="en-US" altLang="zh-CN" sz="2800" b="1" dirty="0"/>
              <a:t>Operational agility:</a:t>
            </a:r>
            <a:r>
              <a:rPr lang="en-US" altLang="zh-CN" sz="2800" dirty="0"/>
              <a:t> Many different factors can change the volume of network traffic, including app updates and remote access. To absorb these spikes, on-premises data centers need the physical resources to handle peak loads. In a cloud environment, scalability becomes as simple as upgrading to a higher service tier. This creates organizational agility, whether spikes are temporary, such as with holiday sales, or the start of significant and lasting growth</a:t>
            </a:r>
          </a:p>
          <a:p>
            <a:pPr algn="just"/>
            <a:endParaRPr lang="en-US" altLang="zh-CN" sz="2800" dirty="0"/>
          </a:p>
          <a:p>
            <a:endParaRPr lang="zh-CN" altLang="en-US" sz="2800" dirty="0"/>
          </a:p>
        </p:txBody>
      </p:sp>
    </p:spTree>
    <p:extLst>
      <p:ext uri="{BB962C8B-B14F-4D97-AF65-F5344CB8AC3E}">
        <p14:creationId xmlns:p14="http://schemas.microsoft.com/office/powerpoint/2010/main" val="95072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0C55B-D53F-D248-E2D0-96977BF5E9C5}"/>
              </a:ext>
            </a:extLst>
          </p:cNvPr>
          <p:cNvSpPr>
            <a:spLocks noGrp="1"/>
          </p:cNvSpPr>
          <p:nvPr>
            <p:ph type="title"/>
          </p:nvPr>
        </p:nvSpPr>
        <p:spPr>
          <a:xfrm>
            <a:off x="581193" y="729658"/>
            <a:ext cx="11029616" cy="988332"/>
          </a:xfrm>
        </p:spPr>
        <p:txBody>
          <a:bodyPr anchor="b">
            <a:normAutofit/>
          </a:bodyPr>
          <a:lstStyle/>
          <a:p>
            <a:r>
              <a:rPr lang="zh-CN" altLang="en-US"/>
              <a:t>SWOT Analysis of Cloud Computing</a:t>
            </a:r>
          </a:p>
        </p:txBody>
      </p:sp>
      <p:pic>
        <p:nvPicPr>
          <p:cNvPr id="5" name="Content Placeholder 4" descr="Female drawing flow chart">
            <a:extLst>
              <a:ext uri="{FF2B5EF4-FFF2-40B4-BE49-F238E27FC236}">
                <a16:creationId xmlns:a16="http://schemas.microsoft.com/office/drawing/2014/main" id="{686E3926-53DB-4B12-B6C1-6586CDC39A32}"/>
              </a:ext>
            </a:extLst>
          </p:cNvPr>
          <p:cNvPicPr>
            <a:picLocks noGrp="1" noChangeAspect="1"/>
          </p:cNvPicPr>
          <p:nvPr>
            <p:ph sz="half" idx="1"/>
          </p:nvPr>
        </p:nvPicPr>
        <p:blipFill>
          <a:blip r:embed="rId3"/>
          <a:stretch>
            <a:fillRect/>
          </a:stretch>
        </p:blipFill>
        <p:spPr>
          <a:xfrm>
            <a:off x="581193" y="2268694"/>
            <a:ext cx="5422390" cy="3551665"/>
          </a:xfrm>
          <a:noFill/>
        </p:spPr>
      </p:pic>
      <p:sp>
        <p:nvSpPr>
          <p:cNvPr id="4" name="Content Placeholder 3">
            <a:extLst>
              <a:ext uri="{FF2B5EF4-FFF2-40B4-BE49-F238E27FC236}">
                <a16:creationId xmlns:a16="http://schemas.microsoft.com/office/drawing/2014/main" id="{638AD8A3-43F8-CCE0-3071-2AE5C762943E}"/>
              </a:ext>
            </a:extLst>
          </p:cNvPr>
          <p:cNvSpPr>
            <a:spLocks noGrp="1"/>
          </p:cNvSpPr>
          <p:nvPr>
            <p:ph sz="half" idx="2"/>
          </p:nvPr>
        </p:nvSpPr>
        <p:spPr>
          <a:xfrm>
            <a:off x="6188417" y="2228003"/>
            <a:ext cx="5422392" cy="3633047"/>
          </a:xfrm>
        </p:spPr>
        <p:txBody>
          <a:bodyPr anchor="t">
            <a:normAutofit/>
          </a:bodyPr>
          <a:lstStyle/>
          <a:p>
            <a:pPr>
              <a:lnSpc>
                <a:spcPct val="90000"/>
              </a:lnSpc>
            </a:pPr>
            <a:r>
              <a:rPr lang="en-US" altLang="zh-CN" sz="2500" dirty="0">
                <a:solidFill>
                  <a:srgbClr val="FF0000"/>
                </a:solidFill>
              </a:rPr>
              <a:t>S</a:t>
            </a:r>
            <a:r>
              <a:rPr lang="en-US" altLang="zh-CN" sz="2500" dirty="0"/>
              <a:t>trengths include flexibility, scalability, and cost savings.</a:t>
            </a:r>
          </a:p>
          <a:p>
            <a:pPr>
              <a:lnSpc>
                <a:spcPct val="90000"/>
              </a:lnSpc>
            </a:pPr>
            <a:r>
              <a:rPr lang="en-US" altLang="zh-CN" sz="2500" dirty="0">
                <a:solidFill>
                  <a:srgbClr val="FF0000"/>
                </a:solidFill>
              </a:rPr>
              <a:t>W</a:t>
            </a:r>
            <a:r>
              <a:rPr lang="en-US" altLang="zh-CN" sz="2500" dirty="0"/>
              <a:t>eaknesses involve security concerns and dependency on providers.</a:t>
            </a:r>
          </a:p>
          <a:p>
            <a:pPr>
              <a:lnSpc>
                <a:spcPct val="90000"/>
              </a:lnSpc>
            </a:pPr>
            <a:r>
              <a:rPr lang="en-US" altLang="zh-CN" sz="2500" dirty="0">
                <a:solidFill>
                  <a:srgbClr val="FF0000"/>
                </a:solidFill>
              </a:rPr>
              <a:t>O</a:t>
            </a:r>
            <a:r>
              <a:rPr lang="en-US" altLang="zh-CN" sz="2500" dirty="0"/>
              <a:t>pportunities arise from emerging technologies and market growth.</a:t>
            </a:r>
          </a:p>
          <a:p>
            <a:pPr>
              <a:lnSpc>
                <a:spcPct val="90000"/>
              </a:lnSpc>
            </a:pPr>
            <a:r>
              <a:rPr lang="en-US" altLang="zh-CN" sz="2500" dirty="0">
                <a:solidFill>
                  <a:srgbClr val="FF0000"/>
                </a:solidFill>
              </a:rPr>
              <a:t>T</a:t>
            </a:r>
            <a:r>
              <a:rPr lang="en-US" altLang="zh-CN" sz="2500" dirty="0"/>
              <a:t>hreats include increasing competition and regulatory challenges.</a:t>
            </a:r>
            <a:endParaRPr lang="zh-CN" altLang="en-US" sz="2500" dirty="0"/>
          </a:p>
        </p:txBody>
      </p:sp>
    </p:spTree>
    <p:extLst>
      <p:ext uri="{BB962C8B-B14F-4D97-AF65-F5344CB8AC3E}">
        <p14:creationId xmlns:p14="http://schemas.microsoft.com/office/powerpoint/2010/main" val="3437270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C0FEA-A6EE-A072-C8BF-DD5CD2B3E628}"/>
              </a:ext>
            </a:extLst>
          </p:cNvPr>
          <p:cNvSpPr>
            <a:spLocks noGrp="1"/>
          </p:cNvSpPr>
          <p:nvPr>
            <p:ph type="title"/>
          </p:nvPr>
        </p:nvSpPr>
        <p:spPr>
          <a:xfrm>
            <a:off x="581193" y="729658"/>
            <a:ext cx="11029616" cy="988332"/>
          </a:xfrm>
        </p:spPr>
        <p:txBody>
          <a:bodyPr anchor="b">
            <a:normAutofit/>
          </a:bodyPr>
          <a:lstStyle/>
          <a:p>
            <a:r>
              <a:rPr lang="zh-CN" altLang="en-US"/>
              <a:t>General Risks in Cloud Computing</a:t>
            </a:r>
          </a:p>
        </p:txBody>
      </p:sp>
      <p:pic>
        <p:nvPicPr>
          <p:cNvPr id="5" name="Content Placeholder 4" descr="Padlock on computer motherboard">
            <a:extLst>
              <a:ext uri="{FF2B5EF4-FFF2-40B4-BE49-F238E27FC236}">
                <a16:creationId xmlns:a16="http://schemas.microsoft.com/office/drawing/2014/main" id="{708F092C-6A47-4E57-B825-04C6E3082726}"/>
              </a:ext>
            </a:extLst>
          </p:cNvPr>
          <p:cNvPicPr>
            <a:picLocks noGrp="1" noChangeAspect="1"/>
          </p:cNvPicPr>
          <p:nvPr>
            <p:ph sz="half" idx="1"/>
          </p:nvPr>
        </p:nvPicPr>
        <p:blipFill>
          <a:blip r:embed="rId3"/>
          <a:srcRect r="375" b="1"/>
          <a:stretch/>
        </p:blipFill>
        <p:spPr>
          <a:xfrm>
            <a:off x="581193" y="2228003"/>
            <a:ext cx="5422390" cy="3633047"/>
          </a:xfrm>
          <a:noFill/>
        </p:spPr>
      </p:pic>
      <p:sp>
        <p:nvSpPr>
          <p:cNvPr id="4" name="Content Placeholder 3">
            <a:extLst>
              <a:ext uri="{FF2B5EF4-FFF2-40B4-BE49-F238E27FC236}">
                <a16:creationId xmlns:a16="http://schemas.microsoft.com/office/drawing/2014/main" id="{719ECCF0-C1D5-0B2A-0D04-7642CE13302A}"/>
              </a:ext>
            </a:extLst>
          </p:cNvPr>
          <p:cNvSpPr>
            <a:spLocks noGrp="1"/>
          </p:cNvSpPr>
          <p:nvPr>
            <p:ph sz="half" idx="2"/>
          </p:nvPr>
        </p:nvSpPr>
        <p:spPr>
          <a:xfrm>
            <a:off x="6188417" y="2228003"/>
            <a:ext cx="5422392" cy="3633047"/>
          </a:xfrm>
        </p:spPr>
        <p:txBody>
          <a:bodyPr anchor="t">
            <a:normAutofit fontScale="92500" lnSpcReduction="10000"/>
          </a:bodyPr>
          <a:lstStyle/>
          <a:p>
            <a:pPr>
              <a:lnSpc>
                <a:spcPct val="90000"/>
              </a:lnSpc>
            </a:pPr>
            <a:r>
              <a:rPr lang="en-US" altLang="zh-CN" sz="2800" dirty="0"/>
              <a:t>Data security is a primary concern for cloud users.</a:t>
            </a:r>
          </a:p>
          <a:p>
            <a:pPr>
              <a:lnSpc>
                <a:spcPct val="90000"/>
              </a:lnSpc>
            </a:pPr>
            <a:r>
              <a:rPr lang="en-US" altLang="zh-CN" sz="2800" dirty="0"/>
              <a:t>Compliance with regulations can be complex and challenging.</a:t>
            </a:r>
          </a:p>
          <a:p>
            <a:pPr>
              <a:lnSpc>
                <a:spcPct val="90000"/>
              </a:lnSpc>
            </a:pPr>
            <a:r>
              <a:rPr lang="en-US" altLang="zh-CN" sz="2800" dirty="0"/>
              <a:t>Service outages can disrupt business operations.</a:t>
            </a:r>
          </a:p>
          <a:p>
            <a:pPr>
              <a:lnSpc>
                <a:spcPct val="90000"/>
              </a:lnSpc>
            </a:pPr>
            <a:r>
              <a:rPr lang="en-US" altLang="zh-CN" sz="2800" dirty="0"/>
              <a:t>Data loss risks exist due to accidental deletion or malicious attacks.</a:t>
            </a:r>
            <a:endParaRPr lang="zh-CN" altLang="en-US" sz="2800" dirty="0"/>
          </a:p>
        </p:txBody>
      </p:sp>
    </p:spTree>
    <p:extLst>
      <p:ext uri="{BB962C8B-B14F-4D97-AF65-F5344CB8AC3E}">
        <p14:creationId xmlns:p14="http://schemas.microsoft.com/office/powerpoint/2010/main" val="1541508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1BE6E-C4D7-4B61-A99A-2F3D3212132A}"/>
              </a:ext>
            </a:extLst>
          </p:cNvPr>
          <p:cNvSpPr>
            <a:spLocks noGrp="1"/>
          </p:cNvSpPr>
          <p:nvPr>
            <p:ph type="title"/>
          </p:nvPr>
        </p:nvSpPr>
        <p:spPr>
          <a:xfrm>
            <a:off x="581193" y="729658"/>
            <a:ext cx="11029616" cy="988332"/>
          </a:xfrm>
        </p:spPr>
        <p:txBody>
          <a:bodyPr anchor="b">
            <a:normAutofit/>
          </a:bodyPr>
          <a:lstStyle/>
          <a:p>
            <a:r>
              <a:rPr lang="zh-CN" altLang="en-US"/>
              <a:t>Cost Analysis of Cloud Computing</a:t>
            </a:r>
          </a:p>
        </p:txBody>
      </p:sp>
      <p:pic>
        <p:nvPicPr>
          <p:cNvPr id="5" name="Content Placeholder 4" descr="numerals and finance">
            <a:extLst>
              <a:ext uri="{FF2B5EF4-FFF2-40B4-BE49-F238E27FC236}">
                <a16:creationId xmlns:a16="http://schemas.microsoft.com/office/drawing/2014/main" id="{659A8FA7-BA52-445B-9F4B-4984D3F7F75F}"/>
              </a:ext>
            </a:extLst>
          </p:cNvPr>
          <p:cNvPicPr>
            <a:picLocks noGrp="1" noChangeAspect="1"/>
          </p:cNvPicPr>
          <p:nvPr>
            <p:ph sz="half" idx="1"/>
          </p:nvPr>
        </p:nvPicPr>
        <p:blipFill>
          <a:blip r:embed="rId3"/>
          <a:stretch>
            <a:fillRect/>
          </a:stretch>
        </p:blipFill>
        <p:spPr>
          <a:xfrm>
            <a:off x="581193" y="2234804"/>
            <a:ext cx="5422390" cy="3619445"/>
          </a:xfrm>
          <a:noFill/>
        </p:spPr>
      </p:pic>
      <p:sp>
        <p:nvSpPr>
          <p:cNvPr id="4" name="Content Placeholder 3">
            <a:extLst>
              <a:ext uri="{FF2B5EF4-FFF2-40B4-BE49-F238E27FC236}">
                <a16:creationId xmlns:a16="http://schemas.microsoft.com/office/drawing/2014/main" id="{DA0B63B6-1B7D-F44C-DA14-8DD9D5E1C530}"/>
              </a:ext>
            </a:extLst>
          </p:cNvPr>
          <p:cNvSpPr>
            <a:spLocks noGrp="1"/>
          </p:cNvSpPr>
          <p:nvPr>
            <p:ph sz="half" idx="2"/>
          </p:nvPr>
        </p:nvSpPr>
        <p:spPr>
          <a:xfrm>
            <a:off x="6188417" y="2228003"/>
            <a:ext cx="5422392" cy="3633047"/>
          </a:xfrm>
        </p:spPr>
        <p:txBody>
          <a:bodyPr anchor="t">
            <a:normAutofit lnSpcReduction="10000"/>
          </a:bodyPr>
          <a:lstStyle/>
          <a:p>
            <a:pPr>
              <a:lnSpc>
                <a:spcPct val="90000"/>
              </a:lnSpc>
            </a:pPr>
            <a:r>
              <a:rPr lang="en-US" altLang="zh-CN" sz="2800" dirty="0"/>
              <a:t>Understanding the total cost of ownership is crucial.</a:t>
            </a:r>
          </a:p>
          <a:p>
            <a:pPr>
              <a:lnSpc>
                <a:spcPct val="90000"/>
              </a:lnSpc>
            </a:pPr>
            <a:r>
              <a:rPr lang="en-US" altLang="zh-CN" sz="2800" dirty="0"/>
              <a:t>Cost structures can vary significantly among providers.</a:t>
            </a:r>
          </a:p>
          <a:p>
            <a:pPr>
              <a:lnSpc>
                <a:spcPct val="90000"/>
              </a:lnSpc>
            </a:pPr>
            <a:r>
              <a:rPr lang="en-US" altLang="zh-CN" sz="2800" dirty="0"/>
              <a:t>Hidden costs may arise from data transfer and storage fees.</a:t>
            </a:r>
          </a:p>
          <a:p>
            <a:pPr>
              <a:lnSpc>
                <a:spcPct val="90000"/>
              </a:lnSpc>
            </a:pPr>
            <a:r>
              <a:rPr lang="en-US" altLang="zh-CN" sz="2800" dirty="0"/>
              <a:t>Budgeting effectively requires careful monitoring of usage.</a:t>
            </a:r>
            <a:endParaRPr lang="zh-CN" altLang="en-US" sz="2800" dirty="0"/>
          </a:p>
        </p:txBody>
      </p:sp>
    </p:spTree>
    <p:extLst>
      <p:ext uri="{BB962C8B-B14F-4D97-AF65-F5344CB8AC3E}">
        <p14:creationId xmlns:p14="http://schemas.microsoft.com/office/powerpoint/2010/main" val="622762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31522-4E6A-20E8-A824-C7BCA68B342E}"/>
              </a:ext>
            </a:extLst>
          </p:cNvPr>
          <p:cNvSpPr>
            <a:spLocks noGrp="1"/>
          </p:cNvSpPr>
          <p:nvPr>
            <p:ph type="title"/>
          </p:nvPr>
        </p:nvSpPr>
        <p:spPr>
          <a:xfrm>
            <a:off x="581193" y="729658"/>
            <a:ext cx="11029616" cy="988332"/>
          </a:xfrm>
        </p:spPr>
        <p:txBody>
          <a:bodyPr anchor="b">
            <a:normAutofit/>
          </a:bodyPr>
          <a:lstStyle/>
          <a:p>
            <a:r>
              <a:rPr lang="zh-CN" altLang="en-US"/>
              <a:t>Selecting an IaaS Provider</a:t>
            </a:r>
          </a:p>
        </p:txBody>
      </p:sp>
      <p:pic>
        <p:nvPicPr>
          <p:cNvPr id="5" name="Content Placeholder 4" descr="Shot of a businessman looking thoughtfully at a graph against a white background">
            <a:extLst>
              <a:ext uri="{FF2B5EF4-FFF2-40B4-BE49-F238E27FC236}">
                <a16:creationId xmlns:a16="http://schemas.microsoft.com/office/drawing/2014/main" id="{DE1860B9-109B-4D6B-BA47-741469DB09AE}"/>
              </a:ext>
            </a:extLst>
          </p:cNvPr>
          <p:cNvPicPr>
            <a:picLocks noGrp="1" noChangeAspect="1"/>
          </p:cNvPicPr>
          <p:nvPr>
            <p:ph sz="half" idx="1"/>
          </p:nvPr>
        </p:nvPicPr>
        <p:blipFill>
          <a:blip r:embed="rId3"/>
          <a:stretch>
            <a:fillRect/>
          </a:stretch>
        </p:blipFill>
        <p:spPr>
          <a:xfrm>
            <a:off x="581193" y="2234804"/>
            <a:ext cx="5422390" cy="3619445"/>
          </a:xfrm>
          <a:noFill/>
        </p:spPr>
      </p:pic>
      <p:sp>
        <p:nvSpPr>
          <p:cNvPr id="4" name="Content Placeholder 3">
            <a:extLst>
              <a:ext uri="{FF2B5EF4-FFF2-40B4-BE49-F238E27FC236}">
                <a16:creationId xmlns:a16="http://schemas.microsoft.com/office/drawing/2014/main" id="{5EA56F10-2504-5851-9729-3535B81830B3}"/>
              </a:ext>
            </a:extLst>
          </p:cNvPr>
          <p:cNvSpPr>
            <a:spLocks noGrp="1"/>
          </p:cNvSpPr>
          <p:nvPr>
            <p:ph sz="half" idx="2"/>
          </p:nvPr>
        </p:nvSpPr>
        <p:spPr>
          <a:xfrm>
            <a:off x="6188417" y="2228003"/>
            <a:ext cx="5422392" cy="3633047"/>
          </a:xfrm>
        </p:spPr>
        <p:txBody>
          <a:bodyPr anchor="t">
            <a:normAutofit/>
          </a:bodyPr>
          <a:lstStyle/>
          <a:p>
            <a:pPr>
              <a:lnSpc>
                <a:spcPct val="90000"/>
              </a:lnSpc>
            </a:pPr>
            <a:r>
              <a:rPr lang="en-US" altLang="zh-CN" sz="2700"/>
              <a:t>Evaluate provider reliability and uptime guarantees.</a:t>
            </a:r>
          </a:p>
          <a:p>
            <a:pPr>
              <a:lnSpc>
                <a:spcPct val="90000"/>
              </a:lnSpc>
            </a:pPr>
            <a:r>
              <a:rPr lang="en-US" altLang="zh-CN" sz="2700"/>
              <a:t>Examine the variety of services and features offered.</a:t>
            </a:r>
          </a:p>
          <a:p>
            <a:pPr>
              <a:lnSpc>
                <a:spcPct val="90000"/>
              </a:lnSpc>
            </a:pPr>
            <a:r>
              <a:rPr lang="en-US" altLang="zh-CN" sz="2700"/>
              <a:t>Consider the geographical location of data centers.</a:t>
            </a:r>
          </a:p>
          <a:p>
            <a:pPr>
              <a:lnSpc>
                <a:spcPct val="90000"/>
              </a:lnSpc>
            </a:pPr>
            <a:r>
              <a:rPr lang="en-US" altLang="zh-CN" sz="2700"/>
              <a:t>Review customer support options and response times.</a:t>
            </a:r>
            <a:endParaRPr lang="zh-CN" altLang="en-US" sz="2700"/>
          </a:p>
        </p:txBody>
      </p:sp>
    </p:spTree>
    <p:extLst>
      <p:ext uri="{BB962C8B-B14F-4D97-AF65-F5344CB8AC3E}">
        <p14:creationId xmlns:p14="http://schemas.microsoft.com/office/powerpoint/2010/main" val="1543261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10A38-1196-B093-F0A8-8118A8395841}"/>
              </a:ext>
            </a:extLst>
          </p:cNvPr>
          <p:cNvSpPr>
            <a:spLocks noGrp="1"/>
          </p:cNvSpPr>
          <p:nvPr>
            <p:ph type="title"/>
          </p:nvPr>
        </p:nvSpPr>
        <p:spPr>
          <a:xfrm>
            <a:off x="581193" y="729658"/>
            <a:ext cx="11029616" cy="988332"/>
          </a:xfrm>
        </p:spPr>
        <p:txBody>
          <a:bodyPr anchor="b">
            <a:normAutofit/>
          </a:bodyPr>
          <a:lstStyle/>
          <a:p>
            <a:r>
              <a:rPr lang="zh-CN" altLang="en-US"/>
              <a:t>Cloud Standards and Interoperability</a:t>
            </a:r>
          </a:p>
        </p:txBody>
      </p:sp>
      <p:pic>
        <p:nvPicPr>
          <p:cNvPr id="5" name="Content Placeholder 4" descr="Cloud Computing with Smartphone, Laptop, Desktop Computer and Tablet">
            <a:extLst>
              <a:ext uri="{FF2B5EF4-FFF2-40B4-BE49-F238E27FC236}">
                <a16:creationId xmlns:a16="http://schemas.microsoft.com/office/drawing/2014/main" id="{F508485A-2CB6-439C-8450-59AC0C171C34}"/>
              </a:ext>
            </a:extLst>
          </p:cNvPr>
          <p:cNvPicPr>
            <a:picLocks noGrp="1" noChangeAspect="1"/>
          </p:cNvPicPr>
          <p:nvPr>
            <p:ph sz="half" idx="1"/>
          </p:nvPr>
        </p:nvPicPr>
        <p:blipFill>
          <a:blip r:embed="rId3"/>
          <a:srcRect l="374" r="1" b="1"/>
          <a:stretch/>
        </p:blipFill>
        <p:spPr>
          <a:xfrm>
            <a:off x="581193" y="2228003"/>
            <a:ext cx="5422390" cy="3633047"/>
          </a:xfrm>
          <a:noFill/>
        </p:spPr>
      </p:pic>
      <p:sp>
        <p:nvSpPr>
          <p:cNvPr id="4" name="Content Placeholder 3">
            <a:extLst>
              <a:ext uri="{FF2B5EF4-FFF2-40B4-BE49-F238E27FC236}">
                <a16:creationId xmlns:a16="http://schemas.microsoft.com/office/drawing/2014/main" id="{989CB91B-0DEB-6A58-D555-C85EFEBE49F6}"/>
              </a:ext>
            </a:extLst>
          </p:cNvPr>
          <p:cNvSpPr>
            <a:spLocks noGrp="1"/>
          </p:cNvSpPr>
          <p:nvPr>
            <p:ph sz="half" idx="2"/>
          </p:nvPr>
        </p:nvSpPr>
        <p:spPr>
          <a:xfrm>
            <a:off x="6188417" y="2228003"/>
            <a:ext cx="5422392" cy="3633047"/>
          </a:xfrm>
        </p:spPr>
        <p:txBody>
          <a:bodyPr anchor="t">
            <a:normAutofit fontScale="92500"/>
          </a:bodyPr>
          <a:lstStyle/>
          <a:p>
            <a:pPr>
              <a:lnSpc>
                <a:spcPct val="90000"/>
              </a:lnSpc>
            </a:pPr>
            <a:r>
              <a:rPr lang="en-US" altLang="zh-CN" sz="2800" dirty="0"/>
              <a:t>Standards promote compatibility among different cloud services.</a:t>
            </a:r>
          </a:p>
          <a:p>
            <a:pPr>
              <a:lnSpc>
                <a:spcPct val="90000"/>
              </a:lnSpc>
            </a:pPr>
            <a:r>
              <a:rPr lang="en-US" altLang="zh-CN" sz="2800" dirty="0"/>
              <a:t>Interoperability enhances flexibility and reduces vendor lock-in.</a:t>
            </a:r>
          </a:p>
          <a:p>
            <a:pPr>
              <a:lnSpc>
                <a:spcPct val="90000"/>
              </a:lnSpc>
            </a:pPr>
            <a:r>
              <a:rPr lang="en-US" altLang="zh-CN" sz="2800" dirty="0"/>
              <a:t>Adopting open standards can foster innovation.</a:t>
            </a:r>
          </a:p>
          <a:p>
            <a:pPr>
              <a:lnSpc>
                <a:spcPct val="90000"/>
              </a:lnSpc>
            </a:pPr>
            <a:r>
              <a:rPr lang="en-US" altLang="zh-CN" sz="2800" dirty="0"/>
              <a:t>Organizations must stay updated with evolving standards.</a:t>
            </a:r>
            <a:endParaRPr lang="zh-CN" altLang="en-US" sz="2800" dirty="0"/>
          </a:p>
        </p:txBody>
      </p:sp>
    </p:spTree>
    <p:extLst>
      <p:ext uri="{BB962C8B-B14F-4D97-AF65-F5344CB8AC3E}">
        <p14:creationId xmlns:p14="http://schemas.microsoft.com/office/powerpoint/2010/main" val="2369232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845D3-5D77-2D9D-11AB-B5210FD37F8B}"/>
              </a:ext>
            </a:extLst>
          </p:cNvPr>
          <p:cNvSpPr>
            <a:spLocks noGrp="1"/>
          </p:cNvSpPr>
          <p:nvPr>
            <p:ph type="title"/>
          </p:nvPr>
        </p:nvSpPr>
        <p:spPr>
          <a:xfrm>
            <a:off x="581193" y="729658"/>
            <a:ext cx="11029616" cy="988332"/>
          </a:xfrm>
        </p:spPr>
        <p:txBody>
          <a:bodyPr anchor="b">
            <a:normAutofit/>
          </a:bodyPr>
          <a:lstStyle/>
          <a:p>
            <a:r>
              <a:rPr lang="zh-CN" altLang="en-US"/>
              <a:t>Successful Cloud Migration Recommendations</a:t>
            </a:r>
          </a:p>
        </p:txBody>
      </p:sp>
      <p:pic>
        <p:nvPicPr>
          <p:cNvPr id="5" name="Content Placeholder 4" descr="Cloud Computing,Cloud concept, Technology,Big data,Icon,Business">
            <a:extLst>
              <a:ext uri="{FF2B5EF4-FFF2-40B4-BE49-F238E27FC236}">
                <a16:creationId xmlns:a16="http://schemas.microsoft.com/office/drawing/2014/main" id="{44183EEB-D716-4053-A8FC-A0786C35D05C}"/>
              </a:ext>
            </a:extLst>
          </p:cNvPr>
          <p:cNvPicPr>
            <a:picLocks noGrp="1" noChangeAspect="1"/>
          </p:cNvPicPr>
          <p:nvPr>
            <p:ph sz="half" idx="1"/>
          </p:nvPr>
        </p:nvPicPr>
        <p:blipFill>
          <a:blip r:embed="rId3"/>
          <a:srcRect r="375" b="1"/>
          <a:stretch/>
        </p:blipFill>
        <p:spPr>
          <a:xfrm>
            <a:off x="581193" y="2228003"/>
            <a:ext cx="5422390" cy="3633047"/>
          </a:xfrm>
          <a:noFill/>
        </p:spPr>
      </p:pic>
      <p:sp>
        <p:nvSpPr>
          <p:cNvPr id="4" name="Content Placeholder 3">
            <a:extLst>
              <a:ext uri="{FF2B5EF4-FFF2-40B4-BE49-F238E27FC236}">
                <a16:creationId xmlns:a16="http://schemas.microsoft.com/office/drawing/2014/main" id="{1221CFEE-DD7A-6043-C102-C2A002D01134}"/>
              </a:ext>
            </a:extLst>
          </p:cNvPr>
          <p:cNvSpPr>
            <a:spLocks noGrp="1"/>
          </p:cNvSpPr>
          <p:nvPr>
            <p:ph sz="half" idx="2"/>
          </p:nvPr>
        </p:nvSpPr>
        <p:spPr>
          <a:xfrm>
            <a:off x="6188417" y="2228003"/>
            <a:ext cx="5422392" cy="3633047"/>
          </a:xfrm>
        </p:spPr>
        <p:txBody>
          <a:bodyPr anchor="t">
            <a:normAutofit/>
          </a:bodyPr>
          <a:lstStyle/>
          <a:p>
            <a:pPr>
              <a:lnSpc>
                <a:spcPct val="90000"/>
              </a:lnSpc>
            </a:pPr>
            <a:r>
              <a:rPr lang="en-US" altLang="zh-CN" sz="2700"/>
              <a:t>Develop a clear migration strategy and roadmap.</a:t>
            </a:r>
          </a:p>
          <a:p>
            <a:pPr>
              <a:lnSpc>
                <a:spcPct val="90000"/>
              </a:lnSpc>
            </a:pPr>
            <a:r>
              <a:rPr lang="en-US" altLang="zh-CN" sz="2700"/>
              <a:t>Identify and prioritize applications for migration.</a:t>
            </a:r>
          </a:p>
          <a:p>
            <a:pPr>
              <a:lnSpc>
                <a:spcPct val="90000"/>
              </a:lnSpc>
            </a:pPr>
            <a:r>
              <a:rPr lang="en-US" altLang="zh-CN" sz="2700"/>
              <a:t>Ensure comprehensive testing before full deployment.</a:t>
            </a:r>
          </a:p>
          <a:p>
            <a:pPr>
              <a:lnSpc>
                <a:spcPct val="90000"/>
              </a:lnSpc>
            </a:pPr>
            <a:r>
              <a:rPr lang="en-US" altLang="zh-CN" sz="2700"/>
              <a:t>Engage stakeholders throughout the migration process.</a:t>
            </a:r>
            <a:endParaRPr lang="zh-CN" altLang="en-US" sz="2700"/>
          </a:p>
        </p:txBody>
      </p:sp>
    </p:spTree>
    <p:extLst>
      <p:ext uri="{BB962C8B-B14F-4D97-AF65-F5344CB8AC3E}">
        <p14:creationId xmlns:p14="http://schemas.microsoft.com/office/powerpoint/2010/main" val="1551442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336" y="1512365"/>
            <a:ext cx="10988040" cy="4648609"/>
          </a:xfrm>
        </p:spPr>
        <p:txBody>
          <a:bodyPr>
            <a:normAutofit/>
          </a:bodyPr>
          <a:lstStyle/>
          <a:p>
            <a:pPr marL="0" indent="0">
              <a:buNone/>
            </a:pPr>
            <a:r>
              <a:rPr lang="en-US" sz="3200" dirty="0"/>
              <a:t>Cloud economics is important because:</a:t>
            </a:r>
          </a:p>
          <a:p>
            <a:r>
              <a:rPr lang="en-US" sz="3200" dirty="0"/>
              <a:t> A cloud migration affects both tangible budgets and theoretical shifts in operations and IT. No one-size-fits-all strategy applies.</a:t>
            </a:r>
          </a:p>
          <a:p>
            <a:r>
              <a:rPr lang="en-US" sz="3200" dirty="0"/>
              <a:t>For IT departments, cloud economics provides a deeper understanding of what organizations must prepare for in both the short and long term. </a:t>
            </a:r>
          </a:p>
        </p:txBody>
      </p:sp>
      <p:sp>
        <p:nvSpPr>
          <p:cNvPr id="5" name="Title 4">
            <a:extLst>
              <a:ext uri="{FF2B5EF4-FFF2-40B4-BE49-F238E27FC236}">
                <a16:creationId xmlns:a16="http://schemas.microsoft.com/office/drawing/2014/main" id="{2EB44A72-31F5-C427-0988-6748FD2B2A7F}"/>
              </a:ext>
            </a:extLst>
          </p:cNvPr>
          <p:cNvSpPr>
            <a:spLocks noGrp="1"/>
          </p:cNvSpPr>
          <p:nvPr>
            <p:ph type="title"/>
          </p:nvPr>
        </p:nvSpPr>
        <p:spPr/>
        <p:txBody>
          <a:bodyPr/>
          <a:lstStyle/>
          <a:p>
            <a:r>
              <a:rPr lang="en-US" altLang="zh-CN" dirty="0"/>
              <a:t>Reasons for cloud economics</a:t>
            </a:r>
            <a:endParaRPr lang="zh-CN" altLang="en-US" dirty="0"/>
          </a:p>
        </p:txBody>
      </p:sp>
    </p:spTree>
    <p:extLst>
      <p:ext uri="{BB962C8B-B14F-4D97-AF65-F5344CB8AC3E}">
        <p14:creationId xmlns:p14="http://schemas.microsoft.com/office/powerpoint/2010/main" val="1714982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3541-5392-AC14-6AAE-A62FC78BC384}"/>
              </a:ext>
            </a:extLst>
          </p:cNvPr>
          <p:cNvSpPr>
            <a:spLocks noGrp="1"/>
          </p:cNvSpPr>
          <p:nvPr>
            <p:ph type="title"/>
          </p:nvPr>
        </p:nvSpPr>
        <p:spPr/>
        <p:txBody>
          <a:bodyPr/>
          <a:lstStyle/>
          <a:p>
            <a:r>
              <a:rPr lang="en-US" altLang="zh-CN" sz="2800" b="1" dirty="0"/>
              <a:t>Making a Business Case for Cloud Economics</a:t>
            </a:r>
            <a:endParaRPr lang="zh-CN" altLang="en-US" dirty="0"/>
          </a:p>
        </p:txBody>
      </p:sp>
      <p:sp>
        <p:nvSpPr>
          <p:cNvPr id="3" name="Content Placeholder 2">
            <a:extLst>
              <a:ext uri="{FF2B5EF4-FFF2-40B4-BE49-F238E27FC236}">
                <a16:creationId xmlns:a16="http://schemas.microsoft.com/office/drawing/2014/main" id="{027557DF-DAF8-609E-FA66-5290E80C308B}"/>
              </a:ext>
            </a:extLst>
          </p:cNvPr>
          <p:cNvSpPr>
            <a:spLocks noGrp="1"/>
          </p:cNvSpPr>
          <p:nvPr>
            <p:ph idx="1"/>
          </p:nvPr>
        </p:nvSpPr>
        <p:spPr/>
        <p:txBody>
          <a:bodyPr>
            <a:normAutofit fontScale="77500" lnSpcReduction="20000"/>
          </a:bodyPr>
          <a:lstStyle/>
          <a:p>
            <a:pPr marL="0" indent="0">
              <a:buNone/>
            </a:pPr>
            <a:r>
              <a:rPr lang="en-US" altLang="zh-CN" dirty="0"/>
              <a:t>To make a sound business case for cloud economics, organizations should consider the questions:</a:t>
            </a:r>
          </a:p>
          <a:p>
            <a:r>
              <a:rPr lang="en-US" altLang="zh-CN" b="1" dirty="0"/>
              <a:t>What are our existing data center costs?</a:t>
            </a:r>
            <a:r>
              <a:rPr lang="en-US" altLang="zh-CN" dirty="0"/>
              <a:t> </a:t>
            </a:r>
          </a:p>
          <a:p>
            <a:pPr lvl="1"/>
            <a:r>
              <a:rPr lang="en-US" altLang="zh-CN" dirty="0"/>
              <a:t>Organizations must evaluate their existing data center hardware, software, maintenance, and operational costs.</a:t>
            </a:r>
          </a:p>
          <a:p>
            <a:r>
              <a:rPr lang="en-US" altLang="zh-CN" b="1" dirty="0"/>
              <a:t>How difficult will migration be?</a:t>
            </a:r>
            <a:r>
              <a:rPr lang="en-US" altLang="zh-CN" dirty="0"/>
              <a:t> The initial migration to the cloud will create a number of expenses unique to each organization. </a:t>
            </a:r>
          </a:p>
          <a:p>
            <a:r>
              <a:rPr lang="en-US" altLang="zh-CN" b="1" dirty="0"/>
              <a:t>What will monthly cloud costs be?</a:t>
            </a:r>
            <a:r>
              <a:rPr lang="en-US" altLang="zh-CN" dirty="0"/>
              <a:t> Examine projected monthly costs based on a combination of historical usage and upcoming activity. </a:t>
            </a:r>
            <a:endParaRPr lang="zh-CN" altLang="en-US" dirty="0"/>
          </a:p>
        </p:txBody>
      </p:sp>
    </p:spTree>
    <p:extLst>
      <p:ext uri="{BB962C8B-B14F-4D97-AF65-F5344CB8AC3E}">
        <p14:creationId xmlns:p14="http://schemas.microsoft.com/office/powerpoint/2010/main" val="2747949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092C5-0859-9EAE-061F-E287128E462C}"/>
              </a:ext>
            </a:extLst>
          </p:cNvPr>
          <p:cNvSpPr>
            <a:spLocks noGrp="1"/>
          </p:cNvSpPr>
          <p:nvPr>
            <p:ph type="title"/>
          </p:nvPr>
        </p:nvSpPr>
        <p:spPr/>
        <p:txBody>
          <a:bodyPr/>
          <a:lstStyle/>
          <a:p>
            <a:r>
              <a:rPr lang="en-US" altLang="zh-CN" dirty="0"/>
              <a:t>Cloud Economics Mistakes to Avoid</a:t>
            </a:r>
            <a:endParaRPr lang="zh-CN" altLang="en-US" dirty="0"/>
          </a:p>
        </p:txBody>
      </p:sp>
      <p:sp>
        <p:nvSpPr>
          <p:cNvPr id="3" name="Content Placeholder 2">
            <a:extLst>
              <a:ext uri="{FF2B5EF4-FFF2-40B4-BE49-F238E27FC236}">
                <a16:creationId xmlns:a16="http://schemas.microsoft.com/office/drawing/2014/main" id="{8D067881-D40A-CA76-5C79-BDA51E8B761D}"/>
              </a:ext>
            </a:extLst>
          </p:cNvPr>
          <p:cNvSpPr>
            <a:spLocks noGrp="1"/>
          </p:cNvSpPr>
          <p:nvPr>
            <p:ph idx="1"/>
          </p:nvPr>
        </p:nvSpPr>
        <p:spPr/>
        <p:txBody>
          <a:bodyPr>
            <a:normAutofit fontScale="70000" lnSpcReduction="20000"/>
          </a:bodyPr>
          <a:lstStyle/>
          <a:p>
            <a:r>
              <a:rPr lang="en-US" altLang="zh-CN" b="1" dirty="0"/>
              <a:t>Assuming financials don’t evolve:</a:t>
            </a:r>
            <a:r>
              <a:rPr lang="en-US" altLang="zh-CN" dirty="0"/>
              <a:t> By limiting the scope of cloud economics to immediate hardware benefits, organizations create inaccurate projections that skew the business case for the cloud while missing further opportunities.</a:t>
            </a:r>
          </a:p>
          <a:p>
            <a:r>
              <a:rPr lang="en-US" altLang="zh-CN" b="1" dirty="0"/>
              <a:t>Basing projections on historical usage:</a:t>
            </a:r>
            <a:r>
              <a:rPr lang="en-US" altLang="zh-CN" dirty="0"/>
              <a:t> Organizations that rely only on historical usage patterns may find themselves unprepared to handle a spike in activity.</a:t>
            </a:r>
          </a:p>
          <a:p>
            <a:r>
              <a:rPr lang="en-US" altLang="zh-CN" b="1" dirty="0"/>
              <a:t>Treating all cloud elements the same: E</a:t>
            </a:r>
            <a:r>
              <a:rPr lang="en-US" altLang="zh-CN" dirty="0"/>
              <a:t>ach organization holds different priorities for compute, storage, and other infrastructure elements. IT teams should identify their priorities.</a:t>
            </a:r>
          </a:p>
          <a:p>
            <a:r>
              <a:rPr lang="en-US" altLang="zh-CN" b="1" dirty="0"/>
              <a:t>Putting all data in the cloud:</a:t>
            </a:r>
            <a:r>
              <a:rPr lang="en-US" altLang="zh-CN" dirty="0"/>
              <a:t> Some applications won’t benefit from being in the cloud. </a:t>
            </a:r>
          </a:p>
          <a:p>
            <a:endParaRPr lang="zh-CN" altLang="en-US" dirty="0"/>
          </a:p>
        </p:txBody>
      </p:sp>
    </p:spTree>
    <p:extLst>
      <p:ext uri="{BB962C8B-B14F-4D97-AF65-F5344CB8AC3E}">
        <p14:creationId xmlns:p14="http://schemas.microsoft.com/office/powerpoint/2010/main" val="526340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593B1-4BB1-2903-CCBF-712C436E76EA}"/>
              </a:ext>
            </a:extLst>
          </p:cNvPr>
          <p:cNvSpPr>
            <a:spLocks noGrp="1"/>
          </p:cNvSpPr>
          <p:nvPr>
            <p:ph type="title"/>
          </p:nvPr>
        </p:nvSpPr>
        <p:spPr/>
        <p:txBody>
          <a:bodyPr/>
          <a:lstStyle/>
          <a:p>
            <a:r>
              <a:rPr lang="en-US" altLang="zh-CN" dirty="0"/>
              <a:t>Pricing Strategies</a:t>
            </a:r>
            <a:endParaRPr lang="zh-CN" altLang="en-US" dirty="0"/>
          </a:p>
        </p:txBody>
      </p:sp>
      <p:sp>
        <p:nvSpPr>
          <p:cNvPr id="4" name="Content Placeholder 2"/>
          <p:cNvSpPr>
            <a:spLocks noGrp="1"/>
          </p:cNvSpPr>
          <p:nvPr>
            <p:ph idx="1"/>
          </p:nvPr>
        </p:nvSpPr>
        <p:spPr>
          <a:xfrm>
            <a:off x="470264" y="1554480"/>
            <a:ext cx="11273246" cy="4428309"/>
          </a:xfrm>
        </p:spPr>
        <p:txBody>
          <a:bodyPr>
            <a:normAutofit/>
          </a:bodyPr>
          <a:lstStyle/>
          <a:p>
            <a:r>
              <a:rPr lang="en-US" sz="3200" b="1" dirty="0"/>
              <a:t>Tiered Pricing:</a:t>
            </a:r>
            <a:r>
              <a:rPr lang="en-US" sz="3200" dirty="0"/>
              <a:t> Cloud Services are offered in the various tiers. Each tier offers to fix service agreements at a specific cost.  Amazon EC2 uses this kind of pricing.</a:t>
            </a:r>
          </a:p>
          <a:p>
            <a:r>
              <a:rPr lang="en-US" sz="3200" b="1" dirty="0"/>
              <a:t>Per-unit Pricing:</a:t>
            </a:r>
            <a:r>
              <a:rPr lang="en-US" sz="3200" dirty="0"/>
              <a:t> The model is based upon the unit-specific service concept such as </a:t>
            </a:r>
            <a:r>
              <a:rPr lang="en-US" altLang="zh-CN" sz="3200" dirty="0"/>
              <a:t>RAM/hour</a:t>
            </a:r>
            <a:r>
              <a:rPr lang="en-US" sz="3200" dirty="0"/>
              <a:t>. Data transfer and memory allocation include in this model for specific units. </a:t>
            </a:r>
          </a:p>
          <a:p>
            <a:r>
              <a:rPr lang="en-US" sz="3200" b="1" dirty="0"/>
              <a:t>Subscription-based Pricing:</a:t>
            </a:r>
            <a:r>
              <a:rPr lang="en-US" sz="3200" dirty="0"/>
              <a:t> In this model, users are paying periodic subscription fees for the usage of the software.</a:t>
            </a:r>
          </a:p>
          <a:p>
            <a:endParaRPr lang="en-US" sz="2800" dirty="0"/>
          </a:p>
        </p:txBody>
      </p:sp>
    </p:spTree>
    <p:extLst>
      <p:ext uri="{BB962C8B-B14F-4D97-AF65-F5344CB8AC3E}">
        <p14:creationId xmlns:p14="http://schemas.microsoft.com/office/powerpoint/2010/main" val="3259009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EE244-7FF6-FD35-B2EC-1CC7ADE83A22}"/>
              </a:ext>
            </a:extLst>
          </p:cNvPr>
          <p:cNvSpPr>
            <a:spLocks noGrp="1"/>
          </p:cNvSpPr>
          <p:nvPr>
            <p:ph type="title"/>
          </p:nvPr>
        </p:nvSpPr>
        <p:spPr/>
        <p:txBody>
          <a:bodyPr/>
          <a:lstStyle/>
          <a:p>
            <a:r>
              <a:rPr lang="en-US" altLang="zh-CN" dirty="0"/>
              <a:t>Getting value for money </a:t>
            </a:r>
            <a:endParaRPr lang="zh-CN" altLang="en-US" dirty="0"/>
          </a:p>
        </p:txBody>
      </p:sp>
      <p:sp>
        <p:nvSpPr>
          <p:cNvPr id="3" name="Content Placeholder 2">
            <a:extLst>
              <a:ext uri="{FF2B5EF4-FFF2-40B4-BE49-F238E27FC236}">
                <a16:creationId xmlns:a16="http://schemas.microsoft.com/office/drawing/2014/main" id="{3C549FCD-ABE8-8372-52E4-FC6A018B639A}"/>
              </a:ext>
            </a:extLst>
          </p:cNvPr>
          <p:cNvSpPr>
            <a:spLocks noGrp="1"/>
          </p:cNvSpPr>
          <p:nvPr>
            <p:ph idx="1"/>
          </p:nvPr>
        </p:nvSpPr>
        <p:spPr/>
        <p:txBody>
          <a:bodyPr>
            <a:normAutofit fontScale="92500" lnSpcReduction="20000"/>
          </a:bodyPr>
          <a:lstStyle/>
          <a:p>
            <a:r>
              <a:rPr lang="en-US" altLang="zh-CN" sz="3600" dirty="0"/>
              <a:t>Don’t pay for more than you need, don’t get less than what you have paid for.</a:t>
            </a:r>
          </a:p>
          <a:p>
            <a:r>
              <a:rPr lang="en-US" altLang="zh-CN" sz="3600" dirty="0"/>
              <a:t>It is difficult to predict exactly the right resources that are available at exactly the right time when needed.  Sometimes there are factors like delay, whose cost might be difficult to compute.</a:t>
            </a:r>
          </a:p>
          <a:p>
            <a:r>
              <a:rPr lang="en-US" altLang="zh-CN" sz="3600" dirty="0"/>
              <a:t>Often demand and resources are measured in separate units—for example, the demand is for sweaters, and the resources needed are knitting machines operators, and wool.</a:t>
            </a:r>
          </a:p>
          <a:p>
            <a:endParaRPr lang="en-US" altLang="zh-CN" sz="3600" dirty="0"/>
          </a:p>
          <a:p>
            <a:endParaRPr lang="zh-CN" altLang="en-US" dirty="0"/>
          </a:p>
        </p:txBody>
      </p:sp>
    </p:spTree>
    <p:extLst>
      <p:ext uri="{BB962C8B-B14F-4D97-AF65-F5344CB8AC3E}">
        <p14:creationId xmlns:p14="http://schemas.microsoft.com/office/powerpoint/2010/main" val="1639881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520794"/>
                <a:ext cx="10515600" cy="4252990"/>
              </a:xfrm>
            </p:spPr>
            <p:txBody>
              <a:bodyPr>
                <a:noAutofit/>
              </a:bodyPr>
              <a:lstStyle/>
              <a:p>
                <a:r>
                  <a:rPr lang="en-US" sz="2800" dirty="0"/>
                  <a:t>Assume that the demand for resources over time is a function, D(t), and the resources available to meet that demand is also a function, R(t). At any given time, say, </a:t>
                </a:r>
                <a14:m>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𝑡</m:t>
                        </m:r>
                      </m:e>
                      <m:sub>
                        <m:r>
                          <a:rPr lang="en-US" sz="2800" i="1" dirty="0" smtClean="0">
                            <a:latin typeface="Cambria Math" panose="02040503050406030204" pitchFamily="18" charset="0"/>
                          </a:rPr>
                          <m:t>1</m:t>
                        </m:r>
                      </m:sub>
                    </m:sSub>
                  </m:oMath>
                </a14:m>
                <a:r>
                  <a:rPr lang="en-US" sz="2800" dirty="0"/>
                  <a:t>, one of these must hold: </a:t>
                </a:r>
              </a:p>
              <a:p>
                <a:endParaRPr lang="en-US" sz="2800" dirty="0"/>
              </a:p>
              <a:p>
                <a:endParaRPr lang="en-US" sz="2800" dirty="0"/>
              </a:p>
              <a:p>
                <a:endParaRPr lang="en-US" sz="2800" dirty="0"/>
              </a:p>
              <a:p>
                <a:r>
                  <a:rPr lang="en-US" sz="2800" dirty="0"/>
                  <a:t>When </a:t>
                </a:r>
                <a14:m>
                  <m:oMath xmlns:m="http://schemas.openxmlformats.org/officeDocument/2006/math">
                    <m:r>
                      <a:rPr lang="en-US" sz="2800" b="0" i="1" smtClean="0">
                        <a:latin typeface="Cambria Math" panose="02040503050406030204" pitchFamily="18" charset="0"/>
                      </a:rPr>
                      <m:t>𝐷</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latin typeface="Cambria Math" panose="02040503050406030204" pitchFamily="18" charset="0"/>
                      </a:rPr>
                      <m:t>𝑅</m:t>
                    </m:r>
                    <m:r>
                      <a:rPr lang="en-US" sz="2800" b="0" i="1" smtClean="0">
                        <a:latin typeface="Cambria Math" panose="02040503050406030204" pitchFamily="18" charset="0"/>
                      </a:rPr>
                      <m:t>(</m:t>
                    </m:r>
                    <m:r>
                      <a:rPr lang="en-US" sz="2800" b="0" i="1" smtClean="0">
                        <a:latin typeface="Cambria Math" panose="02040503050406030204" pitchFamily="18" charset="0"/>
                      </a:rPr>
                      <m:t>𝑡</m:t>
                    </m:r>
                    <m:r>
                      <a:rPr lang="en-US" sz="2800" b="0" i="1" smtClean="0">
                        <a:latin typeface="Cambria Math" panose="02040503050406030204" pitchFamily="18" charset="0"/>
                      </a:rPr>
                      <m:t>)</m:t>
                    </m:r>
                  </m:oMath>
                </a14:m>
                <a:r>
                  <a:rPr lang="en-US" sz="2800" dirty="0"/>
                  <a:t> , we have </a:t>
                </a:r>
                <a:r>
                  <a:rPr lang="en-US" sz="2800" b="1" dirty="0"/>
                  <a:t>perfect capacity</a:t>
                </a:r>
                <a:r>
                  <a:rPr lang="en-US" sz="2800" dirty="0"/>
                  <a:t>.</a:t>
                </a:r>
              </a:p>
              <a:p>
                <a:endParaRPr lang="en-US" sz="2800" dirty="0"/>
              </a:p>
              <a:p>
                <a:endParaRPr lang="en-US" sz="2800" dirty="0"/>
              </a:p>
              <a:p>
                <a:endParaRPr lang="en-US" sz="2800" dirty="0"/>
              </a:p>
              <a:p>
                <a:endParaRPr lang="en-US" sz="2800" dirty="0"/>
              </a:p>
              <a:p>
                <a:endParaRPr lang="en-US" sz="2800" dirty="0"/>
              </a:p>
              <a:p>
                <a:endParaRPr lang="en-US" sz="2800" dirty="0"/>
              </a:p>
              <a:p>
                <a:pPr marL="0" indent="0">
                  <a:buNone/>
                </a:pPr>
                <a:br>
                  <a:rPr lang="en-US" sz="2800" dirty="0"/>
                </a:br>
                <a:br>
                  <a:rPr lang="en-US" sz="2800" dirty="0"/>
                </a:br>
                <a:br>
                  <a:rPr lang="en-US" sz="2800" dirty="0"/>
                </a:br>
                <a:br>
                  <a:rPr lang="en-US" sz="2800" dirty="0"/>
                </a:br>
                <a:br>
                  <a:rPr lang="en-US" sz="2800" dirty="0"/>
                </a:br>
                <a:br>
                  <a:rPr lang="en-US" sz="2800" dirty="0"/>
                </a:b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520794"/>
                <a:ext cx="10515600" cy="4252990"/>
              </a:xfrm>
              <a:blipFill>
                <a:blip r:embed="rId3"/>
                <a:stretch>
                  <a:fillRect l="-812" t="-1433"/>
                </a:stretch>
              </a:blipFill>
            </p:spPr>
            <p:txBody>
              <a:bodyPr/>
              <a:lstStyle/>
              <a:p>
                <a:r>
                  <a:rPr lang="zh-CN" altLang="en-US">
                    <a:noFill/>
                  </a:rPr>
                  <a:t> </a:t>
                </a:r>
              </a:p>
            </p:txBody>
          </p:sp>
        </mc:Fallback>
      </mc:AlternateContent>
      <p:pic>
        <p:nvPicPr>
          <p:cNvPr id="4" name="Picture 3"/>
          <p:cNvPicPr>
            <a:picLocks noChangeAspect="1"/>
          </p:cNvPicPr>
          <p:nvPr/>
        </p:nvPicPr>
        <p:blipFill>
          <a:blip r:embed="rId4"/>
          <a:stretch>
            <a:fillRect/>
          </a:stretch>
        </p:blipFill>
        <p:spPr>
          <a:xfrm>
            <a:off x="1086395" y="2897585"/>
            <a:ext cx="9768840" cy="1838426"/>
          </a:xfrm>
          <a:prstGeom prst="rect">
            <a:avLst/>
          </a:prstGeom>
        </p:spPr>
      </p:pic>
      <p:sp>
        <p:nvSpPr>
          <p:cNvPr id="7" name="Title 1">
            <a:extLst>
              <a:ext uri="{FF2B5EF4-FFF2-40B4-BE49-F238E27FC236}">
                <a16:creationId xmlns:a16="http://schemas.microsoft.com/office/drawing/2014/main" id="{C4662FD4-F761-7FAC-243C-F3B33F298C5A}"/>
              </a:ext>
            </a:extLst>
          </p:cNvPr>
          <p:cNvSpPr>
            <a:spLocks noGrp="1"/>
          </p:cNvSpPr>
          <p:nvPr>
            <p:ph type="title"/>
          </p:nvPr>
        </p:nvSpPr>
        <p:spPr>
          <a:xfrm>
            <a:off x="581192" y="697026"/>
            <a:ext cx="11029616" cy="657721"/>
          </a:xfrm>
        </p:spPr>
        <p:txBody>
          <a:bodyPr/>
          <a:lstStyle/>
          <a:p>
            <a:r>
              <a:rPr lang="en-US" altLang="zh-CN" dirty="0"/>
              <a:t>Getting value for money </a:t>
            </a:r>
            <a:endParaRPr lang="zh-CN" altLang="en-US" dirty="0"/>
          </a:p>
        </p:txBody>
      </p:sp>
    </p:spTree>
    <p:extLst>
      <p:ext uri="{BB962C8B-B14F-4D97-AF65-F5344CB8AC3E}">
        <p14:creationId xmlns:p14="http://schemas.microsoft.com/office/powerpoint/2010/main" val="935906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4137" y="1580604"/>
            <a:ext cx="11166671" cy="4800942"/>
          </a:xfrm>
        </p:spPr>
        <p:txBody>
          <a:bodyPr>
            <a:noAutofit/>
          </a:bodyPr>
          <a:lstStyle/>
          <a:p>
            <a:pPr marL="0" indent="0">
              <a:buNone/>
            </a:pPr>
            <a:r>
              <a:rPr lang="en-US" sz="2400" b="1" dirty="0">
                <a:solidFill>
                  <a:srgbClr val="FF0000"/>
                </a:solidFill>
              </a:rPr>
              <a:t>Matching Capacity and Resources:  Areas to consider:</a:t>
            </a:r>
          </a:p>
          <a:p>
            <a:r>
              <a:rPr lang="en-US" sz="2400" b="1" dirty="0"/>
              <a:t>Frequency of demand assessment</a:t>
            </a:r>
            <a:r>
              <a:rPr lang="en-US" sz="2400" dirty="0"/>
              <a:t>. Are we checking the level of demand</a:t>
            </a:r>
            <a:br>
              <a:rPr lang="en-US" sz="2400" dirty="0"/>
            </a:br>
            <a:r>
              <a:rPr lang="en-US" sz="2400" dirty="0"/>
              <a:t>only once a week, or continuously?</a:t>
            </a:r>
          </a:p>
          <a:p>
            <a:r>
              <a:rPr lang="en-US" sz="2400" b="1" dirty="0"/>
              <a:t>Accuracy of this assessment</a:t>
            </a:r>
            <a:r>
              <a:rPr lang="en-US" sz="2400" dirty="0"/>
              <a:t>. How good is our process for evaluating</a:t>
            </a:r>
            <a:br>
              <a:rPr lang="en-US" sz="2400" dirty="0"/>
            </a:br>
            <a:r>
              <a:rPr lang="en-US" sz="2400" dirty="0"/>
              <a:t>demand?</a:t>
            </a:r>
          </a:p>
          <a:p>
            <a:r>
              <a:rPr lang="en-US" sz="2400" b="1" dirty="0"/>
              <a:t>Underlying variability and unpredictability of the demand curve</a:t>
            </a:r>
            <a:r>
              <a:rPr lang="en-US" sz="2400" dirty="0"/>
              <a:t>. Is it</a:t>
            </a:r>
            <a:br>
              <a:rPr lang="en-US" sz="2400" dirty="0"/>
            </a:br>
            <a:r>
              <a:rPr lang="en-US" sz="2400" dirty="0"/>
              <a:t>flat, linearly growing, random but distributed normally, or something</a:t>
            </a:r>
            <a:br>
              <a:rPr lang="en-US" sz="2400" dirty="0"/>
            </a:br>
            <a:r>
              <a:rPr lang="en-US" sz="2400" dirty="0"/>
              <a:t>else? </a:t>
            </a:r>
          </a:p>
          <a:p>
            <a:r>
              <a:rPr lang="en-US" sz="2400" b="1" dirty="0"/>
              <a:t>Accuracy of the forecasting process</a:t>
            </a:r>
            <a:r>
              <a:rPr lang="en-US" sz="2400" dirty="0"/>
              <a:t>. Being able to exactly forecast</a:t>
            </a:r>
            <a:br>
              <a:rPr lang="en-US" sz="2400" dirty="0"/>
            </a:br>
            <a:r>
              <a:rPr lang="en-US" sz="2400" dirty="0"/>
              <a:t>demand a month from now gives us provisioning advantages.</a:t>
            </a:r>
            <a:br>
              <a:rPr lang="en-US" sz="2400" dirty="0"/>
            </a:br>
            <a:br>
              <a:rPr lang="en-US" sz="2400" dirty="0"/>
            </a:br>
            <a:br>
              <a:rPr lang="en-US" sz="2400" dirty="0"/>
            </a:br>
            <a:r>
              <a:rPr lang="en-US" sz="2400" dirty="0"/>
              <a:t> </a:t>
            </a:r>
            <a:br>
              <a:rPr lang="en-US" sz="2400" dirty="0"/>
            </a:br>
            <a:br>
              <a:rPr lang="en-US" sz="2400" dirty="0"/>
            </a:br>
            <a:br>
              <a:rPr lang="en-US" sz="2400" dirty="0"/>
            </a:br>
            <a:endParaRPr lang="en-US" sz="2400" dirty="0"/>
          </a:p>
        </p:txBody>
      </p:sp>
      <p:sp>
        <p:nvSpPr>
          <p:cNvPr id="6" name="Title 1">
            <a:extLst>
              <a:ext uri="{FF2B5EF4-FFF2-40B4-BE49-F238E27FC236}">
                <a16:creationId xmlns:a16="http://schemas.microsoft.com/office/drawing/2014/main" id="{06CF83F0-AF3C-7D22-AB63-1A2F71F3435C}"/>
              </a:ext>
            </a:extLst>
          </p:cNvPr>
          <p:cNvSpPr>
            <a:spLocks noGrp="1"/>
          </p:cNvSpPr>
          <p:nvPr>
            <p:ph type="title"/>
          </p:nvPr>
        </p:nvSpPr>
        <p:spPr>
          <a:xfrm>
            <a:off x="581192" y="697026"/>
            <a:ext cx="11029616" cy="657721"/>
          </a:xfrm>
        </p:spPr>
        <p:txBody>
          <a:bodyPr/>
          <a:lstStyle/>
          <a:p>
            <a:r>
              <a:rPr lang="en-US" altLang="zh-CN" dirty="0"/>
              <a:t>Getting value for money </a:t>
            </a:r>
            <a:endParaRPr lang="zh-CN" altLang="en-US" dirty="0"/>
          </a:p>
        </p:txBody>
      </p:sp>
    </p:spTree>
    <p:extLst>
      <p:ext uri="{BB962C8B-B14F-4D97-AF65-F5344CB8AC3E}">
        <p14:creationId xmlns:p14="http://schemas.microsoft.com/office/powerpoint/2010/main" val="2777961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7788C-C4ED-275D-79EF-BEE5E14F49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32DA60-D94B-C16C-31F2-FDD100C9968E}"/>
              </a:ext>
            </a:extLst>
          </p:cNvPr>
          <p:cNvSpPr>
            <a:spLocks noGrp="1"/>
          </p:cNvSpPr>
          <p:nvPr>
            <p:ph idx="1"/>
          </p:nvPr>
        </p:nvSpPr>
        <p:spPr>
          <a:xfrm>
            <a:off x="444137" y="1580604"/>
            <a:ext cx="11166671" cy="4800942"/>
          </a:xfrm>
        </p:spPr>
        <p:txBody>
          <a:bodyPr>
            <a:noAutofit/>
          </a:bodyPr>
          <a:lstStyle/>
          <a:p>
            <a:pPr marL="0" indent="0" algn="l" rtl="0" eaLnBrk="1" latinLnBrk="0" hangingPunct="1">
              <a:spcBef>
                <a:spcPts val="576"/>
              </a:spcBef>
              <a:spcAft>
                <a:spcPts val="600"/>
              </a:spcAft>
              <a:buNone/>
            </a:pPr>
            <a:r>
              <a:rPr lang="en-US" sz="2400" b="1" dirty="0">
                <a:solidFill>
                  <a:srgbClr val="FF0000"/>
                </a:solidFill>
              </a:rPr>
              <a:t>Matching Capacity and Resources: Key Considerations:</a:t>
            </a:r>
          </a:p>
          <a:p>
            <a:pPr marL="301752" indent="-301752" algn="l" rtl="0" eaLnBrk="1" latinLnBrk="0" hangingPunct="1">
              <a:spcBef>
                <a:spcPts val="576"/>
              </a:spcBef>
              <a:spcAft>
                <a:spcPts val="600"/>
              </a:spcAft>
            </a:pPr>
            <a:r>
              <a:rPr lang="en-US" sz="2400" b="1" dirty="0">
                <a:solidFill>
                  <a:srgbClr val="3D3D3D"/>
                </a:solidFill>
                <a:effectLst/>
                <a:latin typeface="Gill Sans MT" panose="020B0502020104020203" pitchFamily="34" charset="0"/>
              </a:rPr>
              <a:t>Response time for capacity adjustments.</a:t>
            </a:r>
            <a:r>
              <a:rPr lang="en-US" sz="2400" dirty="0">
                <a:solidFill>
                  <a:srgbClr val="3D3D3D"/>
                </a:solidFill>
                <a:effectLst/>
                <a:latin typeface="Gill Sans MT" panose="020B0502020104020203" pitchFamily="34" charset="0"/>
              </a:rPr>
              <a:t> If we can quickly identify a change in demand but take a long time to respond, it could create issues. This response time can be consistent (e.g., nine months), variable (e.g., two to five months), nearly immediate, or somewhere in between.</a:t>
            </a:r>
          </a:p>
          <a:p>
            <a:pPr marL="301752" indent="-301752" algn="l" rtl="0" eaLnBrk="1" latinLnBrk="0" hangingPunct="1">
              <a:spcBef>
                <a:spcPts val="576"/>
              </a:spcBef>
              <a:spcAft>
                <a:spcPts val="600"/>
              </a:spcAft>
              <a:buFont typeface="Arial" panose="020B0604020202020204" pitchFamily="34" charset="0"/>
              <a:buChar char="•"/>
            </a:pPr>
            <a:r>
              <a:rPr lang="en-US" sz="2400" b="1" dirty="0">
                <a:solidFill>
                  <a:srgbClr val="3D3D3D"/>
                </a:solidFill>
                <a:effectLst/>
                <a:latin typeface="Gill Sans MT" panose="020B0502020104020203" pitchFamily="34" charset="0"/>
              </a:rPr>
              <a:t>Adjustment granularity.</a:t>
            </a:r>
            <a:r>
              <a:rPr lang="en-US" sz="2400" dirty="0">
                <a:solidFill>
                  <a:srgbClr val="3D3D3D"/>
                </a:solidFill>
                <a:effectLst/>
                <a:latin typeface="Gill Sans MT" panose="020B0502020104020203" pitchFamily="34" charset="0"/>
              </a:rPr>
              <a:t> If demand fluctuates in tens or hundreds of watts, but capacity is only available in kilowatt or megawatt increments, this mismatch can be problematic.</a:t>
            </a:r>
            <a:endParaRPr lang="en-US" sz="2400" dirty="0"/>
          </a:p>
        </p:txBody>
      </p:sp>
      <p:sp>
        <p:nvSpPr>
          <p:cNvPr id="6" name="Title 1">
            <a:extLst>
              <a:ext uri="{FF2B5EF4-FFF2-40B4-BE49-F238E27FC236}">
                <a16:creationId xmlns:a16="http://schemas.microsoft.com/office/drawing/2014/main" id="{B92DE639-0B94-4361-03F2-E3C824279105}"/>
              </a:ext>
            </a:extLst>
          </p:cNvPr>
          <p:cNvSpPr>
            <a:spLocks noGrp="1"/>
          </p:cNvSpPr>
          <p:nvPr>
            <p:ph type="title"/>
          </p:nvPr>
        </p:nvSpPr>
        <p:spPr>
          <a:xfrm>
            <a:off x="581192" y="697026"/>
            <a:ext cx="11029616" cy="657721"/>
          </a:xfrm>
        </p:spPr>
        <p:txBody>
          <a:bodyPr/>
          <a:lstStyle/>
          <a:p>
            <a:r>
              <a:rPr lang="en-US" altLang="zh-CN" dirty="0"/>
              <a:t>Getting value for money </a:t>
            </a:r>
            <a:endParaRPr lang="zh-CN" altLang="en-US" dirty="0"/>
          </a:p>
        </p:txBody>
      </p:sp>
    </p:spTree>
    <p:extLst>
      <p:ext uri="{BB962C8B-B14F-4D97-AF65-F5344CB8AC3E}">
        <p14:creationId xmlns:p14="http://schemas.microsoft.com/office/powerpoint/2010/main" val="2126097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1E69B-CCDA-CB8E-B28F-3CEA7C162A5F}"/>
              </a:ext>
            </a:extLst>
          </p:cNvPr>
          <p:cNvSpPr>
            <a:spLocks noGrp="1"/>
          </p:cNvSpPr>
          <p:nvPr>
            <p:ph type="title"/>
          </p:nvPr>
        </p:nvSpPr>
        <p:spPr/>
        <p:txBody>
          <a:bodyPr/>
          <a:lstStyle/>
          <a:p>
            <a:r>
              <a:rPr lang="en-US" altLang="zh-CN" dirty="0"/>
              <a:t>CASE STUDY</a:t>
            </a:r>
            <a:endParaRPr lang="zh-CN" altLang="en-US" dirty="0"/>
          </a:p>
        </p:txBody>
      </p:sp>
      <p:sp>
        <p:nvSpPr>
          <p:cNvPr id="3" name="Content Placeholder 2">
            <a:extLst>
              <a:ext uri="{FF2B5EF4-FFF2-40B4-BE49-F238E27FC236}">
                <a16:creationId xmlns:a16="http://schemas.microsoft.com/office/drawing/2014/main" id="{4D642F7C-9077-127F-7576-269B9E30AB51}"/>
              </a:ext>
            </a:extLst>
          </p:cNvPr>
          <p:cNvSpPr>
            <a:spLocks noGrp="1"/>
          </p:cNvSpPr>
          <p:nvPr>
            <p:ph idx="1"/>
          </p:nvPr>
        </p:nvSpPr>
        <p:spPr/>
        <p:txBody>
          <a:bodyPr>
            <a:normAutofit fontScale="55000" lnSpcReduction="20000"/>
          </a:bodyPr>
          <a:lstStyle/>
          <a:p>
            <a:pPr marL="0" indent="0">
              <a:buNone/>
            </a:pPr>
            <a:r>
              <a:rPr lang="en-US" altLang="zh-CN" b="1" dirty="0">
                <a:solidFill>
                  <a:srgbClr val="FF0000"/>
                </a:solidFill>
              </a:rPr>
              <a:t>Background </a:t>
            </a:r>
          </a:p>
          <a:p>
            <a:pPr marL="0" indent="0">
              <a:buNone/>
            </a:pPr>
            <a:r>
              <a:rPr lang="en-US" altLang="zh-CN" dirty="0" err="1"/>
              <a:t>OptiSoft</a:t>
            </a:r>
            <a:r>
              <a:rPr lang="en-US" altLang="zh-CN" dirty="0"/>
              <a:t> Uganda Ltd. is a mid-sized software development company that builds custom enterprise applications for businesses in Uganda. The company has been running its IT infrastructure on-premises, managing its own servers, networking equipment, and storage. However, due to increasing demand for its software solutions and the need for faster deployment, </a:t>
            </a:r>
            <a:r>
              <a:rPr lang="en-US" altLang="zh-CN" dirty="0" err="1"/>
              <a:t>OptiSoft</a:t>
            </a:r>
            <a:r>
              <a:rPr lang="en-US" altLang="zh-CN" dirty="0"/>
              <a:t> Uganda is considering migrating to the cloud. </a:t>
            </a:r>
          </a:p>
          <a:p>
            <a:pPr marL="0" indent="0">
              <a:buNone/>
            </a:pPr>
            <a:r>
              <a:rPr lang="en-US" altLang="zh-CN" b="1" dirty="0">
                <a:solidFill>
                  <a:srgbClr val="FF0000"/>
                </a:solidFill>
              </a:rPr>
              <a:t>Current IT Infrastructure and Challenges</a:t>
            </a:r>
          </a:p>
          <a:p>
            <a:pPr marL="0" indent="0">
              <a:buNone/>
            </a:pPr>
            <a:r>
              <a:rPr lang="en-US" altLang="zh-CN" dirty="0" err="1"/>
              <a:t>OptiSoft</a:t>
            </a:r>
            <a:r>
              <a:rPr lang="en-US" altLang="zh-CN" dirty="0"/>
              <a:t> Uganda’s on-premise infrastructure consists of:</a:t>
            </a:r>
          </a:p>
          <a:p>
            <a:pPr marL="0" indent="0">
              <a:buNone/>
            </a:pPr>
            <a:r>
              <a:rPr lang="en-US" altLang="zh-CN" dirty="0"/>
              <a:t>10 physical servers, each costing UGX 20,000,000, with a lifespan of 5 years.</a:t>
            </a:r>
          </a:p>
          <a:p>
            <a:pPr marL="0" indent="0">
              <a:buNone/>
            </a:pPr>
            <a:r>
              <a:rPr lang="en-US" altLang="zh-CN" dirty="0"/>
              <a:t>Annual maintenance costs of UGX 80,000,000 for hardware repairs and system upgrades.</a:t>
            </a:r>
          </a:p>
          <a:p>
            <a:pPr marL="0" indent="0">
              <a:buNone/>
            </a:pPr>
            <a:r>
              <a:rPr lang="en-US" altLang="zh-CN" dirty="0"/>
              <a:t>IT staff costs of UGX 400,000,000 per year for managing and maintaining infrastructure.</a:t>
            </a:r>
          </a:p>
          <a:p>
            <a:pPr marL="0" indent="0">
              <a:buNone/>
            </a:pPr>
            <a:r>
              <a:rPr lang="en-US" altLang="zh-CN" dirty="0"/>
              <a:t>Limited scalability, leading to slow deployment times for new projects.</a:t>
            </a:r>
          </a:p>
          <a:p>
            <a:pPr marL="0" indent="0">
              <a:buNone/>
            </a:pPr>
            <a:r>
              <a:rPr lang="en-US" altLang="zh-CN" dirty="0"/>
              <a:t>Disaster recovery concerns, as all data is stored in a single data center, making it vulnerable to outages.</a:t>
            </a:r>
            <a:endParaRPr lang="zh-CN" altLang="en-US" dirty="0"/>
          </a:p>
        </p:txBody>
      </p:sp>
    </p:spTree>
    <p:extLst>
      <p:ext uri="{BB962C8B-B14F-4D97-AF65-F5344CB8AC3E}">
        <p14:creationId xmlns:p14="http://schemas.microsoft.com/office/powerpoint/2010/main" val="3732409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E9097-8DD0-5BC6-42D4-EFC396314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74C75-7F76-DE4A-7CC2-58875DC5B455}"/>
              </a:ext>
            </a:extLst>
          </p:cNvPr>
          <p:cNvSpPr>
            <a:spLocks noGrp="1"/>
          </p:cNvSpPr>
          <p:nvPr>
            <p:ph type="title"/>
          </p:nvPr>
        </p:nvSpPr>
        <p:spPr/>
        <p:txBody>
          <a:bodyPr/>
          <a:lstStyle/>
          <a:p>
            <a:r>
              <a:rPr lang="en-US" altLang="zh-CN" dirty="0"/>
              <a:t>CASE STUDY</a:t>
            </a:r>
            <a:endParaRPr lang="zh-CN" altLang="en-US" dirty="0"/>
          </a:p>
        </p:txBody>
      </p:sp>
      <p:sp>
        <p:nvSpPr>
          <p:cNvPr id="3" name="Content Placeholder 2">
            <a:extLst>
              <a:ext uri="{FF2B5EF4-FFF2-40B4-BE49-F238E27FC236}">
                <a16:creationId xmlns:a16="http://schemas.microsoft.com/office/drawing/2014/main" id="{C8232BEB-221C-CD8A-6FB9-2368B86E6912}"/>
              </a:ext>
            </a:extLst>
          </p:cNvPr>
          <p:cNvSpPr>
            <a:spLocks noGrp="1"/>
          </p:cNvSpPr>
          <p:nvPr>
            <p:ph idx="1"/>
          </p:nvPr>
        </p:nvSpPr>
        <p:spPr/>
        <p:txBody>
          <a:bodyPr>
            <a:normAutofit lnSpcReduction="10000"/>
          </a:bodyPr>
          <a:lstStyle/>
          <a:p>
            <a:pPr marL="0" indent="0">
              <a:spcBef>
                <a:spcPts val="0"/>
              </a:spcBef>
              <a:spcAft>
                <a:spcPts val="0"/>
              </a:spcAft>
              <a:buNone/>
            </a:pPr>
            <a:r>
              <a:rPr lang="en-US" altLang="zh-CN" sz="2400" b="1" dirty="0">
                <a:solidFill>
                  <a:srgbClr val="FF0000"/>
                </a:solidFill>
              </a:rPr>
              <a:t>Discussion </a:t>
            </a:r>
          </a:p>
          <a:p>
            <a:pPr marL="0" indent="0">
              <a:spcBef>
                <a:spcPts val="0"/>
              </a:spcBef>
              <a:spcAft>
                <a:spcPts val="0"/>
              </a:spcAft>
              <a:buNone/>
            </a:pPr>
            <a:r>
              <a:rPr lang="en-US" altLang="zh-CN" sz="2400" dirty="0" err="1"/>
              <a:t>OptiSoft</a:t>
            </a:r>
            <a:r>
              <a:rPr lang="en-US" altLang="zh-CN" sz="2400" dirty="0"/>
              <a:t> Uganda is considering moving to a cloud-based Infrastructure-as-a-Service (IaaS) solution from one of the major cloud providers (AWS, Azure, or Google Cloud). The cloud provider offers:</a:t>
            </a:r>
          </a:p>
          <a:p>
            <a:pPr marL="0" indent="0">
              <a:spcBef>
                <a:spcPts val="0"/>
              </a:spcBef>
              <a:spcAft>
                <a:spcPts val="0"/>
              </a:spcAft>
              <a:buNone/>
            </a:pPr>
            <a:r>
              <a:rPr lang="en-US" altLang="zh-CN" sz="2400" dirty="0"/>
              <a:t>Pay-as-you-go pricing, with computing costs at UGX 370 per CPU hour and storage at UGX 74 per GB per month.</a:t>
            </a:r>
          </a:p>
          <a:p>
            <a:pPr marL="0" indent="0">
              <a:spcBef>
                <a:spcPts val="0"/>
              </a:spcBef>
              <a:spcAft>
                <a:spcPts val="0"/>
              </a:spcAft>
              <a:buNone/>
            </a:pPr>
            <a:r>
              <a:rPr lang="en-US" altLang="zh-CN" sz="2400" dirty="0"/>
              <a:t>Elastic scalability, allowing the company to scale up and down based on demand.</a:t>
            </a:r>
          </a:p>
          <a:p>
            <a:pPr marL="0" indent="0">
              <a:spcBef>
                <a:spcPts val="0"/>
              </a:spcBef>
              <a:spcAft>
                <a:spcPts val="0"/>
              </a:spcAft>
              <a:buNone/>
            </a:pPr>
            <a:r>
              <a:rPr lang="en-US" altLang="zh-CN" sz="2400" dirty="0"/>
              <a:t>Built-in disaster recovery with data redundancy across multiple geographic locations.</a:t>
            </a:r>
          </a:p>
          <a:p>
            <a:pPr marL="0" indent="0">
              <a:spcBef>
                <a:spcPts val="0"/>
              </a:spcBef>
              <a:spcAft>
                <a:spcPts val="0"/>
              </a:spcAft>
              <a:buNone/>
            </a:pPr>
            <a:r>
              <a:rPr lang="en-US" altLang="zh-CN" sz="2400" dirty="0" err="1">
                <a:solidFill>
                  <a:srgbClr val="FF0000"/>
                </a:solidFill>
              </a:rPr>
              <a:t>OptiSoft</a:t>
            </a:r>
            <a:r>
              <a:rPr lang="en-US" altLang="zh-CN" sz="2400" dirty="0">
                <a:solidFill>
                  <a:srgbClr val="FF0000"/>
                </a:solidFill>
              </a:rPr>
              <a:t> Uganda has contracted your group to assess the merit of its proposal to move to the cloud-based IaaS.</a:t>
            </a:r>
          </a:p>
          <a:p>
            <a:pPr marL="0" indent="0">
              <a:spcBef>
                <a:spcPts val="0"/>
              </a:spcBef>
              <a:spcAft>
                <a:spcPts val="0"/>
              </a:spcAft>
              <a:buNone/>
            </a:pPr>
            <a:r>
              <a:rPr lang="en-US" altLang="zh-CN" sz="2400" dirty="0"/>
              <a:t>Your group should present arguments on cost, security, performance, scalability and perform a SWOT analysis.</a:t>
            </a:r>
            <a:endParaRPr lang="zh-CN" altLang="en-US" sz="2400" dirty="0"/>
          </a:p>
        </p:txBody>
      </p:sp>
    </p:spTree>
    <p:extLst>
      <p:ext uri="{BB962C8B-B14F-4D97-AF65-F5344CB8AC3E}">
        <p14:creationId xmlns:p14="http://schemas.microsoft.com/office/powerpoint/2010/main" val="139194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F15E1E-2539-A8A0-0489-2570A8FF4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28249-1E38-04DC-C1A8-09B2FAB0BA19}"/>
              </a:ext>
            </a:extLst>
          </p:cNvPr>
          <p:cNvSpPr>
            <a:spLocks noGrp="1"/>
          </p:cNvSpPr>
          <p:nvPr>
            <p:ph type="title"/>
          </p:nvPr>
        </p:nvSpPr>
        <p:spPr/>
        <p:txBody>
          <a:bodyPr/>
          <a:lstStyle/>
          <a:p>
            <a:r>
              <a:rPr lang="en-US" altLang="zh-CN" dirty="0"/>
              <a:t>CASE STUDY</a:t>
            </a:r>
            <a:endParaRPr lang="zh-CN" altLang="en-US" dirty="0"/>
          </a:p>
        </p:txBody>
      </p:sp>
      <p:sp>
        <p:nvSpPr>
          <p:cNvPr id="5" name="Content Placeholder 4">
            <a:extLst>
              <a:ext uri="{FF2B5EF4-FFF2-40B4-BE49-F238E27FC236}">
                <a16:creationId xmlns:a16="http://schemas.microsoft.com/office/drawing/2014/main" id="{BF08632B-4D56-0D85-B17C-841D21F4E039}"/>
              </a:ext>
            </a:extLst>
          </p:cNvPr>
          <p:cNvSpPr>
            <a:spLocks noGrp="1"/>
          </p:cNvSpPr>
          <p:nvPr>
            <p:ph idx="1"/>
          </p:nvPr>
        </p:nvSpPr>
        <p:spPr/>
        <p:txBody>
          <a:bodyPr/>
          <a:lstStyle/>
          <a:p>
            <a:endParaRPr lang="zh-CN" altLang="en-US"/>
          </a:p>
        </p:txBody>
      </p:sp>
      <p:pic>
        <p:nvPicPr>
          <p:cNvPr id="7" name="Picture 6">
            <a:extLst>
              <a:ext uri="{FF2B5EF4-FFF2-40B4-BE49-F238E27FC236}">
                <a16:creationId xmlns:a16="http://schemas.microsoft.com/office/drawing/2014/main" id="{18643AB0-1884-154B-30BB-D392AE8EFDFA}"/>
              </a:ext>
            </a:extLst>
          </p:cNvPr>
          <p:cNvPicPr>
            <a:picLocks noChangeAspect="1"/>
          </p:cNvPicPr>
          <p:nvPr/>
        </p:nvPicPr>
        <p:blipFill>
          <a:blip r:embed="rId3"/>
          <a:stretch>
            <a:fillRect/>
          </a:stretch>
        </p:blipFill>
        <p:spPr>
          <a:xfrm>
            <a:off x="440285" y="1466811"/>
            <a:ext cx="11622068" cy="4485000"/>
          </a:xfrm>
          <a:prstGeom prst="rect">
            <a:avLst/>
          </a:prstGeom>
        </p:spPr>
      </p:pic>
    </p:spTree>
    <p:extLst>
      <p:ext uri="{BB962C8B-B14F-4D97-AF65-F5344CB8AC3E}">
        <p14:creationId xmlns:p14="http://schemas.microsoft.com/office/powerpoint/2010/main" val="1999565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Freeform: Shape 9">
            <a:extLst>
              <a:ext uri="{FF2B5EF4-FFF2-40B4-BE49-F238E27FC236}">
                <a16:creationId xmlns:a16="http://schemas.microsoft.com/office/drawing/2014/main" id="{C6D5B03A-B780-A698-DFA9-C9932F22D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845" y="3079474"/>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A574AD55-C1EC-E9CB-C9E4-0251CAC41EBC}"/>
              </a:ext>
            </a:extLst>
          </p:cNvPr>
          <p:cNvSpPr>
            <a:spLocks noGrp="1"/>
          </p:cNvSpPr>
          <p:nvPr>
            <p:ph type="title"/>
          </p:nvPr>
        </p:nvSpPr>
        <p:spPr>
          <a:xfrm>
            <a:off x="517869" y="1534128"/>
            <a:ext cx="11153214" cy="1408176"/>
          </a:xfrm>
        </p:spPr>
        <p:txBody>
          <a:bodyPr anchor="b">
            <a:normAutofit/>
          </a:bodyPr>
          <a:lstStyle/>
          <a:p>
            <a:r>
              <a:rPr lang="zh-CN" altLang="en-US" sz="6800" dirty="0"/>
              <a:t>Conclusion</a:t>
            </a:r>
          </a:p>
        </p:txBody>
      </p:sp>
      <p:graphicFrame>
        <p:nvGraphicFramePr>
          <p:cNvPr id="11" name="Content Placeholder 2">
            <a:extLst>
              <a:ext uri="{FF2B5EF4-FFF2-40B4-BE49-F238E27FC236}">
                <a16:creationId xmlns:a16="http://schemas.microsoft.com/office/drawing/2014/main" id="{96525624-10BB-FF5F-60B1-A64CAA0DD8AF}"/>
              </a:ext>
            </a:extLst>
          </p:cNvPr>
          <p:cNvGraphicFramePr>
            <a:graphicFrameLocks noGrp="1"/>
          </p:cNvGraphicFramePr>
          <p:nvPr>
            <p:ph idx="1"/>
            <p:extLst>
              <p:ext uri="{D42A27DB-BD31-4B8C-83A1-F6EECF244321}">
                <p14:modId xmlns:p14="http://schemas.microsoft.com/office/powerpoint/2010/main" val="3217517590"/>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17869" y="3426452"/>
          <a:ext cx="11153214" cy="24688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84567055"/>
      </p:ext>
    </p:extLst>
  </p:cSld>
  <p:clrMapOvr>
    <a:overrideClrMapping bg1="dk1" tx1="lt1" bg2="dk2" tx2="lt2" accent1="accent1" accent2="accent2" accent3="accent3" accent4="accent4" accent5="accent5" accent6="accent6" hlink="hlink" folHlink="folHlink"/>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References</a:t>
            </a:r>
            <a:r>
              <a:rPr lang="en-US" dirty="0"/>
              <a:t> </a:t>
            </a:r>
          </a:p>
        </p:txBody>
      </p:sp>
      <p:sp>
        <p:nvSpPr>
          <p:cNvPr id="3" name="Content Placeholder 2"/>
          <p:cNvSpPr>
            <a:spLocks noGrp="1"/>
          </p:cNvSpPr>
          <p:nvPr>
            <p:ph idx="1"/>
          </p:nvPr>
        </p:nvSpPr>
        <p:spPr/>
        <p:txBody>
          <a:bodyPr>
            <a:normAutofit/>
          </a:bodyPr>
          <a:lstStyle/>
          <a:p>
            <a:r>
              <a:rPr lang="en-US" sz="2800" dirty="0">
                <a:hlinkClick r:id="rId2"/>
              </a:rPr>
              <a:t>https://www.oracle.com/cloud/cloud-economics-explained/</a:t>
            </a:r>
            <a:endParaRPr lang="en-US" sz="2800" dirty="0"/>
          </a:p>
          <a:p>
            <a:r>
              <a:rPr lang="en-US" sz="2800" dirty="0"/>
              <a:t>Book: </a:t>
            </a:r>
            <a:r>
              <a:rPr lang="en-US" sz="2800" b="1" dirty="0"/>
              <a:t>Cloudonomics:  The Business Value of Cloud Computing by </a:t>
            </a:r>
            <a:r>
              <a:rPr lang="en-US" sz="2800" dirty="0"/>
              <a:t>Weinman, Joe. </a:t>
            </a:r>
            <a:endParaRPr lang="en-US" sz="2800" b="1" dirty="0"/>
          </a:p>
          <a:p>
            <a:endParaRPr lang="en-US" sz="2800" dirty="0"/>
          </a:p>
          <a:p>
            <a:endParaRPr lang="en-US" sz="2800" dirty="0"/>
          </a:p>
        </p:txBody>
      </p:sp>
    </p:spTree>
    <p:extLst>
      <p:ext uri="{BB962C8B-B14F-4D97-AF65-F5344CB8AC3E}">
        <p14:creationId xmlns:p14="http://schemas.microsoft.com/office/powerpoint/2010/main" val="2766345041"/>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GestaltVTI">
  <a:themeElements>
    <a:clrScheme name="Custom 86">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2.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Tech design</Template>
  <TotalTime>10142</TotalTime>
  <Words>4540</Words>
  <Application>Microsoft Office PowerPoint</Application>
  <PresentationFormat>Widescreen</PresentationFormat>
  <Paragraphs>311</Paragraphs>
  <Slides>30</Slides>
  <Notes>24</Notes>
  <HiddenSlides>9</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30</vt:i4>
      </vt:variant>
    </vt:vector>
  </HeadingPairs>
  <TitlesOfParts>
    <vt:vector size="42" baseType="lpstr">
      <vt:lpstr>等线</vt:lpstr>
      <vt:lpstr>LM Roman 12</vt:lpstr>
      <vt:lpstr>Arial</vt:lpstr>
      <vt:lpstr>Bierstadt</vt:lpstr>
      <vt:lpstr>Calibri</vt:lpstr>
      <vt:lpstr>Cambria Math</vt:lpstr>
      <vt:lpstr>Gill Sans MT</vt:lpstr>
      <vt:lpstr>Palatino Linotype</vt:lpstr>
      <vt:lpstr>Wingdings</vt:lpstr>
      <vt:lpstr>Wingdings 2</vt:lpstr>
      <vt:lpstr>Custom</vt:lpstr>
      <vt:lpstr>GestaltVTI</vt:lpstr>
      <vt:lpstr>Bse3214:  Cloud Computing and Big Data </vt:lpstr>
      <vt:lpstr>In last Lecture</vt:lpstr>
      <vt:lpstr>In this Lecture</vt:lpstr>
      <vt:lpstr>Cloud economics</vt:lpstr>
      <vt:lpstr>What is cloud economics analysis</vt:lpstr>
      <vt:lpstr>Why do companies move to the cloud</vt:lpstr>
      <vt:lpstr>Economic benefits of the cloud</vt:lpstr>
      <vt:lpstr>Cloud Use cases and considerations </vt:lpstr>
      <vt:lpstr>Cloud economics</vt:lpstr>
      <vt:lpstr>Pillars cloud of economics approach</vt:lpstr>
      <vt:lpstr>Pillars of cloud economics approach</vt:lpstr>
      <vt:lpstr>SWOT Analysis of Cloud Computing</vt:lpstr>
      <vt:lpstr>General Risks in Cloud Computing</vt:lpstr>
      <vt:lpstr>Cost Analysis of Cloud Computing</vt:lpstr>
      <vt:lpstr>Selecting an IaaS Provider</vt:lpstr>
      <vt:lpstr>Cloud Standards and Interoperability</vt:lpstr>
      <vt:lpstr>Successful Cloud Migration Recommendations</vt:lpstr>
      <vt:lpstr>Reasons for cloud economics</vt:lpstr>
      <vt:lpstr>Making a Business Case for Cloud Economics</vt:lpstr>
      <vt:lpstr>Cloud Economics Mistakes to Avoid</vt:lpstr>
      <vt:lpstr>Pricing Strategies</vt:lpstr>
      <vt:lpstr>Getting value for money </vt:lpstr>
      <vt:lpstr>Getting value for money </vt:lpstr>
      <vt:lpstr>Getting value for money </vt:lpstr>
      <vt:lpstr>Getting value for money </vt:lpstr>
      <vt:lpstr>CASE STUDY</vt:lpstr>
      <vt:lpstr>CASE STUDY</vt:lpstr>
      <vt:lpstr>CASE STUDY</vt:lpstr>
      <vt:lpstr>Conclusion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Moses Ntanda</dc:creator>
  <cp:lastModifiedBy>Moses Ntanda</cp:lastModifiedBy>
  <cp:revision>41</cp:revision>
  <dcterms:created xsi:type="dcterms:W3CDTF">2024-09-03T17:20:11Z</dcterms:created>
  <dcterms:modified xsi:type="dcterms:W3CDTF">2025-02-24T13:58:34Z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