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 id="2147483684" r:id="rId5"/>
  </p:sldMasterIdLst>
  <p:notesMasterIdLst>
    <p:notesMasterId r:id="rId36"/>
  </p:notesMasterIdLst>
  <p:handoutMasterIdLst>
    <p:handoutMasterId r:id="rId37"/>
  </p:handoutMasterIdLst>
  <p:sldIdLst>
    <p:sldId id="256" r:id="rId6"/>
    <p:sldId id="693" r:id="rId7"/>
    <p:sldId id="2566" r:id="rId8"/>
    <p:sldId id="702" r:id="rId9"/>
    <p:sldId id="2567" r:id="rId10"/>
    <p:sldId id="2568" r:id="rId11"/>
    <p:sldId id="2569" r:id="rId12"/>
    <p:sldId id="2570" r:id="rId13"/>
    <p:sldId id="2571" r:id="rId14"/>
    <p:sldId id="2572" r:id="rId15"/>
    <p:sldId id="2573" r:id="rId16"/>
    <p:sldId id="2574" r:id="rId17"/>
    <p:sldId id="2575" r:id="rId18"/>
    <p:sldId id="2577" r:id="rId19"/>
    <p:sldId id="2578" r:id="rId20"/>
    <p:sldId id="2579" r:id="rId21"/>
    <p:sldId id="2592" r:id="rId22"/>
    <p:sldId id="2583" r:id="rId23"/>
    <p:sldId id="2593" r:id="rId24"/>
    <p:sldId id="2599" r:id="rId25"/>
    <p:sldId id="2595" r:id="rId26"/>
    <p:sldId id="2596" r:id="rId27"/>
    <p:sldId id="2600" r:id="rId28"/>
    <p:sldId id="2601" r:id="rId29"/>
    <p:sldId id="2603" r:id="rId30"/>
    <p:sldId id="2604" r:id="rId31"/>
    <p:sldId id="2605" r:id="rId32"/>
    <p:sldId id="2606" r:id="rId33"/>
    <p:sldId id="2608" r:id="rId34"/>
    <p:sldId id="260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7DD8F8-2911-40DA-9D29-441A66355278}">
          <p14:sldIdLst>
            <p14:sldId id="256"/>
            <p14:sldId id="693"/>
            <p14:sldId id="2566"/>
            <p14:sldId id="702"/>
            <p14:sldId id="2567"/>
            <p14:sldId id="2568"/>
            <p14:sldId id="2569"/>
            <p14:sldId id="2570"/>
            <p14:sldId id="2571"/>
            <p14:sldId id="2572"/>
            <p14:sldId id="2573"/>
            <p14:sldId id="2574"/>
            <p14:sldId id="2575"/>
            <p14:sldId id="2577"/>
            <p14:sldId id="2578"/>
            <p14:sldId id="2579"/>
            <p14:sldId id="2592"/>
            <p14:sldId id="2583"/>
            <p14:sldId id="2593"/>
            <p14:sldId id="2599"/>
            <p14:sldId id="2595"/>
            <p14:sldId id="2596"/>
            <p14:sldId id="2600"/>
            <p14:sldId id="2601"/>
            <p14:sldId id="2603"/>
            <p14:sldId id="2604"/>
            <p14:sldId id="2605"/>
            <p14:sldId id="2606"/>
            <p14:sldId id="2608"/>
            <p14:sldId id="260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260"/>
    <a:srgbClr val="1A3261"/>
    <a:srgbClr val="4590B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441" autoAdjust="0"/>
  </p:normalViewPr>
  <p:slideViewPr>
    <p:cSldViewPr snapToGrid="0">
      <p:cViewPr varScale="1">
        <p:scale>
          <a:sx n="51" d="100"/>
          <a:sy n="51" d="100"/>
        </p:scale>
        <p:origin x="1663" y="261"/>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ACCC08-719A-4326-B52F-4DCCA2CA8BF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A649DA23-AB08-48F4-BEA6-F30F28E06EC8}">
      <dgm:prSet custT="1"/>
      <dgm:spPr/>
      <dgm:t>
        <a:bodyPr/>
        <a:lstStyle/>
        <a:p>
          <a:pPr>
            <a:lnSpc>
              <a:spcPct val="100000"/>
            </a:lnSpc>
            <a:defRPr b="1"/>
          </a:pPr>
          <a:r>
            <a:rPr lang="en-US" sz="2400" dirty="0">
              <a:solidFill>
                <a:srgbClr val="FF0000"/>
              </a:solidFill>
            </a:rPr>
            <a:t>SaaS Benefits</a:t>
          </a:r>
        </a:p>
      </dgm:t>
    </dgm:pt>
    <dgm:pt modelId="{919548F6-F76E-4DF3-BE3A-505A7AB8827F}" type="parTrans" cxnId="{376B05FB-E724-4B96-B443-082EC7A40E1C}">
      <dgm:prSet/>
      <dgm:spPr/>
      <dgm:t>
        <a:bodyPr/>
        <a:lstStyle/>
        <a:p>
          <a:endParaRPr lang="en-US" sz="2400"/>
        </a:p>
      </dgm:t>
    </dgm:pt>
    <dgm:pt modelId="{BCC74121-CB93-4DA2-9DCF-ABD643B97691}" type="sibTrans" cxnId="{376B05FB-E724-4B96-B443-082EC7A40E1C}">
      <dgm:prSet/>
      <dgm:spPr/>
      <dgm:t>
        <a:bodyPr/>
        <a:lstStyle/>
        <a:p>
          <a:pPr>
            <a:lnSpc>
              <a:spcPct val="100000"/>
            </a:lnSpc>
            <a:defRPr b="1"/>
          </a:pPr>
          <a:endParaRPr lang="en-US" sz="2400"/>
        </a:p>
      </dgm:t>
    </dgm:pt>
    <dgm:pt modelId="{29A83F55-404A-45F6-988A-9F8298DBDDC4}">
      <dgm:prSet custT="1"/>
      <dgm:spPr/>
      <dgm:t>
        <a:bodyPr/>
        <a:lstStyle/>
        <a:p>
          <a:pPr>
            <a:lnSpc>
              <a:spcPct val="100000"/>
            </a:lnSpc>
            <a:buFont typeface="Wingdings" panose="05000000000000000000" pitchFamily="2" charset="2"/>
            <a:buChar char="n"/>
          </a:pPr>
          <a:r>
            <a:rPr lang="en-US" sz="2400" dirty="0"/>
            <a:t>- Cost Effective</a:t>
          </a:r>
        </a:p>
        <a:p>
          <a:pPr>
            <a:lnSpc>
              <a:spcPct val="100000"/>
            </a:lnSpc>
            <a:buFont typeface="Wingdings" panose="05000000000000000000" pitchFamily="2" charset="2"/>
            <a:buChar char="n"/>
          </a:pPr>
          <a:r>
            <a:rPr lang="en-US" sz="2400" dirty="0"/>
            <a:t>- Scalable</a:t>
          </a:r>
        </a:p>
        <a:p>
          <a:pPr>
            <a:lnSpc>
              <a:spcPct val="100000"/>
            </a:lnSpc>
            <a:buFont typeface="Wingdings" panose="05000000000000000000" pitchFamily="2" charset="2"/>
            <a:buChar char="n"/>
          </a:pPr>
          <a:r>
            <a:rPr lang="en-US" sz="2400" dirty="0"/>
            <a:t>- Highly accessible</a:t>
          </a:r>
        </a:p>
        <a:p>
          <a:pPr>
            <a:lnSpc>
              <a:spcPct val="100000"/>
            </a:lnSpc>
            <a:buFont typeface="Wingdings" panose="05000000000000000000" pitchFamily="2" charset="2"/>
            <a:buChar char="n"/>
          </a:pPr>
          <a:r>
            <a:rPr lang="en-US" sz="2400" dirty="0"/>
            <a:t>- Automatic Updates</a:t>
          </a:r>
        </a:p>
        <a:p>
          <a:pPr>
            <a:lnSpc>
              <a:spcPct val="100000"/>
            </a:lnSpc>
            <a:buFont typeface="Wingdings" panose="05000000000000000000" pitchFamily="2" charset="2"/>
            <a:buChar char="n"/>
          </a:pPr>
          <a:endParaRPr lang="en-US" sz="2400" dirty="0"/>
        </a:p>
      </dgm:t>
    </dgm:pt>
    <dgm:pt modelId="{D443B758-64ED-436B-B1F8-07C8AF84CD8D}" type="parTrans" cxnId="{3071A64C-0C60-4EDA-B884-C16CA54BD913}">
      <dgm:prSet/>
      <dgm:spPr/>
      <dgm:t>
        <a:bodyPr/>
        <a:lstStyle/>
        <a:p>
          <a:endParaRPr lang="en-US" sz="2400"/>
        </a:p>
      </dgm:t>
    </dgm:pt>
    <dgm:pt modelId="{B91DC5E7-767E-454D-99B8-7C5FCF62B2E7}" type="sibTrans" cxnId="{3071A64C-0C60-4EDA-B884-C16CA54BD913}">
      <dgm:prSet/>
      <dgm:spPr/>
      <dgm:t>
        <a:bodyPr/>
        <a:lstStyle/>
        <a:p>
          <a:endParaRPr lang="en-US" sz="2400"/>
        </a:p>
      </dgm:t>
    </dgm:pt>
    <dgm:pt modelId="{705D398F-B3B8-4C23-B0D6-289B56B49A19}">
      <dgm:prSet custT="1"/>
      <dgm:spPr/>
      <dgm:t>
        <a:bodyPr/>
        <a:lstStyle/>
        <a:p>
          <a:pPr>
            <a:lnSpc>
              <a:spcPct val="100000"/>
            </a:lnSpc>
            <a:defRPr b="1"/>
          </a:pPr>
          <a:r>
            <a:rPr lang="en-US" sz="2400" dirty="0">
              <a:solidFill>
                <a:srgbClr val="FF0000"/>
              </a:solidFill>
            </a:rPr>
            <a:t>SaaS issues</a:t>
          </a:r>
        </a:p>
      </dgm:t>
    </dgm:pt>
    <dgm:pt modelId="{7724B1E7-236E-41E8-929E-6DFABF251076}" type="parTrans" cxnId="{3CD3DFA0-7F9E-4C1C-957A-3B02B0152E6D}">
      <dgm:prSet/>
      <dgm:spPr/>
      <dgm:t>
        <a:bodyPr/>
        <a:lstStyle/>
        <a:p>
          <a:endParaRPr lang="en-US" sz="2400"/>
        </a:p>
      </dgm:t>
    </dgm:pt>
    <dgm:pt modelId="{60E58AAF-C915-4501-A9F0-5F23B4BF675B}" type="sibTrans" cxnId="{3CD3DFA0-7F9E-4C1C-957A-3B02B0152E6D}">
      <dgm:prSet/>
      <dgm:spPr/>
      <dgm:t>
        <a:bodyPr/>
        <a:lstStyle/>
        <a:p>
          <a:pPr>
            <a:lnSpc>
              <a:spcPct val="100000"/>
            </a:lnSpc>
            <a:defRPr b="1"/>
          </a:pPr>
          <a:endParaRPr lang="en-US" sz="2400"/>
        </a:p>
      </dgm:t>
    </dgm:pt>
    <dgm:pt modelId="{1EE496FE-7ADE-4944-B541-1DC1A7ECC227}">
      <dgm:prSet custT="1"/>
      <dgm:spPr/>
      <dgm:t>
        <a:bodyPr/>
        <a:lstStyle/>
        <a:p>
          <a:pPr>
            <a:lnSpc>
              <a:spcPct val="100000"/>
            </a:lnSpc>
          </a:pPr>
          <a:r>
            <a:rPr lang="en-US" sz="2400" dirty="0"/>
            <a:t>- Integration challenges</a:t>
          </a:r>
        </a:p>
        <a:p>
          <a:pPr>
            <a:lnSpc>
              <a:spcPct val="100000"/>
            </a:lnSpc>
          </a:pPr>
          <a:r>
            <a:rPr lang="en-US" sz="2400" dirty="0"/>
            <a:t>- Vendor lock-in </a:t>
          </a:r>
        </a:p>
        <a:p>
          <a:pPr>
            <a:lnSpc>
              <a:spcPct val="100000"/>
            </a:lnSpc>
          </a:pPr>
          <a:r>
            <a:rPr lang="en-US" sz="2400" dirty="0"/>
            <a:t>- Security risks</a:t>
          </a:r>
        </a:p>
        <a:p>
          <a:pPr>
            <a:lnSpc>
              <a:spcPct val="100000"/>
            </a:lnSpc>
          </a:pPr>
          <a:r>
            <a:rPr lang="en-US" sz="2400" dirty="0"/>
            <a:t>- Data Sovereignty </a:t>
          </a:r>
        </a:p>
      </dgm:t>
    </dgm:pt>
    <dgm:pt modelId="{57C797A6-DCBA-4F55-827E-EDD1946D6F4E}" type="parTrans" cxnId="{82982EC6-4CF7-4DD5-99C6-3431728D6844}">
      <dgm:prSet/>
      <dgm:spPr/>
      <dgm:t>
        <a:bodyPr/>
        <a:lstStyle/>
        <a:p>
          <a:endParaRPr lang="en-US" sz="2400"/>
        </a:p>
      </dgm:t>
    </dgm:pt>
    <dgm:pt modelId="{67BE3E6D-522A-487C-AA04-19511310B5EF}" type="sibTrans" cxnId="{82982EC6-4CF7-4DD5-99C6-3431728D6844}">
      <dgm:prSet/>
      <dgm:spPr/>
      <dgm:t>
        <a:bodyPr/>
        <a:lstStyle/>
        <a:p>
          <a:endParaRPr lang="en-US" sz="2400"/>
        </a:p>
      </dgm:t>
    </dgm:pt>
    <dgm:pt modelId="{62BDFE41-5E02-4532-BB6C-D67954644E7E}">
      <dgm:prSet custT="1"/>
      <dgm:spPr/>
      <dgm:t>
        <a:bodyPr/>
        <a:lstStyle/>
        <a:p>
          <a:pPr>
            <a:lnSpc>
              <a:spcPct val="100000"/>
            </a:lnSpc>
            <a:defRPr b="1"/>
          </a:pPr>
          <a:r>
            <a:rPr lang="en-US" sz="2400" dirty="0">
              <a:solidFill>
                <a:srgbClr val="FF0000"/>
              </a:solidFill>
            </a:rPr>
            <a:t>Interaction Dynamics</a:t>
          </a:r>
        </a:p>
      </dgm:t>
    </dgm:pt>
    <dgm:pt modelId="{844F74D3-ACF2-4A31-BB97-4AE0F092351D}" type="parTrans" cxnId="{013890EB-36E0-49DB-A9DF-1E811D1BB023}">
      <dgm:prSet/>
      <dgm:spPr/>
      <dgm:t>
        <a:bodyPr/>
        <a:lstStyle/>
        <a:p>
          <a:endParaRPr lang="en-US" sz="2400"/>
        </a:p>
      </dgm:t>
    </dgm:pt>
    <dgm:pt modelId="{1983D605-FDD6-49AD-98B0-17C6A2C0BAE5}" type="sibTrans" cxnId="{013890EB-36E0-49DB-A9DF-1E811D1BB023}">
      <dgm:prSet/>
      <dgm:spPr/>
      <dgm:t>
        <a:bodyPr/>
        <a:lstStyle/>
        <a:p>
          <a:endParaRPr lang="en-US" sz="2400"/>
        </a:p>
      </dgm:t>
    </dgm:pt>
    <dgm:pt modelId="{ED92CF75-DC97-46E5-838F-39E37E0AAD2A}">
      <dgm:prSet custT="1"/>
      <dgm:spPr/>
      <dgm:t>
        <a:bodyPr/>
        <a:lstStyle/>
        <a:p>
          <a:pPr>
            <a:lnSpc>
              <a:spcPct val="100000"/>
            </a:lnSpc>
          </a:pPr>
          <a:r>
            <a:rPr lang="en-US" sz="2400" baseline="0" dirty="0"/>
            <a:t>- Access through APIs &amp; Browsers</a:t>
          </a:r>
        </a:p>
        <a:p>
          <a:pPr>
            <a:lnSpc>
              <a:spcPct val="100000"/>
            </a:lnSpc>
          </a:pPr>
          <a:r>
            <a:rPr lang="en-US" sz="2400" baseline="0" dirty="0"/>
            <a:t>- Multi-tenancy</a:t>
          </a:r>
        </a:p>
        <a:p>
          <a:pPr>
            <a:lnSpc>
              <a:spcPct val="100000"/>
            </a:lnSpc>
          </a:pPr>
          <a:r>
            <a:rPr lang="en-US" sz="2400" baseline="0" dirty="0"/>
            <a:t>- Real-time data sync</a:t>
          </a:r>
        </a:p>
      </dgm:t>
    </dgm:pt>
    <dgm:pt modelId="{688304EC-FCA7-4FA5-8FCF-3A6A47818613}" type="parTrans" cxnId="{74DA073C-F9E2-4F31-826C-98F9C0195C00}">
      <dgm:prSet/>
      <dgm:spPr/>
      <dgm:t>
        <a:bodyPr/>
        <a:lstStyle/>
        <a:p>
          <a:endParaRPr lang="en-US" sz="2400"/>
        </a:p>
      </dgm:t>
    </dgm:pt>
    <dgm:pt modelId="{C8FCA181-653C-4EDE-9173-62D27C2F8941}" type="sibTrans" cxnId="{74DA073C-F9E2-4F31-826C-98F9C0195C00}">
      <dgm:prSet/>
      <dgm:spPr/>
      <dgm:t>
        <a:bodyPr/>
        <a:lstStyle/>
        <a:p>
          <a:endParaRPr lang="en-US" sz="2400"/>
        </a:p>
      </dgm:t>
    </dgm:pt>
    <dgm:pt modelId="{BC1DD5F7-CF13-445F-A4D9-245D34A17691}" type="pres">
      <dgm:prSet presAssocID="{C4ACCC08-719A-4326-B52F-4DCCA2CA8BF5}" presName="Name0" presStyleCnt="0">
        <dgm:presLayoutVars>
          <dgm:dir/>
          <dgm:resizeHandles val="exact"/>
        </dgm:presLayoutVars>
      </dgm:prSet>
      <dgm:spPr/>
    </dgm:pt>
    <dgm:pt modelId="{246C04FA-418F-4B89-8D64-F201130ABE6B}" type="pres">
      <dgm:prSet presAssocID="{A649DA23-AB08-48F4-BEA6-F30F28E06EC8}" presName="compNode" presStyleCnt="0"/>
      <dgm:spPr/>
    </dgm:pt>
    <dgm:pt modelId="{07EAC3AC-370A-4869-B730-E3C4A371B68E}" type="pres">
      <dgm:prSet presAssocID="{A649DA23-AB08-48F4-BEA6-F30F28E06EC8}" presName="pictRect" presStyleLbl="revTx" presStyleIdx="0" presStyleCnt="6">
        <dgm:presLayoutVars>
          <dgm:chMax val="0"/>
          <dgm:bulletEnabled/>
        </dgm:presLayoutVars>
      </dgm:prSet>
      <dgm:spPr/>
    </dgm:pt>
    <dgm:pt modelId="{61093B23-7CAD-496C-BB89-D56A2D6E34CF}" type="pres">
      <dgm:prSet presAssocID="{A649DA23-AB08-48F4-BEA6-F30F28E06EC8}" presName="textRect" presStyleLbl="revTx" presStyleIdx="1" presStyleCnt="6" custLinFactNeighborY="3021">
        <dgm:presLayoutVars>
          <dgm:bulletEnabled/>
        </dgm:presLayoutVars>
      </dgm:prSet>
      <dgm:spPr/>
    </dgm:pt>
    <dgm:pt modelId="{F4B825B1-3B02-4E42-BE25-9C0F6DA1509F}" type="pres">
      <dgm:prSet presAssocID="{BCC74121-CB93-4DA2-9DCF-ABD643B97691}" presName="sibTrans" presStyleLbl="sibTrans2D1" presStyleIdx="0" presStyleCnt="0"/>
      <dgm:spPr/>
    </dgm:pt>
    <dgm:pt modelId="{4AC90899-0708-4E43-B679-A76178D4BB43}" type="pres">
      <dgm:prSet presAssocID="{705D398F-B3B8-4C23-B0D6-289B56B49A19}" presName="compNode" presStyleCnt="0"/>
      <dgm:spPr/>
    </dgm:pt>
    <dgm:pt modelId="{1A6879FF-9584-47FA-A5AF-6081A0E0FEA6}" type="pres">
      <dgm:prSet presAssocID="{705D398F-B3B8-4C23-B0D6-289B56B49A19}" presName="pictRect" presStyleLbl="revTx" presStyleIdx="2" presStyleCnt="6">
        <dgm:presLayoutVars>
          <dgm:chMax val="0"/>
          <dgm:bulletEnabled/>
        </dgm:presLayoutVars>
      </dgm:prSet>
      <dgm:spPr/>
    </dgm:pt>
    <dgm:pt modelId="{180BAC68-36FD-4444-A8B0-F0615F1DA29E}" type="pres">
      <dgm:prSet presAssocID="{705D398F-B3B8-4C23-B0D6-289B56B49A19}" presName="textRect" presStyleLbl="revTx" presStyleIdx="3" presStyleCnt="6">
        <dgm:presLayoutVars>
          <dgm:bulletEnabled/>
        </dgm:presLayoutVars>
      </dgm:prSet>
      <dgm:spPr/>
    </dgm:pt>
    <dgm:pt modelId="{B12F1D38-05F0-4BB1-B5EF-7DCECF2A5E2E}" type="pres">
      <dgm:prSet presAssocID="{60E58AAF-C915-4501-A9F0-5F23B4BF675B}" presName="sibTrans" presStyleLbl="sibTrans2D1" presStyleIdx="0" presStyleCnt="0"/>
      <dgm:spPr/>
    </dgm:pt>
    <dgm:pt modelId="{47B589AB-4538-4ADA-B494-E479239854AF}" type="pres">
      <dgm:prSet presAssocID="{62BDFE41-5E02-4532-BB6C-D67954644E7E}" presName="compNode" presStyleCnt="0"/>
      <dgm:spPr/>
    </dgm:pt>
    <dgm:pt modelId="{B46D6A3A-1378-4F91-BF97-E26C2CCC8243}" type="pres">
      <dgm:prSet presAssocID="{62BDFE41-5E02-4532-BB6C-D67954644E7E}" presName="pictRect" presStyleLbl="revTx" presStyleIdx="4" presStyleCnt="6">
        <dgm:presLayoutVars>
          <dgm:chMax val="0"/>
          <dgm:bulletEnabled/>
        </dgm:presLayoutVars>
      </dgm:prSet>
      <dgm:spPr/>
    </dgm:pt>
    <dgm:pt modelId="{BDB6C0FB-7D5F-442E-9773-737A2732E092}" type="pres">
      <dgm:prSet presAssocID="{62BDFE41-5E02-4532-BB6C-D67954644E7E}" presName="textRect" presStyleLbl="revTx" presStyleIdx="5" presStyleCnt="6">
        <dgm:presLayoutVars>
          <dgm:bulletEnabled/>
        </dgm:presLayoutVars>
      </dgm:prSet>
      <dgm:spPr/>
    </dgm:pt>
  </dgm:ptLst>
  <dgm:cxnLst>
    <dgm:cxn modelId="{E703371A-5C7C-4896-944B-6B0D755C4F6C}" type="presOf" srcId="{BCC74121-CB93-4DA2-9DCF-ABD643B97691}" destId="{F4B825B1-3B02-4E42-BE25-9C0F6DA1509F}" srcOrd="0" destOrd="0" presId="urn:microsoft.com/office/officeart/2024/3/layout/hArchList1"/>
    <dgm:cxn modelId="{74DA073C-F9E2-4F31-826C-98F9C0195C00}" srcId="{62BDFE41-5E02-4532-BB6C-D67954644E7E}" destId="{ED92CF75-DC97-46E5-838F-39E37E0AAD2A}" srcOrd="0" destOrd="0" parTransId="{688304EC-FCA7-4FA5-8FCF-3A6A47818613}" sibTransId="{C8FCA181-653C-4EDE-9173-62D27C2F8941}"/>
    <dgm:cxn modelId="{3071A64C-0C60-4EDA-B884-C16CA54BD913}" srcId="{A649DA23-AB08-48F4-BEA6-F30F28E06EC8}" destId="{29A83F55-404A-45F6-988A-9F8298DBDDC4}" srcOrd="0" destOrd="0" parTransId="{D443B758-64ED-436B-B1F8-07C8AF84CD8D}" sibTransId="{B91DC5E7-767E-454D-99B8-7C5FCF62B2E7}"/>
    <dgm:cxn modelId="{58625C71-0374-42B9-97A5-2907E7A5C188}" type="presOf" srcId="{60E58AAF-C915-4501-A9F0-5F23B4BF675B}" destId="{B12F1D38-05F0-4BB1-B5EF-7DCECF2A5E2E}" srcOrd="0" destOrd="0" presId="urn:microsoft.com/office/officeart/2024/3/layout/hArchList1"/>
    <dgm:cxn modelId="{943D5358-A612-4679-B4A0-0CA06F6C394F}" type="presOf" srcId="{29A83F55-404A-45F6-988A-9F8298DBDDC4}" destId="{61093B23-7CAD-496C-BB89-D56A2D6E34CF}" srcOrd="0" destOrd="0" presId="urn:microsoft.com/office/officeart/2024/3/layout/hArchList1"/>
    <dgm:cxn modelId="{D5B665A0-5244-4209-B633-3F1C13AF981F}" type="presOf" srcId="{1EE496FE-7ADE-4944-B541-1DC1A7ECC227}" destId="{180BAC68-36FD-4444-A8B0-F0615F1DA29E}" srcOrd="0" destOrd="0" presId="urn:microsoft.com/office/officeart/2024/3/layout/hArchList1"/>
    <dgm:cxn modelId="{3CD3DFA0-7F9E-4C1C-957A-3B02B0152E6D}" srcId="{C4ACCC08-719A-4326-B52F-4DCCA2CA8BF5}" destId="{705D398F-B3B8-4C23-B0D6-289B56B49A19}" srcOrd="1" destOrd="0" parTransId="{7724B1E7-236E-41E8-929E-6DFABF251076}" sibTransId="{60E58AAF-C915-4501-A9F0-5F23B4BF675B}"/>
    <dgm:cxn modelId="{82982EC6-4CF7-4DD5-99C6-3431728D6844}" srcId="{705D398F-B3B8-4C23-B0D6-289B56B49A19}" destId="{1EE496FE-7ADE-4944-B541-1DC1A7ECC227}" srcOrd="0" destOrd="0" parTransId="{57C797A6-DCBA-4F55-827E-EDD1946D6F4E}" sibTransId="{67BE3E6D-522A-487C-AA04-19511310B5EF}"/>
    <dgm:cxn modelId="{FAD86BCE-E505-45A0-841A-D25EDE92C604}" type="presOf" srcId="{62BDFE41-5E02-4532-BB6C-D67954644E7E}" destId="{B46D6A3A-1378-4F91-BF97-E26C2CCC8243}" srcOrd="0" destOrd="0" presId="urn:microsoft.com/office/officeart/2024/3/layout/hArchList1"/>
    <dgm:cxn modelId="{2AE312D8-2BC4-47C8-9CBB-B320E0E4378E}" type="presOf" srcId="{C4ACCC08-719A-4326-B52F-4DCCA2CA8BF5}" destId="{BC1DD5F7-CF13-445F-A4D9-245D34A17691}" srcOrd="0" destOrd="0" presId="urn:microsoft.com/office/officeart/2024/3/layout/hArchList1"/>
    <dgm:cxn modelId="{9967ADE5-D092-469B-A5C4-BD219AE18DF9}" type="presOf" srcId="{705D398F-B3B8-4C23-B0D6-289B56B49A19}" destId="{1A6879FF-9584-47FA-A5AF-6081A0E0FEA6}" srcOrd="0" destOrd="0" presId="urn:microsoft.com/office/officeart/2024/3/layout/hArchList1"/>
    <dgm:cxn modelId="{E0D413E6-9440-498A-993E-04D772402BA9}" type="presOf" srcId="{A649DA23-AB08-48F4-BEA6-F30F28E06EC8}" destId="{07EAC3AC-370A-4869-B730-E3C4A371B68E}" srcOrd="0" destOrd="0" presId="urn:microsoft.com/office/officeart/2024/3/layout/hArchList1"/>
    <dgm:cxn modelId="{013890EB-36E0-49DB-A9DF-1E811D1BB023}" srcId="{C4ACCC08-719A-4326-B52F-4DCCA2CA8BF5}" destId="{62BDFE41-5E02-4532-BB6C-D67954644E7E}" srcOrd="2" destOrd="0" parTransId="{844F74D3-ACF2-4A31-BB97-4AE0F092351D}" sibTransId="{1983D605-FDD6-49AD-98B0-17C6A2C0BAE5}"/>
    <dgm:cxn modelId="{1CA471ED-0F99-41E3-805D-1A29B39F947A}" type="presOf" srcId="{ED92CF75-DC97-46E5-838F-39E37E0AAD2A}" destId="{BDB6C0FB-7D5F-442E-9773-737A2732E092}" srcOrd="0" destOrd="0" presId="urn:microsoft.com/office/officeart/2024/3/layout/hArchList1"/>
    <dgm:cxn modelId="{376B05FB-E724-4B96-B443-082EC7A40E1C}" srcId="{C4ACCC08-719A-4326-B52F-4DCCA2CA8BF5}" destId="{A649DA23-AB08-48F4-BEA6-F30F28E06EC8}" srcOrd="0" destOrd="0" parTransId="{919548F6-F76E-4DF3-BE3A-505A7AB8827F}" sibTransId="{BCC74121-CB93-4DA2-9DCF-ABD643B97691}"/>
    <dgm:cxn modelId="{81EF00E9-70B9-4D75-A21E-6188D296EBF3}" type="presParOf" srcId="{BC1DD5F7-CF13-445F-A4D9-245D34A17691}" destId="{246C04FA-418F-4B89-8D64-F201130ABE6B}" srcOrd="0" destOrd="0" presId="urn:microsoft.com/office/officeart/2024/3/layout/hArchList1"/>
    <dgm:cxn modelId="{238962FD-B4B0-459F-A4EB-B25ECFC5F6B7}" type="presParOf" srcId="{246C04FA-418F-4B89-8D64-F201130ABE6B}" destId="{07EAC3AC-370A-4869-B730-E3C4A371B68E}" srcOrd="0" destOrd="0" presId="urn:microsoft.com/office/officeart/2024/3/layout/hArchList1"/>
    <dgm:cxn modelId="{0AEB83A5-F4A5-4654-BA77-FB723CDD066C}" type="presParOf" srcId="{246C04FA-418F-4B89-8D64-F201130ABE6B}" destId="{61093B23-7CAD-496C-BB89-D56A2D6E34CF}" srcOrd="1" destOrd="0" presId="urn:microsoft.com/office/officeart/2024/3/layout/hArchList1"/>
    <dgm:cxn modelId="{C517F042-3DBA-498D-A5EA-DF889EF1DE70}" type="presParOf" srcId="{BC1DD5F7-CF13-445F-A4D9-245D34A17691}" destId="{F4B825B1-3B02-4E42-BE25-9C0F6DA1509F}" srcOrd="1" destOrd="0" presId="urn:microsoft.com/office/officeart/2024/3/layout/hArchList1"/>
    <dgm:cxn modelId="{FBCAB4B8-0A5A-438E-BB5A-68D89623FAD6}" type="presParOf" srcId="{BC1DD5F7-CF13-445F-A4D9-245D34A17691}" destId="{4AC90899-0708-4E43-B679-A76178D4BB43}" srcOrd="2" destOrd="0" presId="urn:microsoft.com/office/officeart/2024/3/layout/hArchList1"/>
    <dgm:cxn modelId="{CC80280A-14E0-4BCA-A918-816D033AFF06}" type="presParOf" srcId="{4AC90899-0708-4E43-B679-A76178D4BB43}" destId="{1A6879FF-9584-47FA-A5AF-6081A0E0FEA6}" srcOrd="0" destOrd="0" presId="urn:microsoft.com/office/officeart/2024/3/layout/hArchList1"/>
    <dgm:cxn modelId="{08BCE8BF-0E29-4315-9BEF-9A8A9A07ED7F}" type="presParOf" srcId="{4AC90899-0708-4E43-B679-A76178D4BB43}" destId="{180BAC68-36FD-4444-A8B0-F0615F1DA29E}" srcOrd="1" destOrd="0" presId="urn:microsoft.com/office/officeart/2024/3/layout/hArchList1"/>
    <dgm:cxn modelId="{644D3494-0FBB-43D9-9361-3714941D2236}" type="presParOf" srcId="{BC1DD5F7-CF13-445F-A4D9-245D34A17691}" destId="{B12F1D38-05F0-4BB1-B5EF-7DCECF2A5E2E}" srcOrd="3" destOrd="0" presId="urn:microsoft.com/office/officeart/2024/3/layout/hArchList1"/>
    <dgm:cxn modelId="{CCB7667D-E130-4E12-ACF2-E288779A79B4}" type="presParOf" srcId="{BC1DD5F7-CF13-445F-A4D9-245D34A17691}" destId="{47B589AB-4538-4ADA-B494-E479239854AF}" srcOrd="4" destOrd="0" presId="urn:microsoft.com/office/officeart/2024/3/layout/hArchList1"/>
    <dgm:cxn modelId="{78A2ECE9-7898-4D71-8F01-344E58AB0732}" type="presParOf" srcId="{47B589AB-4538-4ADA-B494-E479239854AF}" destId="{B46D6A3A-1378-4F91-BF97-E26C2CCC8243}" srcOrd="0" destOrd="0" presId="urn:microsoft.com/office/officeart/2024/3/layout/hArchList1"/>
    <dgm:cxn modelId="{D562358B-2D67-4A20-9CA2-33FD67CD33D5}" type="presParOf" srcId="{47B589AB-4538-4ADA-B494-E479239854AF}" destId="{BDB6C0FB-7D5F-442E-9773-737A2732E09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EAC3AC-370A-4869-B730-E3C4A371B68E}">
      <dsp:nvSpPr>
        <dsp:cNvPr id="0" name=""/>
        <dsp:cNvSpPr/>
      </dsp:nvSpPr>
      <dsp:spPr>
        <a:xfrm>
          <a:off x="0" y="0"/>
          <a:ext cx="3481975" cy="46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en-US" sz="2400" kern="1200" dirty="0">
              <a:solidFill>
                <a:srgbClr val="FF0000"/>
              </a:solidFill>
            </a:rPr>
            <a:t>SaaS Benefits</a:t>
          </a:r>
        </a:p>
      </dsp:txBody>
      <dsp:txXfrm>
        <a:off x="0" y="0"/>
        <a:ext cx="3481975" cy="461999"/>
      </dsp:txXfrm>
    </dsp:sp>
    <dsp:sp modelId="{61093B23-7CAD-496C-BB89-D56A2D6E34CF}">
      <dsp:nvSpPr>
        <dsp:cNvPr id="0" name=""/>
        <dsp:cNvSpPr/>
      </dsp:nvSpPr>
      <dsp:spPr>
        <a:xfrm>
          <a:off x="0" y="510287"/>
          <a:ext cx="3481975" cy="1958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Font typeface="Wingdings" panose="05000000000000000000" pitchFamily="2" charset="2"/>
            <a:buNone/>
          </a:pPr>
          <a:r>
            <a:rPr lang="en-US" sz="2400" kern="1200" dirty="0"/>
            <a:t>- Cost Effective</a:t>
          </a:r>
        </a:p>
        <a:p>
          <a:pPr marL="0" lvl="0" indent="0" algn="l" defTabSz="1066800">
            <a:lnSpc>
              <a:spcPct val="100000"/>
            </a:lnSpc>
            <a:spcBef>
              <a:spcPct val="0"/>
            </a:spcBef>
            <a:spcAft>
              <a:spcPct val="35000"/>
            </a:spcAft>
            <a:buFont typeface="Wingdings" panose="05000000000000000000" pitchFamily="2" charset="2"/>
            <a:buNone/>
          </a:pPr>
          <a:r>
            <a:rPr lang="en-US" sz="2400" kern="1200" dirty="0"/>
            <a:t>- Scalable</a:t>
          </a:r>
        </a:p>
        <a:p>
          <a:pPr marL="0" lvl="0" indent="0" algn="l" defTabSz="1066800">
            <a:lnSpc>
              <a:spcPct val="100000"/>
            </a:lnSpc>
            <a:spcBef>
              <a:spcPct val="0"/>
            </a:spcBef>
            <a:spcAft>
              <a:spcPct val="35000"/>
            </a:spcAft>
            <a:buFont typeface="Wingdings" panose="05000000000000000000" pitchFamily="2" charset="2"/>
            <a:buNone/>
          </a:pPr>
          <a:r>
            <a:rPr lang="en-US" sz="2400" kern="1200" dirty="0"/>
            <a:t>- Highly accessible</a:t>
          </a:r>
        </a:p>
        <a:p>
          <a:pPr marL="0" lvl="0" indent="0" algn="l" defTabSz="1066800">
            <a:lnSpc>
              <a:spcPct val="100000"/>
            </a:lnSpc>
            <a:spcBef>
              <a:spcPct val="0"/>
            </a:spcBef>
            <a:spcAft>
              <a:spcPct val="35000"/>
            </a:spcAft>
            <a:buFont typeface="Wingdings" panose="05000000000000000000" pitchFamily="2" charset="2"/>
            <a:buNone/>
          </a:pPr>
          <a:r>
            <a:rPr lang="en-US" sz="2400" kern="1200" dirty="0"/>
            <a:t>- Automatic Updates</a:t>
          </a:r>
        </a:p>
        <a:p>
          <a:pPr marL="0" lvl="0" indent="0" algn="l" defTabSz="1066800">
            <a:lnSpc>
              <a:spcPct val="100000"/>
            </a:lnSpc>
            <a:spcBef>
              <a:spcPct val="0"/>
            </a:spcBef>
            <a:spcAft>
              <a:spcPct val="35000"/>
            </a:spcAft>
            <a:buFont typeface="Wingdings" panose="05000000000000000000" pitchFamily="2" charset="2"/>
            <a:buNone/>
          </a:pPr>
          <a:endParaRPr lang="en-US" sz="2400" kern="1200" dirty="0"/>
        </a:p>
      </dsp:txBody>
      <dsp:txXfrm>
        <a:off x="0" y="510287"/>
        <a:ext cx="3481975" cy="1958592"/>
      </dsp:txXfrm>
    </dsp:sp>
    <dsp:sp modelId="{1A6879FF-9584-47FA-A5AF-6081A0E0FEA6}">
      <dsp:nvSpPr>
        <dsp:cNvPr id="0" name=""/>
        <dsp:cNvSpPr/>
      </dsp:nvSpPr>
      <dsp:spPr>
        <a:xfrm>
          <a:off x="3830173" y="0"/>
          <a:ext cx="3481975" cy="46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en-US" sz="2400" kern="1200" dirty="0">
              <a:solidFill>
                <a:srgbClr val="FF0000"/>
              </a:solidFill>
            </a:rPr>
            <a:t>SaaS issues</a:t>
          </a:r>
        </a:p>
      </dsp:txBody>
      <dsp:txXfrm>
        <a:off x="3830173" y="0"/>
        <a:ext cx="3481975" cy="461999"/>
      </dsp:txXfrm>
    </dsp:sp>
    <dsp:sp modelId="{180BAC68-36FD-4444-A8B0-F0615F1DA29E}">
      <dsp:nvSpPr>
        <dsp:cNvPr id="0" name=""/>
        <dsp:cNvSpPr/>
      </dsp:nvSpPr>
      <dsp:spPr>
        <a:xfrm>
          <a:off x="3830173" y="461999"/>
          <a:ext cx="3481975" cy="1958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dirty="0"/>
            <a:t>- Integration challenges</a:t>
          </a:r>
        </a:p>
        <a:p>
          <a:pPr marL="0" lvl="0" indent="0" algn="l" defTabSz="1066800">
            <a:lnSpc>
              <a:spcPct val="100000"/>
            </a:lnSpc>
            <a:spcBef>
              <a:spcPct val="0"/>
            </a:spcBef>
            <a:spcAft>
              <a:spcPct val="35000"/>
            </a:spcAft>
            <a:buNone/>
          </a:pPr>
          <a:r>
            <a:rPr lang="en-US" sz="2400" kern="1200" dirty="0"/>
            <a:t>- Vendor lock-in </a:t>
          </a:r>
        </a:p>
        <a:p>
          <a:pPr marL="0" lvl="0" indent="0" algn="l" defTabSz="1066800">
            <a:lnSpc>
              <a:spcPct val="100000"/>
            </a:lnSpc>
            <a:spcBef>
              <a:spcPct val="0"/>
            </a:spcBef>
            <a:spcAft>
              <a:spcPct val="35000"/>
            </a:spcAft>
            <a:buNone/>
          </a:pPr>
          <a:r>
            <a:rPr lang="en-US" sz="2400" kern="1200" dirty="0"/>
            <a:t>- Security risks</a:t>
          </a:r>
        </a:p>
        <a:p>
          <a:pPr marL="0" lvl="0" indent="0" algn="l" defTabSz="1066800">
            <a:lnSpc>
              <a:spcPct val="100000"/>
            </a:lnSpc>
            <a:spcBef>
              <a:spcPct val="0"/>
            </a:spcBef>
            <a:spcAft>
              <a:spcPct val="35000"/>
            </a:spcAft>
            <a:buNone/>
          </a:pPr>
          <a:r>
            <a:rPr lang="en-US" sz="2400" kern="1200" dirty="0"/>
            <a:t>- Data Sovereignty </a:t>
          </a:r>
        </a:p>
      </dsp:txBody>
      <dsp:txXfrm>
        <a:off x="3830173" y="461999"/>
        <a:ext cx="3481975" cy="1958592"/>
      </dsp:txXfrm>
    </dsp:sp>
    <dsp:sp modelId="{B46D6A3A-1378-4F91-BF97-E26C2CCC8243}">
      <dsp:nvSpPr>
        <dsp:cNvPr id="0" name=""/>
        <dsp:cNvSpPr/>
      </dsp:nvSpPr>
      <dsp:spPr>
        <a:xfrm>
          <a:off x="7660346" y="0"/>
          <a:ext cx="3481975" cy="46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defRPr b="1"/>
          </a:pPr>
          <a:r>
            <a:rPr lang="en-US" sz="2400" kern="1200" dirty="0">
              <a:solidFill>
                <a:srgbClr val="FF0000"/>
              </a:solidFill>
            </a:rPr>
            <a:t>Interaction Dynamics</a:t>
          </a:r>
        </a:p>
      </dsp:txBody>
      <dsp:txXfrm>
        <a:off x="7660346" y="0"/>
        <a:ext cx="3481975" cy="461999"/>
      </dsp:txXfrm>
    </dsp:sp>
    <dsp:sp modelId="{BDB6C0FB-7D5F-442E-9773-737A2732E092}">
      <dsp:nvSpPr>
        <dsp:cNvPr id="0" name=""/>
        <dsp:cNvSpPr/>
      </dsp:nvSpPr>
      <dsp:spPr>
        <a:xfrm>
          <a:off x="7660346" y="461999"/>
          <a:ext cx="3481975" cy="1958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30480" rIns="30480" bIns="30480" numCol="1" spcCol="1270" anchor="t" anchorCtr="0">
          <a:noAutofit/>
        </a:bodyPr>
        <a:lstStyle/>
        <a:p>
          <a:pPr marL="0" lvl="0" indent="0" algn="l" defTabSz="1066800">
            <a:lnSpc>
              <a:spcPct val="100000"/>
            </a:lnSpc>
            <a:spcBef>
              <a:spcPct val="0"/>
            </a:spcBef>
            <a:spcAft>
              <a:spcPct val="35000"/>
            </a:spcAft>
            <a:buNone/>
          </a:pPr>
          <a:r>
            <a:rPr lang="en-US" sz="2400" kern="1200" baseline="0" dirty="0"/>
            <a:t>- Access through APIs &amp; Browsers</a:t>
          </a:r>
        </a:p>
        <a:p>
          <a:pPr marL="0" lvl="0" indent="0" algn="l" defTabSz="1066800">
            <a:lnSpc>
              <a:spcPct val="100000"/>
            </a:lnSpc>
            <a:spcBef>
              <a:spcPct val="0"/>
            </a:spcBef>
            <a:spcAft>
              <a:spcPct val="35000"/>
            </a:spcAft>
            <a:buNone/>
          </a:pPr>
          <a:r>
            <a:rPr lang="en-US" sz="2400" kern="1200" baseline="0" dirty="0"/>
            <a:t>- Multi-tenancy</a:t>
          </a:r>
        </a:p>
        <a:p>
          <a:pPr marL="0" lvl="0" indent="0" algn="l" defTabSz="1066800">
            <a:lnSpc>
              <a:spcPct val="100000"/>
            </a:lnSpc>
            <a:spcBef>
              <a:spcPct val="0"/>
            </a:spcBef>
            <a:spcAft>
              <a:spcPct val="35000"/>
            </a:spcAft>
            <a:buNone/>
          </a:pPr>
          <a:r>
            <a:rPr lang="en-US" sz="2400" kern="1200" baseline="0" dirty="0"/>
            <a:t>- Real-time data sync</a:t>
          </a:r>
        </a:p>
      </dsp:txBody>
      <dsp:txXfrm>
        <a:off x="7660346" y="461999"/>
        <a:ext cx="3481975" cy="195859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2/17/2025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2/17/2025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solidFill>
                  <a:srgbClr val="333333"/>
                </a:solidFill>
                <a:latin typeface="Arial"/>
                <a:cs typeface="Arial"/>
              </a:rPr>
              <a:t>-</a:t>
            </a:r>
            <a:r>
              <a:rPr lang="en-US" altLang="zh-CN" sz="1200" spc="-20" dirty="0">
                <a:solidFill>
                  <a:srgbClr val="333333"/>
                </a:solidFill>
                <a:latin typeface="Arial"/>
                <a:cs typeface="Arial"/>
              </a:rPr>
              <a:t> </a:t>
            </a:r>
            <a:r>
              <a:rPr lang="en-US" altLang="zh-CN" sz="1200" dirty="0">
                <a:solidFill>
                  <a:srgbClr val="333333"/>
                </a:solidFill>
                <a:latin typeface="Arial"/>
                <a:cs typeface="Arial"/>
              </a:rPr>
              <a:t>Applied</a:t>
            </a:r>
            <a:r>
              <a:rPr lang="en-US" altLang="zh-CN" sz="1200" spc="-20" dirty="0">
                <a:solidFill>
                  <a:srgbClr val="333333"/>
                </a:solidFill>
                <a:latin typeface="Arial"/>
                <a:cs typeface="Arial"/>
              </a:rPr>
              <a:t> </a:t>
            </a:r>
            <a:r>
              <a:rPr lang="en-US" altLang="zh-CN" sz="1200" dirty="0">
                <a:solidFill>
                  <a:srgbClr val="333333"/>
                </a:solidFill>
                <a:latin typeface="Arial"/>
                <a:cs typeface="Arial"/>
              </a:rPr>
              <a:t>Human</a:t>
            </a:r>
            <a:r>
              <a:rPr lang="en-US" altLang="zh-CN" sz="1200" spc="-10" dirty="0">
                <a:solidFill>
                  <a:srgbClr val="333333"/>
                </a:solidFill>
                <a:latin typeface="Arial"/>
                <a:cs typeface="Arial"/>
              </a:rPr>
              <a:t> </a:t>
            </a:r>
            <a:r>
              <a:rPr lang="en-US" altLang="zh-CN" sz="1200" dirty="0">
                <a:solidFill>
                  <a:srgbClr val="333333"/>
                </a:solidFill>
                <a:latin typeface="Arial"/>
                <a:cs typeface="Arial"/>
              </a:rPr>
              <a:t>Machine</a:t>
            </a:r>
            <a:r>
              <a:rPr lang="en-US" altLang="zh-CN" sz="1200" spc="-10" dirty="0">
                <a:solidFill>
                  <a:srgbClr val="333333"/>
                </a:solidFill>
                <a:latin typeface="Arial"/>
                <a:cs typeface="Arial"/>
              </a:rPr>
              <a:t> </a:t>
            </a:r>
            <a:r>
              <a:rPr lang="en-US" altLang="zh-CN" sz="1200" dirty="0">
                <a:solidFill>
                  <a:srgbClr val="333333"/>
                </a:solidFill>
                <a:latin typeface="Arial"/>
                <a:cs typeface="Arial"/>
              </a:rPr>
              <a:t>Intelligence</a:t>
            </a:r>
            <a:r>
              <a:rPr lang="en-US" altLang="zh-CN" sz="1200" spc="-10" dirty="0">
                <a:solidFill>
                  <a:srgbClr val="333333"/>
                </a:solidFill>
                <a:latin typeface="Arial"/>
                <a:cs typeface="Arial"/>
              </a:rPr>
              <a:t> </a:t>
            </a:r>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4087253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1ACA3-C978-93D5-2052-A5BA35FAE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0FA9A-EB90-A016-CF4A-A687AB62A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ACD4B-773B-8AD2-C068-38C477B1CF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35A31-D022-20A4-0081-BC09821DB7B1}"/>
              </a:ext>
            </a:extLst>
          </p:cNvPr>
          <p:cNvSpPr>
            <a:spLocks noGrp="1"/>
          </p:cNvSpPr>
          <p:nvPr>
            <p:ph type="sldNum" sz="quarter" idx="10"/>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415112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286CF-4084-84AA-5916-CB1234B01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3C585-D2F5-24F4-1200-1E8C928E2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E61A6-3121-150E-014B-BBD600F105A5}"/>
              </a:ext>
            </a:extLst>
          </p:cNvPr>
          <p:cNvSpPr>
            <a:spLocks noGrp="1"/>
          </p:cNvSpPr>
          <p:nvPr>
            <p:ph type="body" idx="1"/>
          </p:nvPr>
        </p:nvSpPr>
        <p:spPr/>
        <p:txBody>
          <a:bodyPr/>
          <a:lstStyle/>
          <a:p>
            <a:pPr marL="171450" indent="-171450">
              <a:buFont typeface="Arial" panose="020B0604020202020204" pitchFamily="34" charset="0"/>
              <a:buChar char="•"/>
            </a:pPr>
            <a:r>
              <a:rPr lang="en-US" altLang="zh-CN" dirty="0"/>
              <a:t>Google Workspace provides SaaS applications like Gmail and Google Docs. </a:t>
            </a:r>
          </a:p>
          <a:p>
            <a:pPr marL="0" indent="0">
              <a:buFont typeface="Arial" panose="020B0604020202020204" pitchFamily="34" charset="0"/>
              <a:buNone/>
            </a:pPr>
            <a:endParaRPr lang="zh-CN" altLang="en-US" dirty="0"/>
          </a:p>
        </p:txBody>
      </p:sp>
      <p:sp>
        <p:nvSpPr>
          <p:cNvPr id="4" name="Slide Number Placeholder 3">
            <a:extLst>
              <a:ext uri="{FF2B5EF4-FFF2-40B4-BE49-F238E27FC236}">
                <a16:creationId xmlns:a16="http://schemas.microsoft.com/office/drawing/2014/main" id="{97CC290A-7DBD-D19A-678A-22E13AAFC336}"/>
              </a:ext>
            </a:extLst>
          </p:cNvPr>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1298033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In Salesforce, users customize reports and interfaces, but Salesforce manages servers and databases.</a:t>
            </a:r>
          </a:p>
          <a:p>
            <a:r>
              <a:rPr lang="en-US" altLang="zh-CN" dirty="0"/>
              <a:t>  - This setup is ideal for organizations that want to avoid hardware management.</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5</a:t>
            </a:fld>
            <a:endParaRPr lang="en-US" dirty="0"/>
          </a:p>
        </p:txBody>
      </p:sp>
    </p:spTree>
    <p:extLst>
      <p:ext uri="{BB962C8B-B14F-4D97-AF65-F5344CB8AC3E}">
        <p14:creationId xmlns:p14="http://schemas.microsoft.com/office/powerpoint/2010/main" val="3405667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ltLang="zh-CN" dirty="0"/>
              <a:t>Dropbox offers storage solutions for small businesses without requiring on-site hardware.</a:t>
            </a:r>
          </a:p>
          <a:p>
            <a:pPr marL="171450" indent="-171450">
              <a:buFont typeface="Arial" panose="020B0604020202020204" pitchFamily="34" charset="0"/>
              <a:buChar char="•"/>
            </a:pPr>
            <a:r>
              <a:rPr lang="en-US" altLang="zh-CN" dirty="0"/>
              <a:t>As their needs grow, they simply upgrade the subscription.</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3841290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ltLang="zh-CN" dirty="0"/>
              <a:t>Migrating from Salesforce to another CRM might be challenging due to proprietary data formats.</a:t>
            </a:r>
          </a:p>
          <a:p>
            <a:pPr marL="171450" indent="-171450">
              <a:buFont typeface="Arial" panose="020B0604020202020204" pitchFamily="34" charset="0"/>
              <a:buChar char="•"/>
            </a:pPr>
            <a:r>
              <a:rPr lang="en-US" altLang="zh-CN" dirty="0"/>
              <a:t>Security risks and vendor lock-in are primary concerns when adopting SaaS solutions.</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7</a:t>
            </a:fld>
            <a:endParaRPr lang="en-US" dirty="0"/>
          </a:p>
        </p:txBody>
      </p:sp>
    </p:spTree>
    <p:extLst>
      <p:ext uri="{BB962C8B-B14F-4D97-AF65-F5344CB8AC3E}">
        <p14:creationId xmlns:p14="http://schemas.microsoft.com/office/powerpoint/2010/main" val="3684200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 healthcare provider might find Epic Systems a better fit for managing patient data in the cloud rather than an on-premise solution.</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1624526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ltLang="zh-CN" dirty="0"/>
              <a:t> A large organization adopting Office 365 may need to assess its network capabilities and provide adequate training for staff.</a:t>
            </a:r>
          </a:p>
          <a:p>
            <a:pPr marL="171450" indent="-171450">
              <a:buFont typeface="Arial" panose="020B0604020202020204" pitchFamily="34" charset="0"/>
              <a:buChar char="•"/>
            </a:pP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2609662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 - Public cloud users have access to many services but little control over infrastructure. Private cloud users have greater control but fewer services.</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564177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 SaaS applications like Google Docs allow real-time collaboration with multiple users accessing the same document simultaneously</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2526195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With SaaS, the provider manages everything, so users only need to focus on configuring the application to their needs.</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12</a:t>
            </a:fld>
            <a:endParaRPr lang="en-US" dirty="0"/>
          </a:p>
        </p:txBody>
      </p:sp>
    </p:spTree>
    <p:extLst>
      <p:ext uri="{BB962C8B-B14F-4D97-AF65-F5344CB8AC3E}">
        <p14:creationId xmlns:p14="http://schemas.microsoft.com/office/powerpoint/2010/main" val="4176416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sz="1800" b="0" i="0" u="none" strike="noStrike" baseline="0" dirty="0">
                <a:latin typeface="LiberationSerif"/>
              </a:rPr>
              <a:t>These activities could be related to:</a:t>
            </a:r>
          </a:p>
          <a:p>
            <a:pPr marL="285750" indent="-285750" algn="l">
              <a:buFont typeface="Arial" panose="020B0604020202020204" pitchFamily="34" charset="0"/>
              <a:buChar char="•"/>
            </a:pPr>
            <a:r>
              <a:rPr lang="en-US" altLang="zh-CN" sz="1800" b="0" i="0" u="none" strike="noStrike" baseline="0" dirty="0">
                <a:latin typeface="LiberationSerif"/>
              </a:rPr>
              <a:t>sales  (such as using customer information to generate future leads), </a:t>
            </a:r>
          </a:p>
          <a:p>
            <a:pPr marL="285750" indent="-285750" algn="l">
              <a:buFont typeface="Arial" panose="020B0604020202020204" pitchFamily="34" charset="0"/>
              <a:buChar char="•"/>
            </a:pPr>
            <a:r>
              <a:rPr lang="en-US" altLang="zh-CN" sz="1800" b="0" i="0" u="none" strike="noStrike" baseline="0" dirty="0">
                <a:latin typeface="LiberationSerif"/>
              </a:rPr>
              <a:t>marketing tasks (like using historical sales data to develop sales strategies), </a:t>
            </a:r>
          </a:p>
          <a:p>
            <a:pPr marL="285750" indent="-285750" algn="l">
              <a:buFont typeface="Arial" panose="020B0604020202020204" pitchFamily="34" charset="0"/>
              <a:buChar char="•"/>
            </a:pPr>
            <a:r>
              <a:rPr lang="en-US" altLang="zh-CN" sz="1800" b="0" i="0" u="none" strike="noStrike" baseline="0" dirty="0">
                <a:latin typeface="LiberationSerif"/>
              </a:rPr>
              <a:t>providing better customer service (by using call center data). </a:t>
            </a:r>
          </a:p>
          <a:p>
            <a:pPr marL="0" indent="0" algn="l">
              <a:buFont typeface="Arial" panose="020B0604020202020204" pitchFamily="34" charset="0"/>
              <a:buNone/>
            </a:pPr>
            <a:r>
              <a:rPr lang="en-US" altLang="zh-CN" sz="1800" b="0" i="0" u="none" strike="noStrike" baseline="0" dirty="0">
                <a:latin typeface="LiberationSerif"/>
              </a:rPr>
              <a:t>Salesforce.com provides a comprehensive list of features for all three of these types of activities.</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13</a:t>
            </a:fld>
            <a:endParaRPr lang="en-US" dirty="0"/>
          </a:p>
        </p:txBody>
      </p:sp>
    </p:spTree>
    <p:extLst>
      <p:ext uri="{BB962C8B-B14F-4D97-AF65-F5344CB8AC3E}">
        <p14:creationId xmlns:p14="http://schemas.microsoft.com/office/powerpoint/2010/main" val="3897978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To begin using Salesforce, businesses must first secure an account. </a:t>
            </a:r>
            <a:endParaRPr lang="en-US" altLang="zh-CN" dirty="0"/>
          </a:p>
          <a:p>
            <a:r>
              <a:rPr lang="zh-CN" altLang="en-US" dirty="0"/>
              <a:t>The system administrator plays a vital role in customizing the platform to match the organization's workflow. </a:t>
            </a:r>
            <a:endParaRPr lang="en-US" altLang="zh-CN" dirty="0"/>
          </a:p>
          <a:p>
            <a:r>
              <a:rPr lang="zh-CN" altLang="en-US" dirty="0"/>
              <a:t>This includes importing existing customer data, ensuring a smooth transition and effective utilization of Salesforce's capabilities.</a:t>
            </a:r>
            <a:endParaRPr lang="en-US" altLang="zh-CN" dirty="0"/>
          </a:p>
          <a:p>
            <a:pPr marL="285750" indent="-285750" algn="l">
              <a:buFont typeface="Arial" panose="020B0604020202020204" pitchFamily="34" charset="0"/>
              <a:buChar char="•"/>
            </a:pPr>
            <a:r>
              <a:rPr lang="en-US" altLang="zh-CN" sz="1800" b="0" i="0" u="none" strike="noStrike" baseline="0" dirty="0">
                <a:latin typeface="LiberationSerif"/>
              </a:rPr>
              <a:t>the system administrator belonging to the business has to import their existing customer data into Salesforce.com,</a:t>
            </a:r>
          </a:p>
          <a:p>
            <a:pPr marL="285750" indent="-285750" algn="l">
              <a:buFont typeface="Arial" panose="020B0604020202020204" pitchFamily="34" charset="0"/>
              <a:buChar char="•"/>
            </a:pPr>
            <a:r>
              <a:rPr lang="en-US" altLang="zh-CN" sz="1800" b="0" i="0" u="none" strike="noStrike" baseline="0" dirty="0">
                <a:latin typeface="LiberationSerif"/>
              </a:rPr>
              <a:t>customize the various Salesforce.com screens, and give access rights for the appropriate screens to the employees of the business.</a:t>
            </a:r>
          </a:p>
        </p:txBody>
      </p:sp>
      <p:sp>
        <p:nvSpPr>
          <p:cNvPr id="4" name="Slide Number Placeholder 3"/>
          <p:cNvSpPr>
            <a:spLocks noGrp="1"/>
          </p:cNvSpPr>
          <p:nvPr>
            <p:ph type="sldNum" sz="quarter" idx="5"/>
          </p:nvPr>
        </p:nvSpPr>
        <p:spPr/>
        <p:txBody>
          <a:bodyPr/>
          <a:lstStyle/>
          <a:p>
            <a:fld id="{C6B3AB32-59DF-41F1-9618-EDFBF5049629}" type="slidenum">
              <a:rPr lang="en-US" smtClean="0"/>
              <a:t>14</a:t>
            </a:fld>
            <a:endParaRPr lang="en-US" dirty="0"/>
          </a:p>
        </p:txBody>
      </p:sp>
    </p:spTree>
    <p:extLst>
      <p:ext uri="{BB962C8B-B14F-4D97-AF65-F5344CB8AC3E}">
        <p14:creationId xmlns:p14="http://schemas.microsoft.com/office/powerpoint/2010/main" val="3202208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The Call Center Web page in Salesforce is essential for customer support representatives. It provides functionalities such as call recording, case assignment, and solution searching, enabling representatives to manage customer interactions efficiently. </a:t>
            </a:r>
            <a:endParaRPr lang="en-US" altLang="zh-CN" dirty="0"/>
          </a:p>
        </p:txBody>
      </p:sp>
      <p:sp>
        <p:nvSpPr>
          <p:cNvPr id="4" name="Slide Number Placeholder 3"/>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2213519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Navigating Salesforce's interface is user-friendly, especially with the Cases tab, which allows support representatives to manage customer complaints effectively. The search functionality and Mass Email tool enhance the overall efficiency in handling customer interactions. This slide focuses on the operational aspects of the platform.</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Customization is a significant advantage of Salesforce. Administrators have the ability to add fields to case records, enhancing data relevance and accessibility. The use of picklists simplifies data entry, making it easier for users to interact with the platform. This slide highlights the flexibility of Salesforce in catering to unique business needs.</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195780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63BF7-D2AD-47B0-B689-7EC73BE3A6C0}"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321480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As cloud computing continues to evolve, it is important to recognize its limitations and challenges. This section will provide practical recommendations for consumers.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63BF7-D2AD-47B0-B689-7EC73BE3A6C0}"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618920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5AEC8-4E37-AD97-1222-D27CE0DAB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A32F6-51A3-8A6A-7008-498F654D4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6983E-8E8A-D245-3AAF-D4289C87F522}"/>
              </a:ext>
            </a:extLst>
          </p:cNvPr>
          <p:cNvSpPr>
            <a:spLocks noGrp="1"/>
          </p:cNvSpPr>
          <p:nvPr>
            <p:ph type="body" idx="1"/>
          </p:nvPr>
        </p:nvSpPr>
        <p:spPr/>
        <p:txBody>
          <a:bodyPr/>
          <a:lstStyle/>
          <a:p>
            <a:pPr marL="171450" indent="-171450">
              <a:buFont typeface="Arial" panose="020B0604020202020204" pitchFamily="34" charset="0"/>
              <a:buChar char="•"/>
            </a:pPr>
            <a:r>
              <a:rPr lang="zh-CN" altLang="en-US" dirty="0"/>
              <a:t>Platform as a Service (PaaS) is a cloud computing model that provides customers with a platform for their computing needs, primarily for development. </a:t>
            </a:r>
            <a:endParaRPr lang="en-US" altLang="zh-CN" dirty="0"/>
          </a:p>
          <a:p>
            <a:pPr marL="171450" indent="-171450">
              <a:buFont typeface="Arial" panose="020B0604020202020204" pitchFamily="34" charset="0"/>
              <a:buChar char="•"/>
            </a:pPr>
            <a:r>
              <a:rPr lang="zh-CN" altLang="en-US" dirty="0"/>
              <a:t>This can range from a simple operating system to a comprehensive development platform that includes web servers and libraries. </a:t>
            </a:r>
            <a:endParaRPr lang="en-US" altLang="zh-CN" dirty="0"/>
          </a:p>
          <a:p>
            <a:pPr marL="171450" indent="-171450">
              <a:buFont typeface="Arial" panose="020B0604020202020204" pitchFamily="34" charset="0"/>
              <a:buChar char="•"/>
            </a:pPr>
            <a:r>
              <a:rPr lang="zh-CN" altLang="en-US" dirty="0"/>
              <a:t>PaaS enables developers to focus on building applications without worrying about underlying infrastructure.</a:t>
            </a:r>
            <a:endParaRPr lang="en-US" altLang="zh-CN"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dirty="0"/>
              <a:t>It abstracts infrastructure management, allowing focus on development.</a:t>
            </a:r>
          </a:p>
          <a:p>
            <a:endParaRPr lang="zh-CN" altLang="en-US" dirty="0"/>
          </a:p>
        </p:txBody>
      </p:sp>
      <p:sp>
        <p:nvSpPr>
          <p:cNvPr id="4" name="Slide Number Placeholder 3">
            <a:extLst>
              <a:ext uri="{FF2B5EF4-FFF2-40B4-BE49-F238E27FC236}">
                <a16:creationId xmlns:a16="http://schemas.microsoft.com/office/drawing/2014/main" id="{A51172AF-8D56-EFE3-E8FE-576F2AEC0CBE}"/>
              </a:ext>
            </a:extLst>
          </p:cNvPr>
          <p:cNvSpPr>
            <a:spLocks noGrp="1"/>
          </p:cNvSpPr>
          <p:nvPr>
            <p:ph type="sldNum" sz="quarter" idx="5"/>
          </p:nvPr>
        </p:nvSpPr>
        <p:spPr/>
        <p:txBody>
          <a:bodyPr/>
          <a:lstStyle/>
          <a:p>
            <a:fld id="{C6B3AB32-59DF-41F1-9618-EDFBF5049629}" type="slidenum">
              <a:rPr lang="en-US" smtClean="0"/>
              <a:t>19</a:t>
            </a:fld>
            <a:endParaRPr lang="en-US" dirty="0"/>
          </a:p>
        </p:txBody>
      </p:sp>
    </p:spTree>
    <p:extLst>
      <p:ext uri="{BB962C8B-B14F-4D97-AF65-F5344CB8AC3E}">
        <p14:creationId xmlns:p14="http://schemas.microsoft.com/office/powerpoint/2010/main" val="9074553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651B-BA29-527D-BAA7-32ADED4F9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71E6A-2F10-2A0B-221A-142B387A3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EDD65-3491-C2B4-DC05-642145E59CF0}"/>
              </a:ext>
            </a:extLst>
          </p:cNvPr>
          <p:cNvSpPr>
            <a:spLocks noGrp="1"/>
          </p:cNvSpPr>
          <p:nvPr>
            <p:ph type="body" idx="1"/>
          </p:nvPr>
        </p:nvSpPr>
        <p:spPr/>
        <p:txBody>
          <a:bodyPr/>
          <a:lstStyle/>
          <a:p>
            <a:pPr algn="l"/>
            <a:r>
              <a:rPr lang="en-US" altLang="zh-CN" sz="1800" b="1" i="1" u="none" strike="noStrike" baseline="0" dirty="0">
                <a:solidFill>
                  <a:srgbClr val="810000"/>
                </a:solidFill>
                <a:latin typeface="LiberationSerif-BoldItalic"/>
              </a:rPr>
              <a:t>Analytics</a:t>
            </a:r>
          </a:p>
          <a:p>
            <a:pPr marL="285750" indent="-285750" algn="l">
              <a:buFont typeface="Arial" panose="020B0604020202020204" pitchFamily="34" charset="0"/>
              <a:buChar char="•"/>
            </a:pPr>
            <a:r>
              <a:rPr lang="en-US" altLang="zh-CN" sz="1800" b="0" i="0" u="none" strike="noStrike" baseline="0" dirty="0">
                <a:solidFill>
                  <a:srgbClr val="000000"/>
                </a:solidFill>
                <a:latin typeface="LiberationSerif"/>
              </a:rPr>
              <a:t>You will be able to see which components are getting the most use and which ones are not being used.</a:t>
            </a:r>
          </a:p>
          <a:p>
            <a:pPr marL="285750" indent="-285750" algn="l">
              <a:buFont typeface="Arial" panose="020B0604020202020204" pitchFamily="34" charset="0"/>
              <a:buChar char="•"/>
            </a:pPr>
            <a:r>
              <a:rPr lang="en-US" altLang="zh-CN" sz="1800" b="0" i="0" u="none" strike="noStrike" baseline="0" dirty="0">
                <a:solidFill>
                  <a:srgbClr val="000000"/>
                </a:solidFill>
                <a:latin typeface="LiberationSerif"/>
              </a:rPr>
              <a:t>In a PaaS environment, you will also usually have visibility into the use of the platform. You will be able to determine when new systems need to be added to handle the load. Often, providers give you the ability to automatically spin up new systems when your current ones meet certain load thresholds.</a:t>
            </a:r>
          </a:p>
          <a:p>
            <a:pPr algn="l"/>
            <a:r>
              <a:rPr lang="en-US" altLang="zh-CN" sz="1800" b="1" i="1" u="none" strike="noStrike" baseline="0" dirty="0">
                <a:solidFill>
                  <a:srgbClr val="810000"/>
                </a:solidFill>
                <a:latin typeface="LiberationSerif-BoldItalic"/>
              </a:rPr>
              <a:t>Integration</a:t>
            </a:r>
          </a:p>
          <a:p>
            <a:pPr algn="l"/>
            <a:r>
              <a:rPr lang="en-US" altLang="zh-CN" sz="1800" b="0" i="0" u="none" strike="noStrike" baseline="0" dirty="0">
                <a:solidFill>
                  <a:srgbClr val="000000"/>
                </a:solidFill>
                <a:latin typeface="LiberationSerif"/>
              </a:rPr>
              <a:t>. Conducting business intelligence and</a:t>
            </a:r>
          </a:p>
          <a:p>
            <a:pPr algn="l"/>
            <a:r>
              <a:rPr lang="en-US" altLang="zh-CN" sz="1800" b="0" i="0" u="none" strike="noStrike" baseline="0" dirty="0">
                <a:solidFill>
                  <a:srgbClr val="000000"/>
                </a:solidFill>
                <a:latin typeface="LiberationSerif"/>
              </a:rPr>
              <a:t>reporting should not be a problem from an access point of view, but you could</a:t>
            </a:r>
          </a:p>
          <a:p>
            <a:pPr algn="l"/>
            <a:r>
              <a:rPr lang="en-US" altLang="zh-CN" sz="1800" b="0" i="0" u="none" strike="noStrike" baseline="0" dirty="0">
                <a:solidFill>
                  <a:srgbClr val="000000"/>
                </a:solidFill>
                <a:latin typeface="LiberationSerif"/>
              </a:rPr>
              <a:t>run into issues when it comes to bandwidth usage, because you may be moving</a:t>
            </a:r>
          </a:p>
          <a:p>
            <a:pPr algn="l"/>
            <a:r>
              <a:rPr lang="en-US" altLang="zh-CN" sz="1800" b="0" i="0" u="none" strike="noStrike" baseline="0" dirty="0">
                <a:solidFill>
                  <a:srgbClr val="000000"/>
                </a:solidFill>
                <a:latin typeface="LiberationSerif"/>
              </a:rPr>
              <a:t>large amounts of data between your internal environment and the provider’s</a:t>
            </a:r>
          </a:p>
          <a:p>
            <a:pPr algn="l"/>
            <a:r>
              <a:rPr lang="en-US" altLang="zh-CN" sz="1800" b="0" i="0" u="none" strike="noStrike" baseline="0" dirty="0">
                <a:solidFill>
                  <a:srgbClr val="000000"/>
                </a:solidFill>
                <a:latin typeface="LiberationSerif"/>
              </a:rPr>
              <a:t>environment. So there might be performance concerns there, as opposed to</a:t>
            </a:r>
          </a:p>
          <a:p>
            <a:pPr algn="l"/>
            <a:r>
              <a:rPr lang="en-US" altLang="zh-CN" sz="1800" b="0" i="0" u="none" strike="noStrike" baseline="0" dirty="0">
                <a:solidFill>
                  <a:srgbClr val="000000"/>
                </a:solidFill>
                <a:latin typeface="LiberationSerif"/>
              </a:rPr>
              <a:t>access or functionality concerns.</a:t>
            </a:r>
          </a:p>
          <a:p>
            <a:pPr algn="l"/>
            <a:endParaRPr lang="en-US" altLang="zh-CN" sz="1800" b="0" i="0" u="none" strike="noStrike" baseline="0" dirty="0">
              <a:solidFill>
                <a:srgbClr val="000000"/>
              </a:solidFill>
              <a:latin typeface="LiberationSerif"/>
            </a:endParaRPr>
          </a:p>
          <a:p>
            <a:pPr algn="l"/>
            <a:r>
              <a:rPr lang="en-US" altLang="zh-CN" sz="1800" b="0" i="0" u="none" strike="noStrike" baseline="0" dirty="0">
                <a:latin typeface="LiberationSerif"/>
              </a:rPr>
              <a:t>In a PaaS implementation, the customer is generally responsible for</a:t>
            </a:r>
          </a:p>
          <a:p>
            <a:pPr algn="l"/>
            <a:r>
              <a:rPr lang="en-US" altLang="zh-CN" sz="1800" b="0" i="0" u="none" strike="noStrike" baseline="0" dirty="0">
                <a:latin typeface="LiberationSerif"/>
              </a:rPr>
              <a:t>everything above the operating system and development platform level</a:t>
            </a:r>
            <a:endParaRPr lang="en-US" altLang="zh-CN" sz="1800" b="0" i="0" u="none" strike="noStrike" baseline="0" dirty="0">
              <a:solidFill>
                <a:srgbClr val="000000"/>
              </a:solidFill>
              <a:latin typeface="LiberationSerif"/>
            </a:endParaRPr>
          </a:p>
          <a:p>
            <a:pPr algn="l"/>
            <a:r>
              <a:rPr lang="en-US" altLang="zh-CN" sz="1800" b="0" i="0" u="none" strike="noStrike" baseline="0" dirty="0">
                <a:latin typeface="LiberationSerif"/>
              </a:rPr>
              <a:t>The</a:t>
            </a:r>
          </a:p>
          <a:p>
            <a:pPr algn="l"/>
            <a:r>
              <a:rPr lang="en-US" altLang="zh-CN" sz="1800" b="0" i="0" u="none" strike="noStrike" baseline="0" dirty="0">
                <a:latin typeface="LiberationSerif"/>
              </a:rPr>
              <a:t>database platform may be supplied for you, but you will be responsible for the</a:t>
            </a:r>
          </a:p>
          <a:p>
            <a:pPr algn="l"/>
            <a:r>
              <a:rPr lang="en-US" altLang="zh-CN" sz="1800" b="0" i="0" u="none" strike="noStrike" baseline="0" dirty="0">
                <a:latin typeface="LiberationSerif"/>
              </a:rPr>
              <a:t>data.</a:t>
            </a:r>
            <a:endParaRPr lang="zh-CN" altLang="en-US" dirty="0"/>
          </a:p>
        </p:txBody>
      </p:sp>
      <p:sp>
        <p:nvSpPr>
          <p:cNvPr id="4" name="Slide Number Placeholder 3">
            <a:extLst>
              <a:ext uri="{FF2B5EF4-FFF2-40B4-BE49-F238E27FC236}">
                <a16:creationId xmlns:a16="http://schemas.microsoft.com/office/drawing/2014/main" id="{D37AA66D-2EB7-48D4-C25D-988BF896873F}"/>
              </a:ext>
            </a:extLst>
          </p:cNvPr>
          <p:cNvSpPr>
            <a:spLocks noGrp="1"/>
          </p:cNvSpPr>
          <p:nvPr>
            <p:ph type="sldNum" sz="quarter" idx="5"/>
          </p:nvPr>
        </p:nvSpPr>
        <p:spPr/>
        <p:txBody>
          <a:bodyPr/>
          <a:lstStyle/>
          <a:p>
            <a:fld id="{C6B3AB32-59DF-41F1-9618-EDFBF5049629}" type="slidenum">
              <a:rPr lang="en-US" smtClean="0"/>
              <a:t>20</a:t>
            </a:fld>
            <a:endParaRPr lang="en-US" dirty="0"/>
          </a:p>
        </p:txBody>
      </p:sp>
    </p:spTree>
    <p:extLst>
      <p:ext uri="{BB962C8B-B14F-4D97-AF65-F5344CB8AC3E}">
        <p14:creationId xmlns:p14="http://schemas.microsoft.com/office/powerpoint/2010/main" val="2444975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sz="1800" b="0" i="0" u="none" strike="noStrike" baseline="0" dirty="0">
                <a:latin typeface="LiberationSerif"/>
              </a:rPr>
              <a:t>There have been many drivers influencing the growth of the PaaS market. Many</a:t>
            </a:r>
          </a:p>
          <a:p>
            <a:pPr algn="l"/>
            <a:r>
              <a:rPr lang="en-US" altLang="zh-CN" sz="1800" b="0" i="0" u="none" strike="noStrike" baseline="0" dirty="0">
                <a:latin typeface="LiberationSerif"/>
              </a:rPr>
              <a:t>organizations want to move towards a public cloud model, but can’t find public</a:t>
            </a:r>
          </a:p>
          <a:p>
            <a:pPr algn="l"/>
            <a:r>
              <a:rPr lang="en-US" altLang="zh-CN" sz="1800" b="0" i="0" u="none" strike="noStrike" baseline="0" dirty="0">
                <a:latin typeface="LiberationSerif"/>
              </a:rPr>
              <a:t>SaaS providers offering the applications they need. A PaaS model allows them to</a:t>
            </a:r>
          </a:p>
          <a:p>
            <a:pPr algn="l"/>
            <a:r>
              <a:rPr lang="en-US" altLang="zh-CN" sz="1800" b="0" i="0" u="none" strike="noStrike" baseline="0" dirty="0">
                <a:latin typeface="LiberationSerif"/>
              </a:rPr>
              <a:t>move the infrastructure and platforms out of their internal datacenters while</a:t>
            </a:r>
          </a:p>
          <a:p>
            <a:pPr algn="l"/>
            <a:r>
              <a:rPr lang="en-US" altLang="zh-CN" sz="1800" b="0" i="0" u="none" strike="noStrike" baseline="0" dirty="0">
                <a:latin typeface="LiberationSerif"/>
              </a:rPr>
              <a:t>allowing them to be able to develop the applications they need.</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21</a:t>
            </a:fld>
            <a:endParaRPr lang="en-US" dirty="0"/>
          </a:p>
        </p:txBody>
      </p:sp>
    </p:spTree>
    <p:extLst>
      <p:ext uri="{BB962C8B-B14F-4D97-AF65-F5344CB8AC3E}">
        <p14:creationId xmlns:p14="http://schemas.microsoft.com/office/powerpoint/2010/main" val="228069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One significant concern is vendor lock-in, which occurs when users become dependent on a specific provider's platform.</a:t>
            </a:r>
            <a:endParaRPr lang="en-US" altLang="zh-CN" dirty="0"/>
          </a:p>
          <a:p>
            <a:r>
              <a:rPr lang="zh-CN" altLang="en-US" dirty="0"/>
              <a:t> Additionally, users have limited control over the underlying infrastructure, which can impact performance. </a:t>
            </a:r>
            <a:endParaRPr lang="en-US" altLang="zh-CN" dirty="0"/>
          </a:p>
          <a:p>
            <a:pPr algn="l"/>
            <a:r>
              <a:rPr lang="zh-CN" altLang="en-US" dirty="0"/>
              <a:t>Security is another critical issue, as storing and processing data in the cloud raises concerns about data management and compliance. </a:t>
            </a:r>
            <a:r>
              <a:rPr lang="en-US" altLang="zh-CN" sz="1800" b="0" i="0" u="none" strike="noStrike" baseline="0" dirty="0">
                <a:latin typeface="LiberationSerif"/>
              </a:rPr>
              <a:t>Since the provider has direct access to the systems, they will have direct access to all of the applications and data.</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22</a:t>
            </a:fld>
            <a:endParaRPr lang="en-US" dirty="0"/>
          </a:p>
        </p:txBody>
      </p:sp>
    </p:spTree>
    <p:extLst>
      <p:ext uri="{BB962C8B-B14F-4D97-AF65-F5344CB8AC3E}">
        <p14:creationId xmlns:p14="http://schemas.microsoft.com/office/powerpoint/2010/main" val="27642434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This slide covers several major PaaS providers that are essential in today’s cloud ecosystem. Google App Engine is known for its scalability. Microsoft Azure offers a diverse set of services, while Heroku simplifies app deployment. IBM Cloud Foundry provides enterprise security, and Red Hat OpenShift focuses on containerized applications, showcasing the variety of solutions available in the PaaS market.</a:t>
            </a:r>
            <a:endParaRPr lang="en-US" altLang="zh-CN" dirty="0"/>
          </a:p>
          <a:p>
            <a:pPr algn="l"/>
            <a:r>
              <a:rPr lang="en-US" altLang="zh-CN" sz="1800" b="0" i="0" u="none" strike="noStrike" baseline="0" dirty="0">
                <a:latin typeface="LiberationSerif"/>
              </a:rPr>
              <a:t>Google App Engine is a PaaS solution that enables users to host their</a:t>
            </a:r>
          </a:p>
          <a:p>
            <a:pPr algn="l"/>
            <a:r>
              <a:rPr lang="en-US" altLang="zh-CN" sz="1800" b="0" i="0" u="none" strike="noStrike" baseline="0" dirty="0">
                <a:latin typeface="LiberationSerif"/>
              </a:rPr>
              <a:t>own applications on the same or similar infrastructure as Google Docs,</a:t>
            </a:r>
          </a:p>
          <a:p>
            <a:pPr algn="l"/>
            <a:r>
              <a:rPr lang="en-US" altLang="zh-CN" sz="1800" b="0" i="0" u="none" strike="noStrike" baseline="0" dirty="0">
                <a:latin typeface="LiberationSerif"/>
              </a:rPr>
              <a:t>Google Maps, and other popular Google services. Just as Microsoft</a:t>
            </a:r>
          </a:p>
          <a:p>
            <a:pPr algn="l"/>
            <a:r>
              <a:rPr lang="en-US" altLang="zh-CN" sz="1800" b="0" i="0" u="none" strike="noStrike" baseline="0" dirty="0">
                <a:latin typeface="LiberationSerif"/>
              </a:rPr>
              <a:t>Azure provides a platform to build and execute .NET applications,</a:t>
            </a:r>
          </a:p>
          <a:p>
            <a:pPr algn="l"/>
            <a:r>
              <a:rPr lang="en-US" altLang="zh-CN" sz="1800" b="0" i="0" u="none" strike="noStrike" baseline="0" dirty="0">
                <a:latin typeface="LiberationSerif"/>
              </a:rPr>
              <a:t>Google App Engine enables users to develop and host applications</a:t>
            </a:r>
          </a:p>
          <a:p>
            <a:pPr algn="l"/>
            <a:r>
              <a:rPr lang="en-US" altLang="zh-CN" sz="1800" b="0" i="0" u="none" strike="noStrike" baseline="0" dirty="0">
                <a:latin typeface="LiberationSerif"/>
              </a:rPr>
              <a:t>written using Java, Python, and a new language called Go.6 The</a:t>
            </a:r>
          </a:p>
          <a:p>
            <a:pPr algn="l"/>
            <a:r>
              <a:rPr lang="en-US" altLang="zh-CN" sz="1800" b="0" i="0" u="none" strike="noStrike" baseline="0" dirty="0">
                <a:latin typeface="LiberationSerif"/>
              </a:rPr>
              <a:t>platform also supports other languages that use Java Virtual Machine</a:t>
            </a:r>
          </a:p>
          <a:p>
            <a:pPr algn="l"/>
            <a:r>
              <a:rPr lang="en-US" altLang="zh-CN" sz="1800" b="0" i="0" u="none" strike="noStrike" baseline="0" dirty="0">
                <a:latin typeface="LiberationSerif"/>
              </a:rPr>
              <a:t>(JVM) runtime, such as </a:t>
            </a:r>
            <a:r>
              <a:rPr lang="en-US" altLang="zh-CN" sz="1800" b="0" i="0" u="none" strike="noStrike" baseline="0" dirty="0" err="1">
                <a:latin typeface="LiberationSerif"/>
              </a:rPr>
              <a:t>JRuby</a:t>
            </a:r>
            <a:r>
              <a:rPr lang="en-US" altLang="zh-CN" sz="1800" b="0" i="0" u="none" strike="noStrike" baseline="0" dirty="0">
                <a:latin typeface="LiberationSerif"/>
              </a:rPr>
              <a:t>, JavaScript (Rhino), and Scala</a:t>
            </a:r>
          </a:p>
          <a:p>
            <a:pPr algn="l"/>
            <a:r>
              <a:rPr lang="en-US" altLang="zh-CN" sz="1800" b="0" i="0" u="none" strike="noStrike" baseline="0" dirty="0">
                <a:latin typeface="LiberationSerif"/>
              </a:rPr>
              <a:t>programming languages.</a:t>
            </a:r>
          </a:p>
          <a:p>
            <a:pPr algn="l"/>
            <a:r>
              <a:rPr lang="en-US" altLang="zh-CN" sz="1800" b="0" i="0" u="none" strike="noStrike" baseline="0" dirty="0">
                <a:latin typeface="LiberationSerif"/>
              </a:rPr>
              <a:t>Google App Engine allows a newly developed application to be</a:t>
            </a:r>
          </a:p>
          <a:p>
            <a:pPr algn="l"/>
            <a:r>
              <a:rPr lang="en-US" altLang="zh-CN" sz="1800" b="0" i="0" u="none" strike="noStrike" baseline="0" dirty="0">
                <a:latin typeface="LiberationSerif"/>
              </a:rPr>
              <a:t>served from the developer’s own domain name. For example, if the</a:t>
            </a:r>
          </a:p>
          <a:p>
            <a:pPr algn="l"/>
            <a:r>
              <a:rPr lang="en-US" altLang="zh-CN" sz="1800" b="0" i="0" u="none" strike="noStrike" baseline="0" dirty="0">
                <a:latin typeface="LiberationSerif"/>
              </a:rPr>
              <a:t>developer chooses </a:t>
            </a:r>
            <a:r>
              <a:rPr lang="en-US" altLang="zh-CN" sz="1800" b="0" i="0" u="none" strike="noStrike" baseline="0" dirty="0" err="1">
                <a:latin typeface="LiberationMono"/>
              </a:rPr>
              <a:t>myapp</a:t>
            </a:r>
            <a:r>
              <a:rPr lang="en-US" altLang="zh-CN" sz="1800" b="0" i="0" u="none" strike="noStrike" baseline="0" dirty="0">
                <a:latin typeface="LiberationMono"/>
              </a:rPr>
              <a:t> </a:t>
            </a:r>
            <a:r>
              <a:rPr lang="en-US" altLang="zh-CN" sz="1800" b="0" i="0" u="none" strike="noStrike" baseline="0" dirty="0">
                <a:latin typeface="LiberationSerif"/>
              </a:rPr>
              <a:t>as an application name, the application will</a:t>
            </a:r>
          </a:p>
          <a:p>
            <a:pPr algn="l"/>
            <a:r>
              <a:rPr lang="en-US" altLang="zh-CN" sz="1800" b="0" i="0" u="none" strike="noStrike" baseline="0" dirty="0">
                <a:latin typeface="LiberationSerif"/>
              </a:rPr>
              <a:t>be served at http://myapp.appspot.com. This URL can be shared</a:t>
            </a:r>
          </a:p>
          <a:p>
            <a:pPr algn="l"/>
            <a:r>
              <a:rPr lang="en-US" altLang="zh-CN" sz="1800" b="0" i="0" u="none" strike="noStrike" baseline="0" dirty="0">
                <a:latin typeface="LiberationSerif"/>
              </a:rPr>
              <a:t>publicly or selectively shared with a small group of members. Every</a:t>
            </a:r>
          </a:p>
          <a:p>
            <a:pPr algn="l"/>
            <a:r>
              <a:rPr lang="en-US" altLang="zh-CN" sz="1800" b="0" i="0" u="none" strike="noStrike" baseline="0" dirty="0">
                <a:latin typeface="LiberationSerif"/>
              </a:rPr>
              <a:t>developer can host up to 10 applications for free,</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23</a:t>
            </a:fld>
            <a:endParaRPr lang="en-US" dirty="0"/>
          </a:p>
        </p:txBody>
      </p:sp>
    </p:spTree>
    <p:extLst>
      <p:ext uri="{BB962C8B-B14F-4D97-AF65-F5344CB8AC3E}">
        <p14:creationId xmlns:p14="http://schemas.microsoft.com/office/powerpoint/2010/main" val="3787027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8F76-E4C3-C1EB-8D68-3F84512AC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E8E49-51D2-2995-B966-AA810375A3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5D5AD-BB0E-8426-3318-4DB813CD3C33}"/>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7EB1CD24-ACC0-D619-5196-253952A5E3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63BF7-D2AD-47B0-B689-7EC73BE3A6C0}"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6595491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EAD03-0D83-0503-E7B0-B8B6D8303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E296E-75E6-4755-109E-5B6E8C487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C545D-3802-2D98-82E0-22C8CD3F444A}"/>
              </a:ext>
            </a:extLst>
          </p:cNvPr>
          <p:cNvSpPr>
            <a:spLocks noGrp="1"/>
          </p:cNvSpPr>
          <p:nvPr>
            <p:ph type="body" idx="1"/>
          </p:nvPr>
        </p:nvSpPr>
        <p:spPr/>
        <p:txBody>
          <a:bodyPr/>
          <a:lstStyle/>
          <a:p>
            <a:pPr marL="171450" indent="-171450">
              <a:buFont typeface="Arial" panose="020B0604020202020204" pitchFamily="34" charset="0"/>
              <a:buChar char="•"/>
            </a:pPr>
            <a:r>
              <a:rPr lang="en-US" altLang="zh-CN" sz="1800" b="0" i="0" u="none" strike="noStrike" baseline="0" dirty="0">
                <a:latin typeface="LiberationSerif"/>
              </a:rPr>
              <a:t>An IaaS provider may provide you with hardware resources such as servers</a:t>
            </a:r>
          </a:p>
          <a:p>
            <a:pPr marL="171450" indent="-171450">
              <a:buFont typeface="Arial" panose="020B0604020202020204" pitchFamily="34" charset="0"/>
              <a:buChar char="•"/>
            </a:pPr>
            <a:r>
              <a:rPr lang="en-US" altLang="zh-CN" sz="1800" b="0" i="0" u="none" strike="noStrike" baseline="0" dirty="0">
                <a:latin typeface="LiberationSerif"/>
              </a:rPr>
              <a:t>You could then install whatever you needed to onto the servers. </a:t>
            </a:r>
          </a:p>
          <a:p>
            <a:pPr marL="171450" indent="-171450">
              <a:buFont typeface="Arial" panose="020B0604020202020204" pitchFamily="34" charset="0"/>
              <a:buChar char="•"/>
            </a:pPr>
            <a:r>
              <a:rPr lang="en-US" altLang="zh-CN" sz="1800" b="0" i="0" u="none" strike="noStrike" baseline="0" dirty="0">
                <a:latin typeface="LiberationSerif"/>
              </a:rPr>
              <a:t>This can be costly, though, because the provider would not be able to make use of multitenancy or economies of scale. </a:t>
            </a:r>
          </a:p>
          <a:p>
            <a:pPr marL="171450" indent="-171450">
              <a:buFont typeface="Arial" panose="020B0604020202020204" pitchFamily="34" charset="0"/>
              <a:buChar char="•"/>
            </a:pPr>
            <a:r>
              <a:rPr lang="en-US" altLang="zh-CN" sz="1800" b="0" i="0" u="none" strike="noStrike" baseline="0" dirty="0">
                <a:latin typeface="LiberationSerif"/>
              </a:rPr>
              <a:t>Because the systems are virtualized, the provider is able to take advantage of multitenancy. </a:t>
            </a:r>
          </a:p>
          <a:p>
            <a:pPr marL="171450" indent="-171450">
              <a:buFont typeface="Arial" panose="020B0604020202020204" pitchFamily="34" charset="0"/>
              <a:buChar char="•"/>
            </a:pPr>
            <a:r>
              <a:rPr lang="en-US" altLang="zh-CN" sz="1800" b="0" i="0" u="none" strike="noStrike" baseline="0" dirty="0">
                <a:latin typeface="LiberationSerif"/>
              </a:rPr>
              <a:t>These systems can host many different customers on the same set of physical hardware</a:t>
            </a:r>
          </a:p>
        </p:txBody>
      </p:sp>
      <p:sp>
        <p:nvSpPr>
          <p:cNvPr id="4" name="Slide Number Placeholder 3">
            <a:extLst>
              <a:ext uri="{FF2B5EF4-FFF2-40B4-BE49-F238E27FC236}">
                <a16:creationId xmlns:a16="http://schemas.microsoft.com/office/drawing/2014/main" id="{92801A59-8E95-FE8A-B988-0F60F9FE8908}"/>
              </a:ext>
            </a:extLst>
          </p:cNvPr>
          <p:cNvSpPr>
            <a:spLocks noGrp="1"/>
          </p:cNvSpPr>
          <p:nvPr>
            <p:ph type="sldNum" sz="quarter" idx="5"/>
          </p:nvPr>
        </p:nvSpPr>
        <p:spPr/>
        <p:txBody>
          <a:bodyPr/>
          <a:lstStyle/>
          <a:p>
            <a:fld id="{C6B3AB32-59DF-41F1-9618-EDFBF5049629}" type="slidenum">
              <a:rPr lang="en-US" smtClean="0"/>
              <a:t>25</a:t>
            </a:fld>
            <a:endParaRPr lang="en-US" dirty="0"/>
          </a:p>
        </p:txBody>
      </p:sp>
    </p:spTree>
    <p:extLst>
      <p:ext uri="{BB962C8B-B14F-4D97-AF65-F5344CB8AC3E}">
        <p14:creationId xmlns:p14="http://schemas.microsoft.com/office/powerpoint/2010/main" val="25485094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DD8DD-1891-BECB-B536-E2ABA6F7D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B1D68-6629-6D80-BF44-FE861390BF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3D837-51DD-FEF2-2C82-29F3229FA466}"/>
              </a:ext>
            </a:extLst>
          </p:cNvPr>
          <p:cNvSpPr>
            <a:spLocks noGrp="1"/>
          </p:cNvSpPr>
          <p:nvPr>
            <p:ph type="body" idx="1"/>
          </p:nvPr>
        </p:nvSpPr>
        <p:spPr/>
        <p:txBody>
          <a:bodyPr/>
          <a:lstStyle/>
          <a:p>
            <a:pPr marL="285750" indent="-285750" algn="l">
              <a:buFont typeface="Arial" panose="020B0604020202020204" pitchFamily="34" charset="0"/>
              <a:buChar char="•"/>
            </a:pPr>
            <a:r>
              <a:rPr lang="en-US" altLang="zh-CN" sz="1800" b="0" i="0" u="none" strike="noStrike" baseline="0" dirty="0">
                <a:latin typeface="LiberationSerif"/>
              </a:rPr>
              <a:t>The provider is responsible for the hypervisor layer (if used) and below. </a:t>
            </a:r>
          </a:p>
          <a:p>
            <a:pPr marL="285750" indent="-285750" algn="l">
              <a:buFont typeface="Arial" panose="020B0604020202020204" pitchFamily="34" charset="0"/>
              <a:buChar char="•"/>
            </a:pPr>
            <a:r>
              <a:rPr lang="en-US" altLang="zh-CN" sz="1800" b="0" i="0" u="none" strike="noStrike" baseline="0" dirty="0">
                <a:latin typeface="LiberationSerif"/>
              </a:rPr>
              <a:t>This includes physical hardware, storage, and networking. </a:t>
            </a:r>
          </a:p>
          <a:p>
            <a:pPr marL="285750" indent="-285750" algn="l">
              <a:buFont typeface="Arial" panose="020B0604020202020204" pitchFamily="34" charset="0"/>
              <a:buChar char="•"/>
            </a:pPr>
            <a:r>
              <a:rPr lang="en-US" altLang="zh-CN" sz="1800" b="0" i="0" u="none" strike="noStrike" baseline="0" dirty="0">
                <a:latin typeface="LiberationSerif"/>
              </a:rPr>
              <a:t>The physical hardware will be stored in the provider’s datacenter, but the customer may have full access to it.</a:t>
            </a:r>
            <a:endParaRPr lang="zh-CN" altLang="en-US" dirty="0"/>
          </a:p>
        </p:txBody>
      </p:sp>
      <p:sp>
        <p:nvSpPr>
          <p:cNvPr id="4" name="Slide Number Placeholder 3">
            <a:extLst>
              <a:ext uri="{FF2B5EF4-FFF2-40B4-BE49-F238E27FC236}">
                <a16:creationId xmlns:a16="http://schemas.microsoft.com/office/drawing/2014/main" id="{B4102C6C-DAD5-F16F-3FA1-25499FD1668C}"/>
              </a:ext>
            </a:extLst>
          </p:cNvPr>
          <p:cNvSpPr>
            <a:spLocks noGrp="1"/>
          </p:cNvSpPr>
          <p:nvPr>
            <p:ph type="sldNum" sz="quarter" idx="5"/>
          </p:nvPr>
        </p:nvSpPr>
        <p:spPr/>
        <p:txBody>
          <a:bodyPr/>
          <a:lstStyle/>
          <a:p>
            <a:fld id="{C6B3AB32-59DF-41F1-9618-EDFBF5049629}" type="slidenum">
              <a:rPr lang="en-US" smtClean="0"/>
              <a:t>26</a:t>
            </a:fld>
            <a:endParaRPr lang="en-US" dirty="0"/>
          </a:p>
        </p:txBody>
      </p:sp>
    </p:spTree>
    <p:extLst>
      <p:ext uri="{BB962C8B-B14F-4D97-AF65-F5344CB8AC3E}">
        <p14:creationId xmlns:p14="http://schemas.microsoft.com/office/powerpoint/2010/main" val="9344762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Infrastructure as a Service (IaaS) offers numerous benefits such as flexibility in resource management, reduced costs for physical hardware, and scalability according to the needs of the business. Additionally, IaaS allows organizations to adopt a pay-as-you-go pricing model, making budgeting more manageable. It also provides enhanced disaster recovery options through cloud-based solutions, ensuring business continuity.</a:t>
            </a:r>
            <a:endParaRPr lang="en-US" altLang="zh-CN" dirty="0"/>
          </a:p>
          <a:p>
            <a:pPr algn="l"/>
            <a:r>
              <a:rPr lang="en-US" altLang="zh-CN" sz="1800" b="0" i="0" u="none" strike="noStrike" baseline="0" dirty="0">
                <a:latin typeface="LiberationSerif"/>
              </a:rPr>
              <a:t>Instead of</a:t>
            </a:r>
          </a:p>
          <a:p>
            <a:pPr algn="l"/>
            <a:r>
              <a:rPr lang="en-US" altLang="zh-CN" sz="1800" b="0" i="0" u="none" strike="noStrike" baseline="0" dirty="0">
                <a:latin typeface="LiberationSerif"/>
              </a:rPr>
              <a:t>spending a lot of money expanding a datacenter or building a new datacenter,</a:t>
            </a:r>
          </a:p>
          <a:p>
            <a:pPr algn="l"/>
            <a:r>
              <a:rPr lang="en-US" altLang="zh-CN" sz="1800" b="0" i="0" u="none" strike="noStrike" baseline="0" dirty="0">
                <a:latin typeface="LiberationSerif"/>
              </a:rPr>
              <a:t>organizations are basically renting systems provided by an IaaS provider.</a:t>
            </a:r>
          </a:p>
          <a:p>
            <a:pPr algn="l"/>
            <a:r>
              <a:rPr lang="en-US" altLang="zh-CN" sz="1800" b="0" i="0" u="none" strike="noStrike" baseline="0" dirty="0">
                <a:latin typeface="LiberationSerif"/>
              </a:rPr>
              <a:t>Organizations are also looking at IaaS providers to provide burst capacity.</a:t>
            </a:r>
          </a:p>
          <a:p>
            <a:pPr algn="l"/>
            <a:r>
              <a:rPr lang="en-US" altLang="zh-CN" sz="1800" b="0" i="0" u="none" strike="noStrike" baseline="0" dirty="0">
                <a:latin typeface="LiberationSerif"/>
              </a:rPr>
              <a:t>Some organizations need increased capacity only on certain occasions. For this</a:t>
            </a:r>
          </a:p>
          <a:p>
            <a:pPr algn="l"/>
            <a:r>
              <a:rPr lang="en-US" altLang="zh-CN" sz="1800" b="0" i="0" u="none" strike="noStrike" baseline="0" dirty="0">
                <a:latin typeface="LiberationSerif"/>
              </a:rPr>
              <a:t>reason, they don’t want to spend money on costly permanent solutions. An IaaS</a:t>
            </a:r>
          </a:p>
          <a:p>
            <a:pPr algn="l"/>
            <a:r>
              <a:rPr lang="en-US" altLang="zh-CN" sz="1800" b="0" i="0" u="none" strike="noStrike" baseline="0" dirty="0">
                <a:latin typeface="LiberationSerif"/>
              </a:rPr>
              <a:t>provider customers them to add capacity on a temporary basis. With IaaS,</a:t>
            </a:r>
          </a:p>
          <a:p>
            <a:pPr algn="l"/>
            <a:r>
              <a:rPr lang="en-US" altLang="zh-CN" sz="1800" b="0" i="0" u="none" strike="noStrike" baseline="0" dirty="0">
                <a:latin typeface="LiberationSerif"/>
              </a:rPr>
              <a:t>customers pay for the increased capacity only when they need it.</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27</a:t>
            </a:fld>
            <a:endParaRPr lang="en-US" dirty="0"/>
          </a:p>
        </p:txBody>
      </p:sp>
    </p:spTree>
    <p:extLst>
      <p:ext uri="{BB962C8B-B14F-4D97-AF65-F5344CB8AC3E}">
        <p14:creationId xmlns:p14="http://schemas.microsoft.com/office/powerpoint/2010/main" val="6816480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zh-CN" altLang="en-US" dirty="0"/>
              <a:t>While IaaS provides flexibility and scalability, there are challenges that users must navigate. Security vulnerabilities may occur due to the shared nature of infrastructure. Additionally, managing virtual machines demands expertise, and unexpected costs can arise without diligent monitoring. Users also depend on service providers for uptime, which can affect reliability, and navigating compliance with regulations can be complex.</a:t>
            </a:r>
            <a:endParaRPr lang="en-US" altLang="zh-CN" dirty="0"/>
          </a:p>
          <a:p>
            <a:pPr marL="285750" indent="-285750" algn="l">
              <a:buFont typeface="Arial" panose="020B0604020202020204" pitchFamily="34" charset="0"/>
              <a:buChar char="•"/>
            </a:pPr>
            <a:r>
              <a:rPr lang="en-US" altLang="zh-CN" sz="1800" b="0" i="0" u="none" strike="noStrike" baseline="0" dirty="0">
                <a:latin typeface="LiberationSerif"/>
              </a:rPr>
              <a:t>Most organizations see the benefits, but they worry about the loss of control. </a:t>
            </a:r>
          </a:p>
          <a:p>
            <a:pPr marL="285750" indent="-285750" algn="l">
              <a:buFont typeface="Arial" panose="020B0604020202020204" pitchFamily="34" charset="0"/>
              <a:buChar char="•"/>
            </a:pPr>
            <a:r>
              <a:rPr lang="en-US" altLang="zh-CN" sz="1800" b="0" i="0" u="none" strike="noStrike" baseline="0" dirty="0">
                <a:latin typeface="LiberationSerif"/>
              </a:rPr>
              <a:t>The total cost can also be an issue. In many IaaS environments, you are charged for resource usage, such as</a:t>
            </a:r>
          </a:p>
          <a:p>
            <a:pPr marL="285750" indent="-285750" algn="l">
              <a:buFont typeface="Arial" panose="020B0604020202020204" pitchFamily="34" charset="0"/>
              <a:buChar char="•"/>
            </a:pPr>
            <a:r>
              <a:rPr lang="en-US" altLang="zh-CN" sz="1800" b="0" i="0" u="none" strike="noStrike" baseline="0" dirty="0">
                <a:latin typeface="LiberationSerif"/>
              </a:rPr>
              <a:t>processor and memory. Unless you carefully monitor your system usage, you</a:t>
            </a:r>
          </a:p>
          <a:p>
            <a:pPr marL="285750" indent="-285750" algn="l">
              <a:buFont typeface="Arial" panose="020B0604020202020204" pitchFamily="34" charset="0"/>
              <a:buChar char="•"/>
            </a:pPr>
            <a:r>
              <a:rPr lang="en-US" altLang="zh-CN" sz="1800" b="0" i="0" u="none" strike="noStrike" baseline="0" dirty="0">
                <a:latin typeface="LiberationSerif"/>
              </a:rPr>
              <a:t>may be in for a shock when the bill comes.</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28</a:t>
            </a:fld>
            <a:endParaRPr lang="en-US" dirty="0"/>
          </a:p>
        </p:txBody>
      </p:sp>
    </p:spTree>
    <p:extLst>
      <p:ext uri="{BB962C8B-B14F-4D97-AF65-F5344CB8AC3E}">
        <p14:creationId xmlns:p14="http://schemas.microsoft.com/office/powerpoint/2010/main" val="6089580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The IaaS market is competitive, with several major providers leading the industry. Amazon Web Services (AWS) is recognized for its extensive services, while Microsoft Azure and Google Cloud Platform emphasize integration and data analytics. IBM Cloud targets enterprises with robust security options, and DigitalOcean caters to developers with straightforward pricing and ease of use. This variety allows businesses to choose providers that best meet their needs.</a:t>
            </a:r>
            <a:endParaRPr lang="en-US" altLang="zh-CN" dirty="0"/>
          </a:p>
          <a:p>
            <a:r>
              <a:rPr lang="en-US" altLang="zh-CN" dirty="0"/>
              <a:t>The leading players in the Infrastructure as a Service (IaaS) market are:</a:t>
            </a:r>
          </a:p>
          <a:p>
            <a:endParaRPr lang="en-US" altLang="zh-CN" dirty="0"/>
          </a:p>
          <a:p>
            <a:r>
              <a:rPr lang="en-US" altLang="zh-CN" dirty="0"/>
              <a:t>1.  **Amazon Web Services (AWS)**: Amazon's cloud computing platform offers a wide range of IaaS services, including virtual machines, storage, databases, and more.</a:t>
            </a:r>
          </a:p>
          <a:p>
            <a:r>
              <a:rPr lang="en-US" altLang="zh-CN" dirty="0"/>
              <a:t>2.  **Microsoft Azure**: Microsoft's cloud computing platform provides a suite of IaaS services, including virtual machines, storage, networking, and hybrid solutions.</a:t>
            </a:r>
          </a:p>
          <a:p>
            <a:r>
              <a:rPr lang="en-US" altLang="zh-CN" dirty="0"/>
              <a:t>3.  **Google Cloud Platform (GCP)**: Google's cloud computing platform offers a range of IaaS services, including virtual machines, storage, databases, and more.</a:t>
            </a:r>
          </a:p>
          <a:p>
            <a:r>
              <a:rPr lang="en-US" altLang="zh-CN" dirty="0"/>
              <a:t>4.  **IBM Cloud**: IBM's cloud computing platform provides a suite of IaaS services, including virtual machines, storage, networking, and hybrid solutions.</a:t>
            </a:r>
          </a:p>
          <a:p>
            <a:endParaRPr lang="en-US" altLang="zh-CN" dirty="0"/>
          </a:p>
          <a:p>
            <a:r>
              <a:rPr lang="en-US" altLang="zh-CN" dirty="0"/>
              <a:t>These four companies are often referred to as the "Big Four" in the IaaS market due to their significant market share and influence.</a:t>
            </a:r>
          </a:p>
          <a:p>
            <a:endParaRPr lang="en-US" altLang="zh-CN" dirty="0"/>
          </a:p>
          <a:p>
            <a:r>
              <a:rPr lang="en-US" altLang="zh-CN" dirty="0"/>
              <a:t>Other notable players in the IaaS market include:</a:t>
            </a:r>
          </a:p>
          <a:p>
            <a:endParaRPr lang="en-US" altLang="zh-CN" dirty="0"/>
          </a:p>
          <a:p>
            <a:r>
              <a:rPr lang="en-US" altLang="zh-CN" dirty="0"/>
              <a:t>1.  **Oracle Cloud Infrastructure**: Oracle's cloud computing platform provides a range of IaaS services, including virtual machines, storage, networking, and more.</a:t>
            </a:r>
          </a:p>
          <a:p>
            <a:r>
              <a:rPr lang="en-US" altLang="zh-CN" dirty="0"/>
              <a:t>2.  **Rackspace**: Rackspace is a managed hosting company that offers a range of IaaS services, including virtual machines, storage, and networking.</a:t>
            </a:r>
          </a:p>
          <a:p>
            <a:r>
              <a:rPr lang="en-US" altLang="zh-CN" dirty="0"/>
              <a:t>3.  **CenturyLink**: CenturyLink is a telecommunications company that offers a range of IaaS services, including virtual machines, storage, and networking.</a:t>
            </a:r>
          </a:p>
          <a:p>
            <a:r>
              <a:rPr lang="en-US" altLang="zh-CN" dirty="0"/>
              <a:t>4.  **T-Mobile Business**: T-Mobile's business division offers a range of IaaS services, including virtual machines, storage, and networking.</a:t>
            </a:r>
          </a:p>
          <a:p>
            <a:endParaRPr lang="en-US" altLang="zh-CN" dirty="0"/>
          </a:p>
          <a:p>
            <a:r>
              <a:rPr lang="en-US" altLang="zh-CN" dirty="0"/>
              <a:t>The market share of the leading players in the IaaS market can be summarized as follows:</a:t>
            </a:r>
          </a:p>
          <a:p>
            <a:endParaRPr lang="en-US" altLang="zh-CN" dirty="0"/>
          </a:p>
          <a:p>
            <a:r>
              <a:rPr lang="en-US" altLang="zh-CN" dirty="0"/>
              <a:t>1.  **Amazon Web Services (AWS)**: around 32% market share</a:t>
            </a:r>
          </a:p>
          <a:p>
            <a:r>
              <a:rPr lang="en-US" altLang="zh-CN" dirty="0"/>
              <a:t>2.  **Microsoft Azure**: around 21% market share</a:t>
            </a:r>
          </a:p>
          <a:p>
            <a:r>
              <a:rPr lang="en-US" altLang="zh-CN" dirty="0"/>
              <a:t>3.  **Google Cloud Platform (GCP)**: around 7% market share</a:t>
            </a:r>
          </a:p>
          <a:p>
            <a:r>
              <a:rPr lang="en-US" altLang="zh-CN" dirty="0"/>
              <a:t>4.  **IBM Cloud**: around 6% market share</a:t>
            </a:r>
          </a:p>
          <a:p>
            <a:endParaRPr lang="en-US" altLang="zh-CN" dirty="0"/>
          </a:p>
          <a:p>
            <a:r>
              <a:rPr lang="en-US" altLang="zh-CN" dirty="0"/>
              <a:t>The IaaS market is highly competitive, with a range of new entrants and innovators disrupting traditional service providers.</a:t>
            </a:r>
          </a:p>
          <a:p>
            <a:endParaRPr lang="en-US" altLang="zh-CN" dirty="0"/>
          </a:p>
          <a:p>
            <a:r>
              <a:rPr lang="en-US" altLang="zh-CN" dirty="0"/>
              <a:t>Market Share Data:</a:t>
            </a:r>
          </a:p>
          <a:p>
            <a:endParaRPr lang="en-US" altLang="zh-CN" dirty="0"/>
          </a:p>
          <a:p>
            <a:r>
              <a:rPr lang="en-US" altLang="zh-CN" dirty="0"/>
              <a:t>Source: </a:t>
            </a:r>
            <a:r>
              <a:rPr lang="en-US" altLang="zh-CN" dirty="0" err="1"/>
              <a:t>MarketsandMarkets</a:t>
            </a:r>
            <a:r>
              <a:rPr lang="en-US" altLang="zh-CN" dirty="0"/>
              <a:t> Research Report, "Infrastructure as a Service (IaaS) Market by Solution, Service, Industry Vertical, and Geography - Global Forecast to 2027"</a:t>
            </a:r>
          </a:p>
          <a:p>
            <a:endParaRPr lang="en-US" altLang="zh-CN" dirty="0"/>
          </a:p>
          <a:p>
            <a:r>
              <a:rPr lang="en-US" altLang="zh-CN" dirty="0"/>
              <a:t>Note that the exact market share data may vary depending on the source and methodology used.</a:t>
            </a:r>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29</a:t>
            </a:fld>
            <a:endParaRPr lang="en-US" dirty="0"/>
          </a:p>
        </p:txBody>
      </p:sp>
    </p:spTree>
    <p:extLst>
      <p:ext uri="{BB962C8B-B14F-4D97-AF65-F5344CB8AC3E}">
        <p14:creationId xmlns:p14="http://schemas.microsoft.com/office/powerpoint/2010/main" val="1933510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A131-5DAE-CEA8-32A4-82369EC73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54E34-4F59-4D29-ACC8-09DB7A13B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106FE-29F1-7E6D-FDFF-4A4B27AA938C}"/>
              </a:ext>
            </a:extLst>
          </p:cNvPr>
          <p:cNvSpPr>
            <a:spLocks noGrp="1"/>
          </p:cNvSpPr>
          <p:nvPr>
            <p:ph type="body" idx="1"/>
          </p:nvPr>
        </p:nvSpPr>
        <p:spPr/>
        <p:txBody>
          <a:bodyPr/>
          <a:lstStyle/>
          <a:p>
            <a:pPr marL="171450" indent="-171450">
              <a:buFont typeface="Arial" panose="020B0604020202020204" pitchFamily="34" charset="0"/>
              <a:buChar char="•"/>
            </a:pPr>
            <a:endParaRPr lang="zh-CN" altLang="en-US" dirty="0"/>
          </a:p>
        </p:txBody>
      </p:sp>
      <p:sp>
        <p:nvSpPr>
          <p:cNvPr id="4" name="Slide Number Placeholder 3">
            <a:extLst>
              <a:ext uri="{FF2B5EF4-FFF2-40B4-BE49-F238E27FC236}">
                <a16:creationId xmlns:a16="http://schemas.microsoft.com/office/drawing/2014/main" id="{1BEC315C-8A58-4A52-DCDB-18B02790AE02}"/>
              </a:ext>
            </a:extLst>
          </p:cNvPr>
          <p:cNvSpPr>
            <a:spLocks noGrp="1"/>
          </p:cNvSpPr>
          <p:nvPr>
            <p:ph type="sldNum" sz="quarter" idx="5"/>
          </p:nvPr>
        </p:nvSpPr>
        <p:spPr/>
        <p:txBody>
          <a:bodyPr/>
          <a:lstStyle/>
          <a:p>
            <a:fld id="{C6B3AB32-59DF-41F1-9618-EDFBF5049629}" type="slidenum">
              <a:rPr lang="en-US" smtClean="0"/>
              <a:t>30</a:t>
            </a:fld>
            <a:endParaRPr lang="en-US" dirty="0"/>
          </a:p>
        </p:txBody>
      </p:sp>
    </p:spTree>
    <p:extLst>
      <p:ext uri="{BB962C8B-B14F-4D97-AF65-F5344CB8AC3E}">
        <p14:creationId xmlns:p14="http://schemas.microsoft.com/office/powerpoint/2010/main" val="4196384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2/17/2025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7" y="614407"/>
            <a:ext cx="11309337"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697026"/>
            <a:ext cx="11029616" cy="657721"/>
          </a:xfrm>
        </p:spPr>
        <p:txBody>
          <a:bodyPr/>
          <a:lstStyle/>
          <a:p>
            <a:r>
              <a:rPr lang="en-US" dirty="0"/>
              <a:t>Click to edit Master title style</a:t>
            </a:r>
          </a:p>
        </p:txBody>
      </p:sp>
      <p:sp>
        <p:nvSpPr>
          <p:cNvPr id="3" name="Content Placeholder 2"/>
          <p:cNvSpPr>
            <a:spLocks noGrp="1"/>
          </p:cNvSpPr>
          <p:nvPr>
            <p:ph idx="1"/>
          </p:nvPr>
        </p:nvSpPr>
        <p:spPr>
          <a:xfrm>
            <a:off x="440286" y="1572672"/>
            <a:ext cx="11309338" cy="4379139"/>
          </a:xfrm>
        </p:spPr>
        <p:txBody>
          <a:bodyPr anchor="t">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2/17/2025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4" y="606555"/>
            <a:ext cx="11313654"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81194" y="663848"/>
            <a:ext cx="11029616" cy="708373"/>
          </a:xfrm>
        </p:spPr>
        <p:txBody>
          <a:bodyPr/>
          <a:lstStyle/>
          <a:p>
            <a:r>
              <a:rPr lang="en-US" dirty="0"/>
              <a:t>Click to edit Master title style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2/17/2025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2/17/2025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58E14-23EC-4C25-974C-48FA83988655}"/>
              </a:ext>
            </a:extLst>
          </p:cNvPr>
          <p:cNvSpPr>
            <a:spLocks noGrp="1"/>
          </p:cNvSpPr>
          <p:nvPr>
            <p:ph type="ctrTitle"/>
          </p:nvPr>
        </p:nvSpPr>
        <p:spPr>
          <a:xfrm>
            <a:off x="517870" y="978408"/>
            <a:ext cx="5021183" cy="507422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E9FEDD4-20A1-49F6-9E3E-0B26B426BB73}"/>
              </a:ext>
            </a:extLst>
          </p:cNvPr>
          <p:cNvSpPr>
            <a:spLocks noGrp="1"/>
          </p:cNvSpPr>
          <p:nvPr>
            <p:ph type="subTitle" idx="1"/>
          </p:nvPr>
        </p:nvSpPr>
        <p:spPr>
          <a:xfrm>
            <a:off x="6662167" y="3602038"/>
            <a:ext cx="5021183" cy="2244580"/>
          </a:xfrm>
        </p:spPr>
        <p:txBody>
          <a:bodyPr anchor="b">
            <a:normAutofit/>
          </a:bodyPr>
          <a:lstStyle>
            <a:lvl1pPr marL="0" indent="0" algn="l">
              <a:lnSpc>
                <a:spcPct val="100000"/>
              </a:lnSpc>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580A32F-E6F3-4C2E-B9E3-E47868E42511}"/>
              </a:ext>
            </a:extLst>
          </p:cNvPr>
          <p:cNvSpPr>
            <a:spLocks noGrp="1"/>
          </p:cNvSpPr>
          <p:nvPr>
            <p:ph type="dt" sz="half" idx="10"/>
          </p:nvPr>
        </p:nvSpPr>
        <p:spPr/>
        <p:txBody>
          <a:bodyPr/>
          <a:lstStyle/>
          <a:p>
            <a:fld id="{3391A759-BFF8-4B5B-9ECE-D93AC303B331}" type="datetime1">
              <a:rPr lang="en-US" smtClean="0"/>
              <a:t>2/17/2025</a:t>
            </a:fld>
            <a:endParaRPr lang="en-US"/>
          </a:p>
        </p:txBody>
      </p:sp>
      <p:sp>
        <p:nvSpPr>
          <p:cNvPr id="5" name="Footer Placeholder 4">
            <a:extLst>
              <a:ext uri="{FF2B5EF4-FFF2-40B4-BE49-F238E27FC236}">
                <a16:creationId xmlns:a16="http://schemas.microsoft.com/office/drawing/2014/main" id="{78806724-A87A-4231-BFD9-277482AF78C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30D1AF-36B8-4BB8-BD6A-71194F7BC31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8" name="Rectangle 7">
            <a:extLst>
              <a:ext uri="{FF2B5EF4-FFF2-40B4-BE49-F238E27FC236}">
                <a16:creationId xmlns:a16="http://schemas.microsoft.com/office/drawing/2014/main" id="{F3FF94B3-6D3E-44FE-BB02-A9027C0003C7}"/>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031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63D8A-C68D-4CF9-9D15-3E09BCC09F6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524D94C-E537-4FF3-AAF8-A85F05C31A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824B1D4-6731-4993-8609-16C1D3327986}"/>
              </a:ext>
            </a:extLst>
          </p:cNvPr>
          <p:cNvSpPr>
            <a:spLocks noGrp="1"/>
          </p:cNvSpPr>
          <p:nvPr>
            <p:ph type="dt" sz="half" idx="10"/>
          </p:nvPr>
        </p:nvSpPr>
        <p:spPr/>
        <p:txBody>
          <a:bodyPr/>
          <a:lstStyle/>
          <a:p>
            <a:fld id="{EEBAB316-A2E6-49F2-825C-64AA951E4184}" type="datetime1">
              <a:rPr lang="en-US" smtClean="0"/>
              <a:t>2/17/2025</a:t>
            </a:fld>
            <a:endParaRPr lang="en-US"/>
          </a:p>
        </p:txBody>
      </p:sp>
      <p:sp>
        <p:nvSpPr>
          <p:cNvPr id="5" name="Footer Placeholder 4">
            <a:extLst>
              <a:ext uri="{FF2B5EF4-FFF2-40B4-BE49-F238E27FC236}">
                <a16:creationId xmlns:a16="http://schemas.microsoft.com/office/drawing/2014/main" id="{3DFB7BBD-CEEB-4256-84B2-6D907E1188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72A8B7-F430-4F4A-BB63-481F51E5880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887994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AC1C-A332-4BA5-8C9C-FE0396C81619}"/>
              </a:ext>
            </a:extLst>
          </p:cNvPr>
          <p:cNvSpPr>
            <a:spLocks noGrp="1"/>
          </p:cNvSpPr>
          <p:nvPr>
            <p:ph type="title"/>
          </p:nvPr>
        </p:nvSpPr>
        <p:spPr>
          <a:xfrm>
            <a:off x="517870" y="978408"/>
            <a:ext cx="5020056" cy="4870974"/>
          </a:xfrm>
        </p:spPr>
        <p:txBody>
          <a:bodyPr anchor="t">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8D137-710E-4125-B5E9-F63E7F1C9C9D}"/>
              </a:ext>
            </a:extLst>
          </p:cNvPr>
          <p:cNvSpPr>
            <a:spLocks noGrp="1"/>
          </p:cNvSpPr>
          <p:nvPr>
            <p:ph type="body" idx="1"/>
          </p:nvPr>
        </p:nvSpPr>
        <p:spPr>
          <a:xfrm>
            <a:off x="6662167" y="3566639"/>
            <a:ext cx="5021183" cy="2279979"/>
          </a:xfrm>
        </p:spPr>
        <p:txBody>
          <a:bodyPr anchor="b">
            <a:normAutofit/>
          </a:bodyPr>
          <a:lstStyle>
            <a:lvl1pPr marL="0" indent="0">
              <a:buNone/>
              <a:defRPr sz="22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480C5-E9A6-425E-B050-03E444BE92C9}"/>
              </a:ext>
            </a:extLst>
          </p:cNvPr>
          <p:cNvSpPr>
            <a:spLocks noGrp="1"/>
          </p:cNvSpPr>
          <p:nvPr>
            <p:ph type="dt" sz="half" idx="10"/>
          </p:nvPr>
        </p:nvSpPr>
        <p:spPr/>
        <p:txBody>
          <a:bodyPr/>
          <a:lstStyle/>
          <a:p>
            <a:fld id="{5AE9748B-ADD6-4C5A-8C2A-A39721276E74}" type="datetime1">
              <a:rPr lang="en-US" smtClean="0"/>
              <a:t>2/17/2025</a:t>
            </a:fld>
            <a:endParaRPr lang="en-US"/>
          </a:p>
        </p:txBody>
      </p:sp>
      <p:sp>
        <p:nvSpPr>
          <p:cNvPr id="5" name="Footer Placeholder 4">
            <a:extLst>
              <a:ext uri="{FF2B5EF4-FFF2-40B4-BE49-F238E27FC236}">
                <a16:creationId xmlns:a16="http://schemas.microsoft.com/office/drawing/2014/main" id="{951B4831-6C0B-4E0B-A341-91E4C5D36B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011EE6-252D-46DD-94DF-C42657EF2CD9}"/>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032233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B06-C54A-4B7B-B6D1-436428EAF8E2}"/>
              </a:ext>
            </a:extLst>
          </p:cNvPr>
          <p:cNvSpPr>
            <a:spLocks noGrp="1"/>
          </p:cNvSpPr>
          <p:nvPr>
            <p:ph type="title"/>
          </p:nvPr>
        </p:nvSpPr>
        <p:spPr>
          <a:xfrm>
            <a:off x="517870" y="978408"/>
            <a:ext cx="5021182" cy="52076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723919-9A2F-4D97-8F31-6E35BD5975B0}"/>
              </a:ext>
            </a:extLst>
          </p:cNvPr>
          <p:cNvSpPr>
            <a:spLocks noGrp="1"/>
          </p:cNvSpPr>
          <p:nvPr>
            <p:ph sz="half" idx="1"/>
          </p:nvPr>
        </p:nvSpPr>
        <p:spPr>
          <a:xfrm>
            <a:off x="6063049" y="969264"/>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F8DA345-F684-4BAA-A22C-E725B3A6037F}"/>
              </a:ext>
            </a:extLst>
          </p:cNvPr>
          <p:cNvSpPr>
            <a:spLocks noGrp="1"/>
          </p:cNvSpPr>
          <p:nvPr>
            <p:ph sz="half" idx="2"/>
          </p:nvPr>
        </p:nvSpPr>
        <p:spPr>
          <a:xfrm>
            <a:off x="6063049" y="3621849"/>
            <a:ext cx="5290751" cy="25551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399C52-9753-45D8-9646-CF31BB01577C}"/>
              </a:ext>
            </a:extLst>
          </p:cNvPr>
          <p:cNvSpPr>
            <a:spLocks noGrp="1"/>
          </p:cNvSpPr>
          <p:nvPr>
            <p:ph type="dt" sz="half" idx="10"/>
          </p:nvPr>
        </p:nvSpPr>
        <p:spPr/>
        <p:txBody>
          <a:bodyPr/>
          <a:lstStyle/>
          <a:p>
            <a:fld id="{7241FB0F-3C5C-4949-B933-9C7E511ED094}" type="datetime1">
              <a:rPr lang="en-US" smtClean="0"/>
              <a:t>2/17/2025</a:t>
            </a:fld>
            <a:endParaRPr lang="en-US"/>
          </a:p>
        </p:txBody>
      </p:sp>
      <p:sp>
        <p:nvSpPr>
          <p:cNvPr id="6" name="Footer Placeholder 5">
            <a:extLst>
              <a:ext uri="{FF2B5EF4-FFF2-40B4-BE49-F238E27FC236}">
                <a16:creationId xmlns:a16="http://schemas.microsoft.com/office/drawing/2014/main" id="{C2F95E57-622C-4199-940E-F5462E1AC44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1B7592-00E8-41EF-B749-2A5EA8E460DA}"/>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073703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2291277-967B-4176-B40B-9EC360626994}"/>
              </a:ext>
            </a:extLst>
          </p:cNvPr>
          <p:cNvSpPr/>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2" name="Title 1">
            <a:extLst>
              <a:ext uri="{FF2B5EF4-FFF2-40B4-BE49-F238E27FC236}">
                <a16:creationId xmlns:a16="http://schemas.microsoft.com/office/drawing/2014/main" id="{FCB11C00-F7CB-4484-807A-D12745CD3CC8}"/>
              </a:ext>
            </a:extLst>
          </p:cNvPr>
          <p:cNvSpPr>
            <a:spLocks noGrp="1"/>
          </p:cNvSpPr>
          <p:nvPr>
            <p:ph type="title"/>
          </p:nvPr>
        </p:nvSpPr>
        <p:spPr>
          <a:xfrm>
            <a:off x="517869" y="978119"/>
            <a:ext cx="11165481" cy="107305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FAAA6E-E243-48B3-9585-3C1420B3E19F}"/>
              </a:ext>
            </a:extLst>
          </p:cNvPr>
          <p:cNvSpPr>
            <a:spLocks noGrp="1"/>
          </p:cNvSpPr>
          <p:nvPr>
            <p:ph type="body" idx="1"/>
          </p:nvPr>
        </p:nvSpPr>
        <p:spPr>
          <a:xfrm>
            <a:off x="517870" y="2178908"/>
            <a:ext cx="5020056"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D01B8-0F2E-41A4-B21C-334393F6A677}"/>
              </a:ext>
            </a:extLst>
          </p:cNvPr>
          <p:cNvSpPr>
            <a:spLocks noGrp="1"/>
          </p:cNvSpPr>
          <p:nvPr>
            <p:ph sz="half" idx="2"/>
          </p:nvPr>
        </p:nvSpPr>
        <p:spPr>
          <a:xfrm>
            <a:off x="517870" y="2876085"/>
            <a:ext cx="5020056"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89B23F-3E60-415A-9CE7-0928B5CFB2B3}"/>
              </a:ext>
            </a:extLst>
          </p:cNvPr>
          <p:cNvSpPr>
            <a:spLocks noGrp="1"/>
          </p:cNvSpPr>
          <p:nvPr>
            <p:ph type="body" sz="quarter" idx="3"/>
          </p:nvPr>
        </p:nvSpPr>
        <p:spPr>
          <a:xfrm>
            <a:off x="6662168" y="2178908"/>
            <a:ext cx="5021182" cy="65490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223446-0CDC-402B-8D71-D9D29F6DFFCC}"/>
              </a:ext>
            </a:extLst>
          </p:cNvPr>
          <p:cNvSpPr>
            <a:spLocks noGrp="1"/>
          </p:cNvSpPr>
          <p:nvPr>
            <p:ph sz="quarter" idx="4"/>
          </p:nvPr>
        </p:nvSpPr>
        <p:spPr>
          <a:xfrm>
            <a:off x="6662168" y="2876085"/>
            <a:ext cx="5021182" cy="3322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02B77D3-C6EC-4FFD-9E10-24E1AC542019}"/>
              </a:ext>
            </a:extLst>
          </p:cNvPr>
          <p:cNvSpPr>
            <a:spLocks noGrp="1"/>
          </p:cNvSpPr>
          <p:nvPr>
            <p:ph type="dt" sz="half" idx="10"/>
          </p:nvPr>
        </p:nvSpPr>
        <p:spPr>
          <a:xfrm>
            <a:off x="517870" y="6420414"/>
            <a:ext cx="2743200" cy="365125"/>
          </a:xfrm>
        </p:spPr>
        <p:txBody>
          <a:bodyPr/>
          <a:lstStyle/>
          <a:p>
            <a:fld id="{C2F01D58-E949-4BCB-829A-BBF80E38D59C}" type="datetime1">
              <a:rPr lang="en-US" smtClean="0"/>
              <a:t>2/17/2025</a:t>
            </a:fld>
            <a:endParaRPr lang="en-US"/>
          </a:p>
        </p:txBody>
      </p:sp>
      <p:sp>
        <p:nvSpPr>
          <p:cNvPr id="8" name="Footer Placeholder 7">
            <a:extLst>
              <a:ext uri="{FF2B5EF4-FFF2-40B4-BE49-F238E27FC236}">
                <a16:creationId xmlns:a16="http://schemas.microsoft.com/office/drawing/2014/main" id="{209DF31B-BD07-4DC2-95C2-B77E51AAEFF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54CE5A-3A0A-4AAB-81D2-F1C20636E54C}"/>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644403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216B8-52AB-412B-BBE7-B6BE698FA29B}"/>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BF779C3-9D19-467E-A5D2-0920834DA13C}"/>
              </a:ext>
            </a:extLst>
          </p:cNvPr>
          <p:cNvSpPr>
            <a:spLocks noGrp="1"/>
          </p:cNvSpPr>
          <p:nvPr>
            <p:ph type="dt" sz="half" idx="10"/>
          </p:nvPr>
        </p:nvSpPr>
        <p:spPr/>
        <p:txBody>
          <a:bodyPr/>
          <a:lstStyle/>
          <a:p>
            <a:fld id="{FF10A846-0DA4-4D92-9BF1-DE8C52C1F4DF}" type="datetime1">
              <a:rPr lang="en-US" smtClean="0"/>
              <a:t>2/17/2025</a:t>
            </a:fld>
            <a:endParaRPr lang="en-US"/>
          </a:p>
        </p:txBody>
      </p:sp>
      <p:sp>
        <p:nvSpPr>
          <p:cNvPr id="4" name="Footer Placeholder 3">
            <a:extLst>
              <a:ext uri="{FF2B5EF4-FFF2-40B4-BE49-F238E27FC236}">
                <a16:creationId xmlns:a16="http://schemas.microsoft.com/office/drawing/2014/main" id="{8E272BB4-C8D8-4F74-9677-5AC979932A7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96B49B8-779F-4492-ABD9-96F0D042AC41}"/>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489099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B976BF-9339-48D6-881A-280D15492E05}"/>
              </a:ext>
            </a:extLst>
          </p:cNvPr>
          <p:cNvSpPr>
            <a:spLocks noGrp="1"/>
          </p:cNvSpPr>
          <p:nvPr>
            <p:ph type="dt" sz="half" idx="10"/>
          </p:nvPr>
        </p:nvSpPr>
        <p:spPr/>
        <p:txBody>
          <a:bodyPr/>
          <a:lstStyle/>
          <a:p>
            <a:fld id="{E9412331-4A9C-472F-A7FA-968157338839}" type="datetime1">
              <a:rPr lang="en-US" smtClean="0"/>
              <a:t>2/17/2025</a:t>
            </a:fld>
            <a:endParaRPr lang="en-US"/>
          </a:p>
        </p:txBody>
      </p:sp>
      <p:sp>
        <p:nvSpPr>
          <p:cNvPr id="3" name="Footer Placeholder 2">
            <a:extLst>
              <a:ext uri="{FF2B5EF4-FFF2-40B4-BE49-F238E27FC236}">
                <a16:creationId xmlns:a16="http://schemas.microsoft.com/office/drawing/2014/main" id="{45277605-C9C8-432E-9662-D7D410B151D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22432B6-4A12-46EF-98A7-B5D50BD516F0}"/>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152343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191C-AF68-4230-A7B2-F8F07B486EDC}"/>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8F9F11-5FCF-4D7E-BA51-38CB84277DC9}"/>
              </a:ext>
            </a:extLst>
          </p:cNvPr>
          <p:cNvSpPr>
            <a:spLocks noGrp="1"/>
          </p:cNvSpPr>
          <p:nvPr>
            <p:ph idx="1"/>
          </p:nvPr>
        </p:nvSpPr>
        <p:spPr>
          <a:xfrm>
            <a:off x="6653182" y="987423"/>
            <a:ext cx="5020948"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3B519B-06C0-41BC-95FB-FB1FE436375E}"/>
              </a:ext>
            </a:extLst>
          </p:cNvPr>
          <p:cNvSpPr>
            <a:spLocks noGrp="1"/>
          </p:cNvSpPr>
          <p:nvPr>
            <p:ph type="body" sz="half" idx="2"/>
          </p:nvPr>
        </p:nvSpPr>
        <p:spPr>
          <a:xfrm>
            <a:off x="517870" y="3361038"/>
            <a:ext cx="5020948" cy="2507949"/>
          </a:xfrm>
        </p:spPr>
        <p:txBody>
          <a:bodyPr>
            <a:normAutofit/>
          </a:bodyPr>
          <a:lstStyle>
            <a:lvl1pPr marL="0" indent="0">
              <a:buNone/>
              <a:defRPr sz="24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B8B70C-015C-4832-AFF6-D033E022746B}"/>
              </a:ext>
            </a:extLst>
          </p:cNvPr>
          <p:cNvSpPr>
            <a:spLocks noGrp="1"/>
          </p:cNvSpPr>
          <p:nvPr>
            <p:ph type="dt" sz="half" idx="10"/>
          </p:nvPr>
        </p:nvSpPr>
        <p:spPr/>
        <p:txBody>
          <a:bodyPr/>
          <a:lstStyle/>
          <a:p>
            <a:fld id="{A2197F3D-ED52-43FD-A26D-318B71534485}" type="datetime1">
              <a:rPr lang="en-US" smtClean="0"/>
              <a:t>2/17/2025</a:t>
            </a:fld>
            <a:endParaRPr lang="en-US"/>
          </a:p>
        </p:txBody>
      </p:sp>
      <p:sp>
        <p:nvSpPr>
          <p:cNvPr id="6" name="Footer Placeholder 5">
            <a:extLst>
              <a:ext uri="{FF2B5EF4-FFF2-40B4-BE49-F238E27FC236}">
                <a16:creationId xmlns:a16="http://schemas.microsoft.com/office/drawing/2014/main" id="{BEF1A6FB-8C14-46D1-90A5-0FF11DE786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782C585-6FA1-4E94-9C1C-A1DEDE55108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29126717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8B43-D1CE-43F4-A367-EF1FE9688913}"/>
              </a:ext>
            </a:extLst>
          </p:cNvPr>
          <p:cNvSpPr>
            <a:spLocks noGrp="1"/>
          </p:cNvSpPr>
          <p:nvPr>
            <p:ph type="title"/>
          </p:nvPr>
        </p:nvSpPr>
        <p:spPr>
          <a:xfrm>
            <a:off x="517870" y="978408"/>
            <a:ext cx="5020948" cy="2270641"/>
          </a:xfrm>
        </p:spPr>
        <p:txBody>
          <a:bodyPr anchor="t">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2B73978-8CDF-4C0E-ABA1-7291A0347362}"/>
              </a:ext>
            </a:extLst>
          </p:cNvPr>
          <p:cNvSpPr>
            <a:spLocks noGrp="1"/>
          </p:cNvSpPr>
          <p:nvPr>
            <p:ph type="pic" idx="1"/>
          </p:nvPr>
        </p:nvSpPr>
        <p:spPr>
          <a:xfrm>
            <a:off x="6662168" y="987425"/>
            <a:ext cx="502700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5BECC62-ED45-451E-BEC5-A03C6A554D26}"/>
              </a:ext>
            </a:extLst>
          </p:cNvPr>
          <p:cNvSpPr>
            <a:spLocks noGrp="1"/>
          </p:cNvSpPr>
          <p:nvPr>
            <p:ph type="body" sz="half" idx="2"/>
          </p:nvPr>
        </p:nvSpPr>
        <p:spPr>
          <a:xfrm>
            <a:off x="517870" y="3340442"/>
            <a:ext cx="5020948" cy="2528545"/>
          </a:xfrm>
        </p:spPr>
        <p:txBody>
          <a:bodyPr>
            <a:normAutofit/>
          </a:bodyPr>
          <a:lstStyle>
            <a:lvl1pPr marL="0" indent="0">
              <a:buNone/>
              <a:defRPr sz="2200" b="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1A7A86-B983-4315-9312-936B4FCF75FE}"/>
              </a:ext>
            </a:extLst>
          </p:cNvPr>
          <p:cNvSpPr>
            <a:spLocks noGrp="1"/>
          </p:cNvSpPr>
          <p:nvPr>
            <p:ph type="dt" sz="half" idx="10"/>
          </p:nvPr>
        </p:nvSpPr>
        <p:spPr/>
        <p:txBody>
          <a:bodyPr/>
          <a:lstStyle/>
          <a:p>
            <a:fld id="{3D291FA4-6264-4BB8-B3B5-77711EED2D82}" type="datetime1">
              <a:rPr lang="en-US" smtClean="0"/>
              <a:t>2/17/2025</a:t>
            </a:fld>
            <a:endParaRPr lang="en-US"/>
          </a:p>
        </p:txBody>
      </p:sp>
      <p:sp>
        <p:nvSpPr>
          <p:cNvPr id="6" name="Footer Placeholder 5">
            <a:extLst>
              <a:ext uri="{FF2B5EF4-FFF2-40B4-BE49-F238E27FC236}">
                <a16:creationId xmlns:a16="http://schemas.microsoft.com/office/drawing/2014/main" id="{1E2E88C0-25A5-46F9-AB35-EAD50E6B91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F9EA8-45AD-478E-8606-9328245BC8A6}"/>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7402788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6B8E-1D8E-4105-9BBB-D53AD24B738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3825530-6629-4FEA-9670-EB21A2F5BA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64C7A-A73F-46F5-BC33-696671DAEEE7}"/>
              </a:ext>
            </a:extLst>
          </p:cNvPr>
          <p:cNvSpPr>
            <a:spLocks noGrp="1"/>
          </p:cNvSpPr>
          <p:nvPr>
            <p:ph type="dt" sz="half" idx="10"/>
          </p:nvPr>
        </p:nvSpPr>
        <p:spPr/>
        <p:txBody>
          <a:bodyPr/>
          <a:lstStyle/>
          <a:p>
            <a:fld id="{6DFDF398-5DA3-4937-BE3F-7CA1B9158252}" type="datetime1">
              <a:rPr lang="en-US" smtClean="0"/>
              <a:t>2/17/2025</a:t>
            </a:fld>
            <a:endParaRPr lang="en-US"/>
          </a:p>
        </p:txBody>
      </p:sp>
      <p:sp>
        <p:nvSpPr>
          <p:cNvPr id="5" name="Footer Placeholder 4">
            <a:extLst>
              <a:ext uri="{FF2B5EF4-FFF2-40B4-BE49-F238E27FC236}">
                <a16:creationId xmlns:a16="http://schemas.microsoft.com/office/drawing/2014/main" id="{512B3CC0-B649-4509-A4B6-DF9D20EFAC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CECCCA-3F2A-46F3-BF45-7C862FF1D752}"/>
              </a:ext>
            </a:extLst>
          </p:cNvPr>
          <p:cNvSpPr>
            <a:spLocks noGrp="1"/>
          </p:cNvSpPr>
          <p:nvPr>
            <p:ph type="sldNum" sz="quarter" idx="12"/>
          </p:nvPr>
        </p:nvSpPr>
        <p:spPr/>
        <p:txBody>
          <a:bodyPr/>
          <a:lstStyle/>
          <a:p>
            <a:fld id="{DFDF98CC-160E-494C-8C3C-8CDC5FA257DE}" type="slidenum">
              <a:rPr lang="en-US" smtClean="0"/>
              <a:t>‹#›</a:t>
            </a:fld>
            <a:endParaRPr lang="en-US"/>
          </a:p>
        </p:txBody>
      </p:sp>
    </p:spTree>
    <p:extLst>
      <p:ext uri="{BB962C8B-B14F-4D97-AF65-F5344CB8AC3E}">
        <p14:creationId xmlns:p14="http://schemas.microsoft.com/office/powerpoint/2010/main" val="3643849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50133B-2446-4168-AA17-6538910668FD}"/>
              </a:ext>
            </a:extLst>
          </p:cNvPr>
          <p:cNvSpPr>
            <a:spLocks noGrp="1"/>
          </p:cNvSpPr>
          <p:nvPr>
            <p:ph type="title" orient="vert"/>
          </p:nvPr>
        </p:nvSpPr>
        <p:spPr>
          <a:xfrm>
            <a:off x="6662168" y="996791"/>
            <a:ext cx="5011962" cy="495692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006A9AD-2756-4C51-A958-6756301EB938}"/>
              </a:ext>
            </a:extLst>
          </p:cNvPr>
          <p:cNvSpPr>
            <a:spLocks noGrp="1"/>
          </p:cNvSpPr>
          <p:nvPr>
            <p:ph type="body" orient="vert" idx="1"/>
          </p:nvPr>
        </p:nvSpPr>
        <p:spPr>
          <a:xfrm>
            <a:off x="517870" y="996791"/>
            <a:ext cx="5021183" cy="4956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42995D-CCEA-43AF-973B-8B6B56A567E8}"/>
              </a:ext>
            </a:extLst>
          </p:cNvPr>
          <p:cNvSpPr>
            <a:spLocks noGrp="1"/>
          </p:cNvSpPr>
          <p:nvPr>
            <p:ph type="dt" sz="half" idx="10"/>
          </p:nvPr>
        </p:nvSpPr>
        <p:spPr/>
        <p:txBody>
          <a:bodyPr/>
          <a:lstStyle/>
          <a:p>
            <a:fld id="{8F191ED9-F929-4A92-90F9-3C9C84ABBE83}" type="datetime1">
              <a:rPr lang="en-US" smtClean="0"/>
              <a:t>2/17/2025</a:t>
            </a:fld>
            <a:endParaRPr lang="en-US"/>
          </a:p>
        </p:txBody>
      </p:sp>
      <p:sp>
        <p:nvSpPr>
          <p:cNvPr id="5" name="Footer Placeholder 4">
            <a:extLst>
              <a:ext uri="{FF2B5EF4-FFF2-40B4-BE49-F238E27FC236}">
                <a16:creationId xmlns:a16="http://schemas.microsoft.com/office/drawing/2014/main" id="{2A4029CF-BA62-4CCD-956E-FFA0B37B8A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CE0B3D-96AB-41B3-ABDD-5B0DE863DAFC}"/>
              </a:ext>
            </a:extLst>
          </p:cNvPr>
          <p:cNvSpPr>
            <a:spLocks noGrp="1"/>
          </p:cNvSpPr>
          <p:nvPr>
            <p:ph type="sldNum" sz="quarter" idx="12"/>
          </p:nvPr>
        </p:nvSpPr>
        <p:spPr/>
        <p:txBody>
          <a:bodyPr/>
          <a:lstStyle/>
          <a:p>
            <a:fld id="{DFDF98CC-160E-494C-8C3C-8CDC5FA257DE}" type="slidenum">
              <a:rPr lang="en-US" smtClean="0"/>
              <a:t>‹#›</a:t>
            </a:fld>
            <a:endParaRPr lang="en-US"/>
          </a:p>
        </p:txBody>
      </p:sp>
      <p:sp>
        <p:nvSpPr>
          <p:cNvPr id="12" name="Rectangle 11">
            <a:extLst>
              <a:ext uri="{FF2B5EF4-FFF2-40B4-BE49-F238E27FC236}">
                <a16:creationId xmlns:a16="http://schemas.microsoft.com/office/drawing/2014/main" id="{4618136A-0796-46EB-89BB-4C73C0258FE9}"/>
              </a:ext>
              <a:ext uri="{C183D7F6-B498-43B3-948B-1728B52AA6E4}">
                <adec:decorative xmlns:adec="http://schemas.microsoft.com/office/drawing/2017/decorative" val="1"/>
              </a:ext>
            </a:extLst>
          </p:cNvPr>
          <p:cNvSpPr/>
          <p:nvPr/>
        </p:nvSpPr>
        <p:spPr>
          <a:xfrm>
            <a:off x="6662168" y="6209925"/>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5916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2/17/2025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1" descr="F:\mak-logo-clear.png">
            <a:extLst>
              <a:ext uri="{FF2B5EF4-FFF2-40B4-BE49-F238E27FC236}">
                <a16:creationId xmlns:a16="http://schemas.microsoft.com/office/drawing/2014/main" id="{6B5FC763-E5D6-4237-840D-9E90282E403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446534" y="5951811"/>
            <a:ext cx="681905" cy="55975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32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8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61AD20-E240-4E6F-AF91-689F7AEEE33A}"/>
              </a:ext>
            </a:extLst>
          </p:cNvPr>
          <p:cNvSpPr>
            <a:spLocks noGrp="1"/>
          </p:cNvSpPr>
          <p:nvPr>
            <p:ph type="title"/>
          </p:nvPr>
        </p:nvSpPr>
        <p:spPr>
          <a:xfrm>
            <a:off x="517870" y="978408"/>
            <a:ext cx="5021182" cy="487045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E78801-35D1-4C19-BC2B-EAC7EE917E73}"/>
              </a:ext>
            </a:extLst>
          </p:cNvPr>
          <p:cNvSpPr>
            <a:spLocks noGrp="1"/>
          </p:cNvSpPr>
          <p:nvPr>
            <p:ph type="body" idx="1"/>
          </p:nvPr>
        </p:nvSpPr>
        <p:spPr>
          <a:xfrm>
            <a:off x="6662168" y="969264"/>
            <a:ext cx="5021182" cy="48704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1282A45-C5B9-4575-8E28-A35767B4D71C}"/>
              </a:ext>
            </a:extLst>
          </p:cNvPr>
          <p:cNvSpPr>
            <a:spLocks noGrp="1"/>
          </p:cNvSpPr>
          <p:nvPr>
            <p:ph type="dt" sz="half" idx="2"/>
          </p:nvPr>
        </p:nvSpPr>
        <p:spPr>
          <a:xfrm>
            <a:off x="517870" y="6420414"/>
            <a:ext cx="2743200" cy="365125"/>
          </a:xfrm>
          <a:prstGeom prst="rect">
            <a:avLst/>
          </a:prstGeom>
        </p:spPr>
        <p:txBody>
          <a:bodyPr vert="horz" lIns="91440" tIns="45720" rIns="91440" bIns="45720" rtlCol="0" anchor="ctr"/>
          <a:lstStyle>
            <a:lvl1pPr algn="l">
              <a:defRPr sz="900">
                <a:solidFill>
                  <a:schemeClr val="tx1"/>
                </a:solidFill>
              </a:defRPr>
            </a:lvl1pPr>
          </a:lstStyle>
          <a:p>
            <a:fld id="{E7F6A1D9-D323-4F4E-8655-25E2D32CE742}" type="datetime1">
              <a:rPr lang="en-US" smtClean="0"/>
              <a:t>2/17/2025</a:t>
            </a:fld>
            <a:endParaRPr lang="en-US"/>
          </a:p>
        </p:txBody>
      </p:sp>
      <p:sp>
        <p:nvSpPr>
          <p:cNvPr id="5" name="Footer Placeholder 4">
            <a:extLst>
              <a:ext uri="{FF2B5EF4-FFF2-40B4-BE49-F238E27FC236}">
                <a16:creationId xmlns:a16="http://schemas.microsoft.com/office/drawing/2014/main" id="{2E9D0933-AA03-4018-8E37-004CFB9F61D6}"/>
              </a:ext>
            </a:extLst>
          </p:cNvPr>
          <p:cNvSpPr>
            <a:spLocks noGrp="1"/>
          </p:cNvSpPr>
          <p:nvPr>
            <p:ph type="ftr" sz="quarter" idx="3"/>
          </p:nvPr>
        </p:nvSpPr>
        <p:spPr>
          <a:xfrm>
            <a:off x="517870" y="97713"/>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F282A-DF4A-4A2D-9672-8F0F770A3F1A}"/>
              </a:ext>
            </a:extLst>
          </p:cNvPr>
          <p:cNvSpPr>
            <a:spLocks noGrp="1"/>
          </p:cNvSpPr>
          <p:nvPr>
            <p:ph type="sldNum" sz="quarter" idx="4"/>
          </p:nvPr>
        </p:nvSpPr>
        <p:spPr>
          <a:xfrm>
            <a:off x="11454317" y="6420414"/>
            <a:ext cx="637909" cy="365125"/>
          </a:xfrm>
          <a:prstGeom prst="rect">
            <a:avLst/>
          </a:prstGeom>
        </p:spPr>
        <p:txBody>
          <a:bodyPr vert="horz" lIns="91440" tIns="45720" rIns="91440" bIns="45720" rtlCol="0" anchor="ctr"/>
          <a:lstStyle>
            <a:lvl1pPr algn="r">
              <a:defRPr sz="900">
                <a:solidFill>
                  <a:schemeClr val="tx1"/>
                </a:solidFill>
              </a:defRPr>
            </a:lvl1pPr>
          </a:lstStyle>
          <a:p>
            <a:fld id="{DFDF98CC-160E-494C-8C3C-8CDC5FA257DE}" type="slidenum">
              <a:rPr lang="en-US" smtClean="0"/>
              <a:pPr/>
              <a:t>‹#›</a:t>
            </a:fld>
            <a:endParaRPr lang="en-US" dirty="0"/>
          </a:p>
        </p:txBody>
      </p:sp>
      <p:sp>
        <p:nvSpPr>
          <p:cNvPr id="14" name="Rectangle 13">
            <a:extLst>
              <a:ext uri="{FF2B5EF4-FFF2-40B4-BE49-F238E27FC236}">
                <a16:creationId xmlns:a16="http://schemas.microsoft.com/office/drawing/2014/main" id="{ADE57300-C7FF-4578-99A0-42B0295B123C}"/>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B8F8250-7A81-4A19-87AD-FFB2CE4E39A5}"/>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9F38FC-2DEA-2647-C409-EF75720C1017}"/>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41139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100000"/>
        </a:lnSpc>
        <a:spcBef>
          <a:spcPct val="0"/>
        </a:spcBef>
        <a:buNone/>
        <a:defRPr sz="5400" b="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74320" indent="-27432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274320" indent="0" algn="l"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548640" indent="-27432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54864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2290" y="3728435"/>
            <a:ext cx="10993549" cy="1962497"/>
          </a:xfrm>
        </p:spPr>
        <p:txBody>
          <a:bodyPr>
            <a:noAutofit/>
          </a:bodyPr>
          <a:lstStyle/>
          <a:p>
            <a:r>
              <a:rPr lang="en-US" dirty="0">
                <a:solidFill>
                  <a:schemeClr val="bg1"/>
                </a:solidFill>
              </a:rPr>
              <a:t>Bse3214:  </a:t>
            </a:r>
            <a:r>
              <a:rPr lang="en-US" cap="none" dirty="0">
                <a:solidFill>
                  <a:schemeClr val="bg1"/>
                </a:solidFill>
              </a:rPr>
              <a:t>Cloud Computing and Big Data</a:t>
            </a:r>
            <a:br>
              <a:rPr lang="en-US" dirty="0">
                <a:solidFill>
                  <a:schemeClr val="bg1"/>
                </a:solidFill>
              </a:rPr>
            </a:br>
            <a:endParaRPr lang="en-US" dirty="0">
              <a:solidFill>
                <a:schemeClr val="bg1"/>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96717" y="5409315"/>
            <a:ext cx="10993546" cy="814504"/>
          </a:xfrm>
        </p:spPr>
        <p:txBody>
          <a:bodyPr>
            <a:normAutofit/>
          </a:bodyPr>
          <a:lstStyle/>
          <a:p>
            <a:pPr algn="r"/>
            <a:r>
              <a:rPr lang="en-US" altLang="zh-CN" sz="2400" dirty="0">
                <a:solidFill>
                  <a:srgbClr val="7CEBFF"/>
                </a:solidFill>
              </a:rPr>
              <a:t>Dynamic Interactions and Computing Architectures</a:t>
            </a:r>
            <a:endParaRPr lang="en-US" sz="2400" dirty="0">
              <a:solidFill>
                <a:srgbClr val="7CEBFF"/>
              </a:solidFill>
            </a:endParaRPr>
          </a:p>
        </p:txBody>
      </p:sp>
      <p:pic>
        <p:nvPicPr>
          <p:cNvPr id="1026" name="Picture 1" descr="F:\mak-logo-clear.png">
            <a:extLst>
              <a:ext uri="{FF2B5EF4-FFF2-40B4-BE49-F238E27FC236}">
                <a16:creationId xmlns:a16="http://schemas.microsoft.com/office/drawing/2014/main" id="{F1237124-16E3-E244-E341-44CDCF02B3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288" y="1120031"/>
            <a:ext cx="2481550" cy="20370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09A1C36-C8EB-51EA-2024-C9D93456598F}"/>
              </a:ext>
            </a:extLst>
          </p:cNvPr>
          <p:cNvSpPr txBox="1"/>
          <p:nvPr/>
        </p:nvSpPr>
        <p:spPr>
          <a:xfrm>
            <a:off x="3346448" y="3606688"/>
            <a:ext cx="5494083" cy="707886"/>
          </a:xfrm>
          <a:prstGeom prst="rect">
            <a:avLst/>
          </a:prstGeom>
          <a:noFill/>
        </p:spPr>
        <p:txBody>
          <a:bodyPr wrap="square" rtlCol="0">
            <a:spAutoFit/>
          </a:bodyPr>
          <a:lstStyle/>
          <a:p>
            <a:pPr algn="ctr"/>
            <a:r>
              <a:rPr lang="zh-CN" altLang="en-US" sz="2000" i="1" dirty="0">
                <a:solidFill>
                  <a:schemeClr val="bg1">
                    <a:lumMod val="95000"/>
                  </a:schemeClr>
                </a:solidFill>
              </a:rPr>
              <a:t>Understanding data management in the digital age</a:t>
            </a:r>
          </a:p>
          <a:p>
            <a:pPr algn="ctr"/>
            <a:endParaRPr lang="zh-CN" altLang="en-US" sz="2000" i="1" dirty="0">
              <a:solidFill>
                <a:schemeClr val="bg1">
                  <a:lumMod val="95000"/>
                </a:schemeClr>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In LAST Lecture</a:t>
            </a:r>
          </a:p>
        </p:txBody>
      </p:sp>
      <p:sp>
        <p:nvSpPr>
          <p:cNvPr id="14" name="Content Placeholder 13"/>
          <p:cNvSpPr>
            <a:spLocks noGrp="1"/>
          </p:cNvSpPr>
          <p:nvPr>
            <p:ph idx="1"/>
          </p:nvPr>
        </p:nvSpPr>
        <p:spPr>
          <a:xfrm>
            <a:off x="1104900" y="1626248"/>
            <a:ext cx="9982200" cy="4572000"/>
          </a:xfrm>
        </p:spPr>
        <p:txBody>
          <a:bodyPr>
            <a:normAutofit/>
          </a:bodyPr>
          <a:lstStyle/>
          <a:p>
            <a:pPr lvl="1">
              <a:lnSpc>
                <a:spcPct val="150000"/>
              </a:lnSpc>
            </a:pPr>
            <a:r>
              <a:rPr lang="en-US" dirty="0">
                <a:latin typeface="Palatino Linotype" panose="02040502050505030304" pitchFamily="18" charset="0"/>
              </a:rPr>
              <a:t>Overview of cloud computing: </a:t>
            </a:r>
            <a:r>
              <a:rPr lang="en-US" altLang="zh-CN" dirty="0">
                <a:latin typeface="Palatino Linotype" panose="02040502050505030304" pitchFamily="18" charset="0"/>
              </a:rPr>
              <a:t>History, and Characteristics </a:t>
            </a:r>
            <a:endParaRPr lang="en-US" dirty="0">
              <a:latin typeface="Palatino Linotype" panose="02040502050505030304" pitchFamily="18" charset="0"/>
            </a:endParaRPr>
          </a:p>
          <a:p>
            <a:pPr lvl="1">
              <a:lnSpc>
                <a:spcPct val="150000"/>
              </a:lnSpc>
            </a:pPr>
            <a:r>
              <a:rPr lang="en-US" dirty="0">
                <a:latin typeface="Palatino Linotype" panose="02040502050505030304" pitchFamily="18" charset="0"/>
              </a:rPr>
              <a:t>Service &amp; Deployment models (IaaS, PaaS, SaaS), Infrastructure, and Consumer View</a:t>
            </a:r>
          </a:p>
          <a:p>
            <a:pPr lvl="1">
              <a:lnSpc>
                <a:spcPct val="150000"/>
              </a:lnSpc>
            </a:pPr>
            <a:r>
              <a:rPr lang="en-US" dirty="0">
                <a:latin typeface="Palatino Linotype" panose="02040502050505030304" pitchFamily="18" charset="0"/>
              </a:rPr>
              <a:t>Advantages and challenges of cloud computing</a:t>
            </a: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2</a:t>
            </a:fld>
            <a:endParaRPr lang="en-US"/>
          </a:p>
        </p:txBody>
      </p:sp>
    </p:spTree>
    <p:extLst>
      <p:ext uri="{BB962C8B-B14F-4D97-AF65-F5344CB8AC3E}">
        <p14:creationId xmlns:p14="http://schemas.microsoft.com/office/powerpoint/2010/main" val="1086027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1DD6D-ED9E-1166-45FA-0819ACBB923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16D13ACE-AD44-E376-8E43-C06210CE4F93}"/>
              </a:ext>
            </a:extLst>
          </p:cNvPr>
          <p:cNvSpPr>
            <a:spLocks noGrp="1"/>
          </p:cNvSpPr>
          <p:nvPr>
            <p:ph type="title"/>
          </p:nvPr>
        </p:nvSpPr>
        <p:spPr/>
        <p:txBody>
          <a:bodyPr>
            <a:normAutofit/>
          </a:bodyPr>
          <a:lstStyle/>
          <a:p>
            <a:r>
              <a:rPr lang="en-US" sz="3600" b="1" dirty="0">
                <a:latin typeface="LM Roman 12" panose="00000500000000000000" pitchFamily="50" charset="0"/>
              </a:rPr>
              <a:t>In THIS Lecture</a:t>
            </a:r>
          </a:p>
        </p:txBody>
      </p:sp>
      <p:sp>
        <p:nvSpPr>
          <p:cNvPr id="14" name="Content Placeholder 13">
            <a:extLst>
              <a:ext uri="{FF2B5EF4-FFF2-40B4-BE49-F238E27FC236}">
                <a16:creationId xmlns:a16="http://schemas.microsoft.com/office/drawing/2014/main" id="{D7190C29-2940-A139-1166-AF13860DF4C8}"/>
              </a:ext>
            </a:extLst>
          </p:cNvPr>
          <p:cNvSpPr>
            <a:spLocks noGrp="1"/>
          </p:cNvSpPr>
          <p:nvPr>
            <p:ph idx="1"/>
          </p:nvPr>
        </p:nvSpPr>
        <p:spPr>
          <a:xfrm>
            <a:off x="1104900" y="1626248"/>
            <a:ext cx="9982200" cy="4572000"/>
          </a:xfrm>
        </p:spPr>
        <p:txBody>
          <a:bodyPr>
            <a:normAutofit lnSpcReduction="10000"/>
          </a:bodyPr>
          <a:lstStyle/>
          <a:p>
            <a:pPr lvl="1">
              <a:lnSpc>
                <a:spcPct val="150000"/>
              </a:lnSpc>
            </a:pPr>
            <a:r>
              <a:rPr lang="en-US" altLang="zh-CN" dirty="0">
                <a:latin typeface="Palatino Linotype" panose="02040502050505030304" pitchFamily="18" charset="0"/>
              </a:rPr>
              <a:t>SaaS Interaction Dynamics and Software Stack Control</a:t>
            </a:r>
            <a:endParaRPr lang="en-US" altLang="zh-CN" sz="3600" dirty="0">
              <a:latin typeface="Palatino Linotype" panose="02040502050505030304" pitchFamily="18" charset="0"/>
            </a:endParaRPr>
          </a:p>
          <a:p>
            <a:pPr lvl="1">
              <a:lnSpc>
                <a:spcPct val="150000"/>
              </a:lnSpc>
            </a:pPr>
            <a:r>
              <a:rPr lang="en-US" altLang="zh-CN" sz="3200" dirty="0">
                <a:latin typeface="Palatino Linotype" panose="02040502050505030304" pitchFamily="18" charset="0"/>
              </a:rPr>
              <a:t>SaaS Benefits, Issues and Concerns, Suitability, and Recommendations</a:t>
            </a:r>
          </a:p>
          <a:p>
            <a:pPr lvl="1">
              <a:lnSpc>
                <a:spcPct val="150000"/>
              </a:lnSpc>
            </a:pPr>
            <a:r>
              <a:rPr lang="en-US" altLang="zh-CN" dirty="0">
                <a:latin typeface="Palatino Linotype" panose="02040502050505030304" pitchFamily="18" charset="0"/>
              </a:rPr>
              <a:t>P</a:t>
            </a:r>
            <a:r>
              <a:rPr lang="en-US" altLang="zh-CN" sz="3200" dirty="0">
                <a:latin typeface="Palatino Linotype" panose="02040502050505030304" pitchFamily="18" charset="0"/>
              </a:rPr>
              <a:t>aaS Benefits, Issues and Concerns, Suitability, and Recommendations</a:t>
            </a:r>
            <a:endParaRPr lang="zh-CN" altLang="zh-CN" sz="3200" dirty="0">
              <a:latin typeface="Palatino Linotype" panose="02040502050505030304" pitchFamily="18" charset="0"/>
            </a:endParaRPr>
          </a:p>
        </p:txBody>
      </p:sp>
      <p:sp>
        <p:nvSpPr>
          <p:cNvPr id="2" name="Date Placeholder 1">
            <a:extLst>
              <a:ext uri="{FF2B5EF4-FFF2-40B4-BE49-F238E27FC236}">
                <a16:creationId xmlns:a16="http://schemas.microsoft.com/office/drawing/2014/main" id="{A1FDCCA0-4223-6F9C-36F4-815B6483DB68}"/>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27DB74D5-4BBB-85A7-3DCF-A92E0839F162}"/>
              </a:ext>
            </a:extLst>
          </p:cNvPr>
          <p:cNvSpPr>
            <a:spLocks noGrp="1"/>
          </p:cNvSpPr>
          <p:nvPr>
            <p:ph type="sldNum" sz="quarter" idx="12"/>
          </p:nvPr>
        </p:nvSpPr>
        <p:spPr/>
        <p:txBody>
          <a:bodyPr/>
          <a:lstStyle/>
          <a:p>
            <a:fld id="{0FF54DE5-C571-48E8-A5BC-B369434E2F44}" type="slidenum">
              <a:rPr lang="en-US" smtClean="0"/>
              <a:t>3</a:t>
            </a:fld>
            <a:endParaRPr lang="en-US"/>
          </a:p>
        </p:txBody>
      </p:sp>
    </p:spTree>
    <p:extLst>
      <p:ext uri="{BB962C8B-B14F-4D97-AF65-F5344CB8AC3E}">
        <p14:creationId xmlns:p14="http://schemas.microsoft.com/office/powerpoint/2010/main" val="2257732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8090D-B405-FD27-ACCF-99D31C372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249A5-D2EA-5203-D9AF-9DF494E17028}"/>
              </a:ext>
            </a:extLst>
          </p:cNvPr>
          <p:cNvSpPr>
            <a:spLocks noGrp="1"/>
          </p:cNvSpPr>
          <p:nvPr>
            <p:ph type="title"/>
          </p:nvPr>
        </p:nvSpPr>
        <p:spPr>
          <a:xfrm>
            <a:off x="581193" y="729658"/>
            <a:ext cx="11029616" cy="988332"/>
          </a:xfrm>
        </p:spPr>
        <p:txBody>
          <a:bodyPr anchor="b">
            <a:normAutofit/>
          </a:bodyPr>
          <a:lstStyle/>
          <a:p>
            <a:pPr marL="0" indent="0">
              <a:buNone/>
            </a:pPr>
            <a:r>
              <a:rPr lang="en-US" altLang="zh-CN"/>
              <a:t>Software as a Service (SaaS) Interaction Dynamics</a:t>
            </a:r>
            <a:endParaRPr lang="en-US" altLang="zh-CN" dirty="0"/>
          </a:p>
        </p:txBody>
      </p:sp>
      <p:sp>
        <p:nvSpPr>
          <p:cNvPr id="3" name="Content Placeholder 2">
            <a:extLst>
              <a:ext uri="{FF2B5EF4-FFF2-40B4-BE49-F238E27FC236}">
                <a16:creationId xmlns:a16="http://schemas.microsoft.com/office/drawing/2014/main" id="{CCF68D4D-39F4-3198-2FDB-05FEA8F293C4}"/>
              </a:ext>
            </a:extLst>
          </p:cNvPr>
          <p:cNvSpPr>
            <a:spLocks noGrp="1"/>
          </p:cNvSpPr>
          <p:nvPr>
            <p:ph sz="half" idx="1"/>
          </p:nvPr>
        </p:nvSpPr>
        <p:spPr>
          <a:xfrm>
            <a:off x="581193" y="2228003"/>
            <a:ext cx="5422390" cy="3633047"/>
          </a:xfrm>
        </p:spPr>
        <p:txBody>
          <a:bodyPr anchor="t">
            <a:normAutofit/>
          </a:bodyPr>
          <a:lstStyle/>
          <a:p>
            <a:pPr lvl="1">
              <a:lnSpc>
                <a:spcPct val="90000"/>
              </a:lnSpc>
            </a:pPr>
            <a:r>
              <a:rPr lang="en-US" altLang="zh-CN" sz="2200"/>
              <a:t>SaaS is Cloud-based software delivered via the internet, hosted by a service provider.</a:t>
            </a:r>
          </a:p>
          <a:p>
            <a:pPr lvl="1">
              <a:lnSpc>
                <a:spcPct val="90000"/>
              </a:lnSpc>
            </a:pPr>
            <a:r>
              <a:rPr lang="en-US" altLang="zh-CN" sz="2200"/>
              <a:t>Key components: Application, database, integration, and security layers.</a:t>
            </a:r>
          </a:p>
          <a:p>
            <a:pPr lvl="1">
              <a:lnSpc>
                <a:spcPct val="90000"/>
              </a:lnSpc>
            </a:pPr>
            <a:r>
              <a:rPr lang="en-US" altLang="zh-CN" sz="2200"/>
              <a:t>Users access SaaS apps through browsers or APIs.</a:t>
            </a:r>
          </a:p>
          <a:p>
            <a:pPr lvl="1">
              <a:lnSpc>
                <a:spcPct val="90000"/>
              </a:lnSpc>
            </a:pPr>
            <a:r>
              <a:rPr lang="en-US" altLang="zh-CN" sz="2200"/>
              <a:t>SaaS eliminates local installations, offers scalability, and reduces infrastructure costs</a:t>
            </a:r>
            <a:endParaRPr lang="zh-CN" altLang="en-US" sz="2200"/>
          </a:p>
          <a:p>
            <a:pPr marL="0" indent="0">
              <a:lnSpc>
                <a:spcPct val="90000"/>
              </a:lnSpc>
              <a:buNone/>
            </a:pPr>
            <a:endParaRPr lang="en-US" altLang="zh-CN" sz="2200"/>
          </a:p>
        </p:txBody>
      </p:sp>
      <p:pic>
        <p:nvPicPr>
          <p:cNvPr id="4" name="Picture 3" descr="cloud computing SaaS">
            <a:extLst>
              <a:ext uri="{FF2B5EF4-FFF2-40B4-BE49-F238E27FC236}">
                <a16:creationId xmlns:a16="http://schemas.microsoft.com/office/drawing/2014/main" id="{A0A5E22D-0223-DC72-D6BE-FE69E5B490DC}"/>
              </a:ext>
            </a:extLst>
          </p:cNvPr>
          <p:cNvPicPr>
            <a:picLocks noChangeAspect="1"/>
          </p:cNvPicPr>
          <p:nvPr/>
        </p:nvPicPr>
        <p:blipFill>
          <a:blip r:embed="rId3"/>
          <a:stretch>
            <a:fillRect/>
          </a:stretch>
        </p:blipFill>
        <p:spPr>
          <a:xfrm>
            <a:off x="7083089" y="2228003"/>
            <a:ext cx="3633047" cy="3633047"/>
          </a:xfrm>
          <a:prstGeom prst="rect">
            <a:avLst/>
          </a:prstGeom>
          <a:noFill/>
        </p:spPr>
      </p:pic>
    </p:spTree>
    <p:extLst>
      <p:ext uri="{BB962C8B-B14F-4D97-AF65-F5344CB8AC3E}">
        <p14:creationId xmlns:p14="http://schemas.microsoft.com/office/powerpoint/2010/main" val="2048132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BDED1-BC4B-503E-5974-87176234626F}"/>
              </a:ext>
            </a:extLst>
          </p:cNvPr>
          <p:cNvSpPr>
            <a:spLocks noGrp="1"/>
          </p:cNvSpPr>
          <p:nvPr>
            <p:ph type="title"/>
          </p:nvPr>
        </p:nvSpPr>
        <p:spPr/>
        <p:txBody>
          <a:bodyPr/>
          <a:lstStyle/>
          <a:p>
            <a:r>
              <a:rPr lang="en-US" altLang="zh-CN" dirty="0"/>
              <a:t>Software Stack Control in SaaS</a:t>
            </a:r>
            <a:endParaRPr lang="zh-CN" altLang="en-US" dirty="0"/>
          </a:p>
        </p:txBody>
      </p:sp>
      <p:sp>
        <p:nvSpPr>
          <p:cNvPr id="3" name="Content Placeholder 2">
            <a:extLst>
              <a:ext uri="{FF2B5EF4-FFF2-40B4-BE49-F238E27FC236}">
                <a16:creationId xmlns:a16="http://schemas.microsoft.com/office/drawing/2014/main" id="{3C41C51B-E304-57C5-836E-3A9C19497CD4}"/>
              </a:ext>
            </a:extLst>
          </p:cNvPr>
          <p:cNvSpPr>
            <a:spLocks noGrp="1"/>
          </p:cNvSpPr>
          <p:nvPr>
            <p:ph idx="1"/>
          </p:nvPr>
        </p:nvSpPr>
        <p:spPr/>
        <p:txBody>
          <a:bodyPr/>
          <a:lstStyle/>
          <a:p>
            <a:r>
              <a:rPr lang="en-US" altLang="zh-CN" dirty="0"/>
              <a:t>SaaS providers manage the entire stack from infrastructure to application layers.</a:t>
            </a:r>
          </a:p>
          <a:p>
            <a:r>
              <a:rPr lang="en-US" altLang="zh-CN" dirty="0"/>
              <a:t>Users control application configurations and data but not infrastructure</a:t>
            </a:r>
          </a:p>
          <a:p>
            <a:r>
              <a:rPr lang="en-US" altLang="zh-CN" dirty="0"/>
              <a:t>Provider Responsibilities: Security, maintenance, and updates.</a:t>
            </a:r>
            <a:endParaRPr lang="zh-CN" altLang="en-US" dirty="0"/>
          </a:p>
        </p:txBody>
      </p:sp>
    </p:spTree>
    <p:extLst>
      <p:ext uri="{BB962C8B-B14F-4D97-AF65-F5344CB8AC3E}">
        <p14:creationId xmlns:p14="http://schemas.microsoft.com/office/powerpoint/2010/main" val="3467115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D17-C569-A3B2-0432-0414940A4F26}"/>
              </a:ext>
            </a:extLst>
          </p:cNvPr>
          <p:cNvSpPr>
            <a:spLocks noGrp="1"/>
          </p:cNvSpPr>
          <p:nvPr>
            <p:ph type="title"/>
          </p:nvPr>
        </p:nvSpPr>
        <p:spPr/>
        <p:txBody>
          <a:bodyPr/>
          <a:lstStyle/>
          <a:p>
            <a:r>
              <a:rPr lang="en-US" altLang="zh-CN" dirty="0"/>
              <a:t>SaaS Benefits</a:t>
            </a:r>
            <a:endParaRPr lang="zh-CN" altLang="en-US" dirty="0"/>
          </a:p>
        </p:txBody>
      </p:sp>
      <p:sp>
        <p:nvSpPr>
          <p:cNvPr id="3" name="Content Placeholder 2">
            <a:extLst>
              <a:ext uri="{FF2B5EF4-FFF2-40B4-BE49-F238E27FC236}">
                <a16:creationId xmlns:a16="http://schemas.microsoft.com/office/drawing/2014/main" id="{EA22BAF0-1C57-0EB9-F6E8-97FEF7790620}"/>
              </a:ext>
            </a:extLst>
          </p:cNvPr>
          <p:cNvSpPr>
            <a:spLocks noGrp="1"/>
          </p:cNvSpPr>
          <p:nvPr>
            <p:ph idx="1"/>
          </p:nvPr>
        </p:nvSpPr>
        <p:spPr/>
        <p:txBody>
          <a:bodyPr>
            <a:normAutofit lnSpcReduction="10000"/>
          </a:bodyPr>
          <a:lstStyle/>
          <a:p>
            <a:r>
              <a:rPr lang="en-US" altLang="zh-CN" dirty="0"/>
              <a:t>Cost-Effective: Pay-as-you-go pricing, no upfront investments</a:t>
            </a:r>
          </a:p>
          <a:p>
            <a:r>
              <a:rPr lang="en-US" altLang="zh-CN" dirty="0"/>
              <a:t>Scalability: Easily scale resources based on demand.</a:t>
            </a:r>
          </a:p>
          <a:p>
            <a:r>
              <a:rPr lang="en-US" altLang="zh-CN" dirty="0"/>
              <a:t>Accessibility: Access from any device with an internet connection.</a:t>
            </a:r>
          </a:p>
          <a:p>
            <a:r>
              <a:rPr lang="en-US" altLang="zh-CN" dirty="0"/>
              <a:t>Automatic Updates: SaaS providers handle software updates.</a:t>
            </a:r>
            <a:endParaRPr lang="zh-CN" altLang="en-US" dirty="0"/>
          </a:p>
        </p:txBody>
      </p:sp>
    </p:spTree>
    <p:extLst>
      <p:ext uri="{BB962C8B-B14F-4D97-AF65-F5344CB8AC3E}">
        <p14:creationId xmlns:p14="http://schemas.microsoft.com/office/powerpoint/2010/main" val="4136475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E619F-437A-4B89-56C0-28D094BE0374}"/>
              </a:ext>
            </a:extLst>
          </p:cNvPr>
          <p:cNvSpPr>
            <a:spLocks noGrp="1"/>
          </p:cNvSpPr>
          <p:nvPr>
            <p:ph type="title"/>
          </p:nvPr>
        </p:nvSpPr>
        <p:spPr/>
        <p:txBody>
          <a:bodyPr/>
          <a:lstStyle/>
          <a:p>
            <a:r>
              <a:rPr lang="en-US" altLang="zh-CN" dirty="0"/>
              <a:t>SaaS Issues and Concerns</a:t>
            </a:r>
            <a:endParaRPr lang="zh-CN" altLang="en-US" dirty="0"/>
          </a:p>
        </p:txBody>
      </p:sp>
      <p:sp>
        <p:nvSpPr>
          <p:cNvPr id="3" name="Content Placeholder 2">
            <a:extLst>
              <a:ext uri="{FF2B5EF4-FFF2-40B4-BE49-F238E27FC236}">
                <a16:creationId xmlns:a16="http://schemas.microsoft.com/office/drawing/2014/main" id="{2694ED1E-0B95-2D62-5511-4A274AB40764}"/>
              </a:ext>
            </a:extLst>
          </p:cNvPr>
          <p:cNvSpPr>
            <a:spLocks noGrp="1"/>
          </p:cNvSpPr>
          <p:nvPr>
            <p:ph idx="1"/>
          </p:nvPr>
        </p:nvSpPr>
        <p:spPr/>
        <p:txBody>
          <a:bodyPr>
            <a:normAutofit fontScale="92500"/>
          </a:bodyPr>
          <a:lstStyle/>
          <a:p>
            <a:r>
              <a:rPr lang="en-US" altLang="zh-CN" sz="2800" dirty="0"/>
              <a:t>Integration Challenges: Connecting SaaS with legacy systems can be complex.</a:t>
            </a:r>
          </a:p>
          <a:p>
            <a:r>
              <a:rPr lang="en-US" altLang="zh-CN" sz="2800" dirty="0"/>
              <a:t>Security Risks: Storing sensitive data on the cloud can raise privacy concerns.</a:t>
            </a:r>
          </a:p>
          <a:p>
            <a:r>
              <a:rPr lang="en-US" altLang="zh-CN" sz="2800" dirty="0"/>
              <a:t>Vendor Lock-in: Switching between SaaS providers can be difficult.</a:t>
            </a:r>
          </a:p>
          <a:p>
            <a:r>
              <a:rPr lang="en-US" altLang="zh-CN" sz="2800" dirty="0"/>
              <a:t>Data Sovereignty: Compliance with local data protection laws can be challenging.</a:t>
            </a:r>
          </a:p>
          <a:p>
            <a:r>
              <a:rPr lang="en-US" altLang="zh-CN" sz="2800" dirty="0"/>
              <a:t>Downtime: Dependency on provider’s uptime.</a:t>
            </a:r>
          </a:p>
          <a:p>
            <a:r>
              <a:rPr lang="en-US" altLang="zh-CN" sz="2800" dirty="0"/>
              <a:t>Customization: Limited modification options.</a:t>
            </a:r>
          </a:p>
          <a:p>
            <a:r>
              <a:rPr lang="en-US" altLang="zh-CN" sz="2800" dirty="0"/>
              <a:t>Compliance: Ensuring regulatory compliance.</a:t>
            </a:r>
            <a:endParaRPr lang="zh-CN" altLang="en-US" sz="2800" dirty="0"/>
          </a:p>
        </p:txBody>
      </p:sp>
    </p:spTree>
    <p:extLst>
      <p:ext uri="{BB962C8B-B14F-4D97-AF65-F5344CB8AC3E}">
        <p14:creationId xmlns:p14="http://schemas.microsoft.com/office/powerpoint/2010/main" val="2526388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FA0A5-7AAC-AD16-86B0-5D8FA3964ED6}"/>
              </a:ext>
            </a:extLst>
          </p:cNvPr>
          <p:cNvSpPr>
            <a:spLocks noGrp="1"/>
          </p:cNvSpPr>
          <p:nvPr>
            <p:ph type="title"/>
          </p:nvPr>
        </p:nvSpPr>
        <p:spPr/>
        <p:txBody>
          <a:bodyPr/>
          <a:lstStyle/>
          <a:p>
            <a:r>
              <a:rPr lang="en-US" altLang="zh-CN" dirty="0"/>
              <a:t>Evaluating SaaS Suitability</a:t>
            </a:r>
            <a:endParaRPr lang="zh-CN" altLang="en-US" dirty="0"/>
          </a:p>
        </p:txBody>
      </p:sp>
      <p:sp>
        <p:nvSpPr>
          <p:cNvPr id="3" name="Content Placeholder 2">
            <a:extLst>
              <a:ext uri="{FF2B5EF4-FFF2-40B4-BE49-F238E27FC236}">
                <a16:creationId xmlns:a16="http://schemas.microsoft.com/office/drawing/2014/main" id="{CA8DB706-4F66-517C-1D2F-3A2BC04345C3}"/>
              </a:ext>
            </a:extLst>
          </p:cNvPr>
          <p:cNvSpPr>
            <a:spLocks noGrp="1"/>
          </p:cNvSpPr>
          <p:nvPr>
            <p:ph idx="1"/>
          </p:nvPr>
        </p:nvSpPr>
        <p:spPr/>
        <p:txBody>
          <a:bodyPr/>
          <a:lstStyle/>
          <a:p>
            <a:r>
              <a:rPr lang="en-US" altLang="zh-CN" dirty="0"/>
              <a:t>Assess Business Needs: Ensure SaaS aligns with organizational goals.</a:t>
            </a:r>
          </a:p>
          <a:p>
            <a:r>
              <a:rPr lang="en-US" altLang="zh-CN" dirty="0"/>
              <a:t>Evaluate Technical Requirements: Check compatibility with existing systems.</a:t>
            </a:r>
          </a:p>
          <a:p>
            <a:r>
              <a:rPr lang="en-US" altLang="zh-CN" dirty="0"/>
              <a:t>Cost Considerations: Compare SaaS pricing with on-premises alternatives. </a:t>
            </a:r>
            <a:endParaRPr lang="zh-CN" altLang="en-US" dirty="0"/>
          </a:p>
        </p:txBody>
      </p:sp>
    </p:spTree>
    <p:extLst>
      <p:ext uri="{BB962C8B-B14F-4D97-AF65-F5344CB8AC3E}">
        <p14:creationId xmlns:p14="http://schemas.microsoft.com/office/powerpoint/2010/main" val="1951880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351E5-E46A-2581-9A48-20FEA69682CE}"/>
              </a:ext>
            </a:extLst>
          </p:cNvPr>
          <p:cNvSpPr>
            <a:spLocks noGrp="1"/>
          </p:cNvSpPr>
          <p:nvPr>
            <p:ph type="title"/>
          </p:nvPr>
        </p:nvSpPr>
        <p:spPr/>
        <p:txBody>
          <a:bodyPr/>
          <a:lstStyle/>
          <a:p>
            <a:r>
              <a:rPr lang="en-US" altLang="zh-CN" dirty="0"/>
              <a:t>Recommendations for SaaS Adoption</a:t>
            </a:r>
            <a:endParaRPr lang="zh-CN" altLang="en-US" dirty="0"/>
          </a:p>
        </p:txBody>
      </p:sp>
      <p:sp>
        <p:nvSpPr>
          <p:cNvPr id="3" name="Content Placeholder 2">
            <a:extLst>
              <a:ext uri="{FF2B5EF4-FFF2-40B4-BE49-F238E27FC236}">
                <a16:creationId xmlns:a16="http://schemas.microsoft.com/office/drawing/2014/main" id="{0F1017A1-86A5-D1F1-8CAD-00AB2D8258E3}"/>
              </a:ext>
            </a:extLst>
          </p:cNvPr>
          <p:cNvSpPr>
            <a:spLocks noGrp="1"/>
          </p:cNvSpPr>
          <p:nvPr>
            <p:ph idx="1"/>
          </p:nvPr>
        </p:nvSpPr>
        <p:spPr/>
        <p:txBody>
          <a:bodyPr/>
          <a:lstStyle/>
          <a:p>
            <a:r>
              <a:rPr lang="en-US" altLang="zh-CN" dirty="0"/>
              <a:t>Assess Business Readiness: Ensure readiness for SaaS adoption.</a:t>
            </a:r>
          </a:p>
          <a:p>
            <a:r>
              <a:rPr lang="en-US" altLang="zh-CN" dirty="0"/>
              <a:t>Evaluate IT Capabilities: Check infrastructure compatibility.</a:t>
            </a:r>
          </a:p>
          <a:p>
            <a:r>
              <a:rPr lang="en-US" altLang="zh-CN" dirty="0"/>
              <a:t>Plan Implementation: Develop a phased approach for adoption and training.</a:t>
            </a:r>
            <a:endParaRPr lang="zh-CN" altLang="en-US" dirty="0"/>
          </a:p>
        </p:txBody>
      </p:sp>
    </p:spTree>
    <p:extLst>
      <p:ext uri="{BB962C8B-B14F-4D97-AF65-F5344CB8AC3E}">
        <p14:creationId xmlns:p14="http://schemas.microsoft.com/office/powerpoint/2010/main" val="165219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4EA38-4495-E6C1-BA78-63E221B5FBF4}"/>
              </a:ext>
            </a:extLst>
          </p:cNvPr>
          <p:cNvSpPr>
            <a:spLocks noGrp="1"/>
          </p:cNvSpPr>
          <p:nvPr>
            <p:ph type="title"/>
          </p:nvPr>
        </p:nvSpPr>
        <p:spPr/>
        <p:txBody>
          <a:bodyPr/>
          <a:lstStyle/>
          <a:p>
            <a:r>
              <a:rPr lang="en-US" altLang="zh-CN" dirty="0"/>
              <a:t>Scope and Control in Cloud Computing</a:t>
            </a:r>
            <a:endParaRPr lang="zh-CN" altLang="en-US" dirty="0"/>
          </a:p>
        </p:txBody>
      </p:sp>
      <p:sp>
        <p:nvSpPr>
          <p:cNvPr id="3" name="Content Placeholder 2">
            <a:extLst>
              <a:ext uri="{FF2B5EF4-FFF2-40B4-BE49-F238E27FC236}">
                <a16:creationId xmlns:a16="http://schemas.microsoft.com/office/drawing/2014/main" id="{A661023C-AA57-D210-7C10-A2D049856540}"/>
              </a:ext>
            </a:extLst>
          </p:cNvPr>
          <p:cNvSpPr>
            <a:spLocks noGrp="1"/>
          </p:cNvSpPr>
          <p:nvPr>
            <p:ph idx="1"/>
          </p:nvPr>
        </p:nvSpPr>
        <p:spPr/>
        <p:txBody>
          <a:bodyPr/>
          <a:lstStyle/>
          <a:p>
            <a:r>
              <a:rPr lang="en-US" altLang="zh-CN" dirty="0"/>
              <a:t>Scope: Defines the services and resources available to users.</a:t>
            </a:r>
          </a:p>
          <a:p>
            <a:r>
              <a:rPr lang="en-US" altLang="zh-CN" dirty="0"/>
              <a:t> Control: Determines the level of management and customization available.</a:t>
            </a:r>
          </a:p>
          <a:p>
            <a:r>
              <a:rPr lang="en-US" altLang="zh-CN" dirty="0"/>
              <a:t>  Public Cloud:  Broad scope, limited control.</a:t>
            </a:r>
          </a:p>
          <a:p>
            <a:r>
              <a:rPr lang="en-US" altLang="zh-CN" dirty="0"/>
              <a:t>  Private Cloud: Narrow scope, greater control.</a:t>
            </a:r>
            <a:endParaRPr lang="zh-CN" altLang="en-US" dirty="0"/>
          </a:p>
        </p:txBody>
      </p:sp>
    </p:spTree>
    <p:extLst>
      <p:ext uri="{BB962C8B-B14F-4D97-AF65-F5344CB8AC3E}">
        <p14:creationId xmlns:p14="http://schemas.microsoft.com/office/powerpoint/2010/main" val="2985855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9A905-372C-AE5B-F539-954E66EB4C1A}"/>
              </a:ext>
            </a:extLst>
          </p:cNvPr>
          <p:cNvSpPr>
            <a:spLocks noGrp="1"/>
          </p:cNvSpPr>
          <p:nvPr>
            <p:ph type="title"/>
          </p:nvPr>
        </p:nvSpPr>
        <p:spPr/>
        <p:txBody>
          <a:bodyPr/>
          <a:lstStyle/>
          <a:p>
            <a:r>
              <a:rPr lang="en-US" altLang="zh-CN" dirty="0"/>
              <a:t>SaaS Interaction Dynamics</a:t>
            </a:r>
            <a:endParaRPr lang="zh-CN" altLang="en-US" dirty="0"/>
          </a:p>
        </p:txBody>
      </p:sp>
      <p:sp>
        <p:nvSpPr>
          <p:cNvPr id="3" name="Content Placeholder 2">
            <a:extLst>
              <a:ext uri="{FF2B5EF4-FFF2-40B4-BE49-F238E27FC236}">
                <a16:creationId xmlns:a16="http://schemas.microsoft.com/office/drawing/2014/main" id="{F143CED9-2520-61F8-5B1E-29A407EF9D27}"/>
              </a:ext>
            </a:extLst>
          </p:cNvPr>
          <p:cNvSpPr>
            <a:spLocks noGrp="1"/>
          </p:cNvSpPr>
          <p:nvPr>
            <p:ph idx="1"/>
          </p:nvPr>
        </p:nvSpPr>
        <p:spPr/>
        <p:txBody>
          <a:bodyPr/>
          <a:lstStyle/>
          <a:p>
            <a:r>
              <a:rPr lang="en-US" altLang="zh-CN" dirty="0"/>
              <a:t> User Interaction: Users access SaaS through browsers or APIs.</a:t>
            </a:r>
          </a:p>
          <a:p>
            <a:r>
              <a:rPr lang="en-US" altLang="zh-CN" dirty="0"/>
              <a:t> Multi-Tenancy: SaaS apps serve multiple users from a single instance.</a:t>
            </a:r>
          </a:p>
          <a:p>
            <a:r>
              <a:rPr lang="en-US" altLang="zh-CN" dirty="0"/>
              <a:t> Real-Time Data Sync: Collaboration features enable seamless workflows.</a:t>
            </a:r>
            <a:endParaRPr lang="zh-CN" altLang="en-US" dirty="0"/>
          </a:p>
        </p:txBody>
      </p:sp>
    </p:spTree>
    <p:extLst>
      <p:ext uri="{BB962C8B-B14F-4D97-AF65-F5344CB8AC3E}">
        <p14:creationId xmlns:p14="http://schemas.microsoft.com/office/powerpoint/2010/main" val="3395557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A11A-4290-939F-9AB0-25283E3D5ECE}"/>
              </a:ext>
            </a:extLst>
          </p:cNvPr>
          <p:cNvSpPr>
            <a:spLocks noGrp="1"/>
          </p:cNvSpPr>
          <p:nvPr>
            <p:ph type="title"/>
          </p:nvPr>
        </p:nvSpPr>
        <p:spPr>
          <a:xfrm>
            <a:off x="581193" y="729658"/>
            <a:ext cx="11029616" cy="988332"/>
          </a:xfrm>
        </p:spPr>
        <p:txBody>
          <a:bodyPr anchor="b">
            <a:normAutofit/>
          </a:bodyPr>
          <a:lstStyle/>
          <a:p>
            <a:r>
              <a:rPr lang="en-US" altLang="zh-CN" dirty="0"/>
              <a:t>Software Stack Control in SaaS</a:t>
            </a:r>
            <a:endParaRPr lang="zh-CN" altLang="en-US" dirty="0"/>
          </a:p>
        </p:txBody>
      </p:sp>
      <p:sp>
        <p:nvSpPr>
          <p:cNvPr id="3" name="Content Placeholder 2">
            <a:extLst>
              <a:ext uri="{FF2B5EF4-FFF2-40B4-BE49-F238E27FC236}">
                <a16:creationId xmlns:a16="http://schemas.microsoft.com/office/drawing/2014/main" id="{A3577F2F-668D-3CCE-5DB0-1E5AD42F7DF4}"/>
              </a:ext>
            </a:extLst>
          </p:cNvPr>
          <p:cNvSpPr>
            <a:spLocks noGrp="1"/>
          </p:cNvSpPr>
          <p:nvPr>
            <p:ph sz="half" idx="1"/>
          </p:nvPr>
        </p:nvSpPr>
        <p:spPr>
          <a:xfrm>
            <a:off x="581193" y="2228003"/>
            <a:ext cx="4457151" cy="4072161"/>
          </a:xfrm>
        </p:spPr>
        <p:txBody>
          <a:bodyPr anchor="t">
            <a:normAutofit/>
          </a:bodyPr>
          <a:lstStyle/>
          <a:p>
            <a:pPr>
              <a:lnSpc>
                <a:spcPct val="90000"/>
              </a:lnSpc>
            </a:pPr>
            <a:r>
              <a:rPr lang="en-US" altLang="zh-CN" sz="2700" dirty="0"/>
              <a:t> Provider-Managed Stack: SaaS providers handle the entire software stack.</a:t>
            </a:r>
          </a:p>
          <a:p>
            <a:pPr>
              <a:lnSpc>
                <a:spcPct val="90000"/>
              </a:lnSpc>
            </a:pPr>
            <a:r>
              <a:rPr lang="en-US" altLang="zh-CN" sz="2700" dirty="0"/>
              <a:t>  -Benefits: Reduced maintenance and automatic updates.</a:t>
            </a:r>
          </a:p>
          <a:p>
            <a:pPr>
              <a:lnSpc>
                <a:spcPct val="90000"/>
              </a:lnSpc>
            </a:pPr>
            <a:r>
              <a:rPr lang="en-US" altLang="zh-CN" sz="2700" dirty="0"/>
              <a:t>  Challenges: Limited customization and vendor lock-in.</a:t>
            </a:r>
            <a:endParaRPr lang="zh-CN" altLang="en-US" sz="2700" dirty="0"/>
          </a:p>
        </p:txBody>
      </p:sp>
      <p:pic>
        <p:nvPicPr>
          <p:cNvPr id="7" name="Picture 6">
            <a:extLst>
              <a:ext uri="{FF2B5EF4-FFF2-40B4-BE49-F238E27FC236}">
                <a16:creationId xmlns:a16="http://schemas.microsoft.com/office/drawing/2014/main" id="{464431A4-B8B5-B4BA-F7BC-366CF6B2E748}"/>
              </a:ext>
            </a:extLst>
          </p:cNvPr>
          <p:cNvPicPr>
            <a:picLocks noChangeAspect="1"/>
          </p:cNvPicPr>
          <p:nvPr/>
        </p:nvPicPr>
        <p:blipFill>
          <a:blip r:embed="rId3"/>
          <a:stretch>
            <a:fillRect/>
          </a:stretch>
        </p:blipFill>
        <p:spPr>
          <a:xfrm>
            <a:off x="5411231" y="2228003"/>
            <a:ext cx="6199576" cy="4370729"/>
          </a:xfrm>
          <a:prstGeom prst="rect">
            <a:avLst/>
          </a:prstGeom>
        </p:spPr>
      </p:pic>
    </p:spTree>
    <p:extLst>
      <p:ext uri="{BB962C8B-B14F-4D97-AF65-F5344CB8AC3E}">
        <p14:creationId xmlns:p14="http://schemas.microsoft.com/office/powerpoint/2010/main" val="3535811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04DF5-61F8-516C-0C8A-0B1ED7A0B0DA}"/>
              </a:ext>
            </a:extLst>
          </p:cNvPr>
          <p:cNvSpPr>
            <a:spLocks noGrp="1"/>
          </p:cNvSpPr>
          <p:nvPr>
            <p:ph type="title"/>
          </p:nvPr>
        </p:nvSpPr>
        <p:spPr/>
        <p:txBody>
          <a:bodyPr/>
          <a:lstStyle/>
          <a:p>
            <a:r>
              <a:rPr lang="en-US" altLang="zh-CN" dirty="0"/>
              <a:t>Saas usage case study: salesforce</a:t>
            </a:r>
            <a:endParaRPr lang="zh-CN" altLang="en-US" dirty="0"/>
          </a:p>
        </p:txBody>
      </p:sp>
      <p:sp>
        <p:nvSpPr>
          <p:cNvPr id="4" name="Content Placeholder 3">
            <a:extLst>
              <a:ext uri="{FF2B5EF4-FFF2-40B4-BE49-F238E27FC236}">
                <a16:creationId xmlns:a16="http://schemas.microsoft.com/office/drawing/2014/main" id="{E305DEEE-8AD3-3CFF-BF62-1A44139DF370}"/>
              </a:ext>
            </a:extLst>
          </p:cNvPr>
          <p:cNvSpPr>
            <a:spLocks noGrp="1"/>
          </p:cNvSpPr>
          <p:nvPr>
            <p:ph sz="half" idx="1"/>
          </p:nvPr>
        </p:nvSpPr>
        <p:spPr>
          <a:xfrm>
            <a:off x="480608" y="1583451"/>
            <a:ext cx="7831287" cy="4080902"/>
          </a:xfrm>
        </p:spPr>
        <p:txBody>
          <a:bodyPr anchor="t">
            <a:normAutofit/>
          </a:bodyPr>
          <a:lstStyle/>
          <a:p>
            <a:pPr>
              <a:lnSpc>
                <a:spcPct val="90000"/>
              </a:lnSpc>
            </a:pPr>
            <a:r>
              <a:rPr lang="en-US" altLang="zh-CN" sz="2700" dirty="0"/>
              <a:t>Salesforce.com is a </a:t>
            </a:r>
            <a:r>
              <a:rPr lang="zh-CN" altLang="en-US" sz="2700" dirty="0"/>
              <a:t>C</a:t>
            </a:r>
            <a:r>
              <a:rPr lang="en-US" altLang="zh-CN" sz="2700" dirty="0" err="1"/>
              <a:t>ustomer</a:t>
            </a:r>
            <a:r>
              <a:rPr lang="en-US" altLang="zh-CN" sz="2700" dirty="0"/>
              <a:t> </a:t>
            </a:r>
            <a:r>
              <a:rPr lang="zh-CN" altLang="en-US" sz="2700" dirty="0"/>
              <a:t>R</a:t>
            </a:r>
            <a:r>
              <a:rPr lang="en-US" altLang="zh-CN" sz="2700" dirty="0" err="1"/>
              <a:t>elationship</a:t>
            </a:r>
            <a:r>
              <a:rPr lang="en-US" altLang="zh-CN" sz="2700" dirty="0"/>
              <a:t> </a:t>
            </a:r>
            <a:r>
              <a:rPr lang="zh-CN" altLang="en-US" sz="2700" dirty="0"/>
              <a:t>M</a:t>
            </a:r>
            <a:r>
              <a:rPr lang="en-US" altLang="zh-CN" sz="2700" dirty="0" err="1"/>
              <a:t>anagement</a:t>
            </a:r>
            <a:r>
              <a:rPr lang="zh-CN" altLang="en-US" sz="2700" dirty="0"/>
              <a:t> </a:t>
            </a:r>
            <a:r>
              <a:rPr lang="en-US" altLang="zh-CN" sz="2700" dirty="0"/>
              <a:t>(CRM) </a:t>
            </a:r>
            <a:r>
              <a:rPr lang="zh-CN" altLang="en-US" sz="2700" dirty="0"/>
              <a:t>platform that integrates various business functions </a:t>
            </a:r>
            <a:r>
              <a:rPr lang="en-US" altLang="zh-CN" sz="2700" dirty="0"/>
              <a:t>such as finance and customer service.</a:t>
            </a:r>
          </a:p>
          <a:p>
            <a:pPr>
              <a:lnSpc>
                <a:spcPct val="90000"/>
              </a:lnSpc>
            </a:pPr>
            <a:r>
              <a:rPr lang="en-US" altLang="zh-CN" sz="2700" dirty="0"/>
              <a:t>It offers tools for managing customer-related activities effectively.</a:t>
            </a:r>
          </a:p>
          <a:p>
            <a:pPr>
              <a:lnSpc>
                <a:spcPct val="90000"/>
              </a:lnSpc>
            </a:pPr>
            <a:r>
              <a:rPr lang="en-US" altLang="zh-CN" sz="2700" dirty="0"/>
              <a:t>The platform is customizable to fit various business needs.</a:t>
            </a:r>
            <a:endParaRPr lang="zh-CN" altLang="en-US" sz="2700" dirty="0"/>
          </a:p>
        </p:txBody>
      </p:sp>
      <p:pic>
        <p:nvPicPr>
          <p:cNvPr id="5" name="Content Placeholder 4" descr="Figurines around the word of customers.">
            <a:extLst>
              <a:ext uri="{FF2B5EF4-FFF2-40B4-BE49-F238E27FC236}">
                <a16:creationId xmlns:a16="http://schemas.microsoft.com/office/drawing/2014/main" id="{A85D375F-B9AB-4FB1-A04E-A77641BF3338}"/>
              </a:ext>
            </a:extLst>
          </p:cNvPr>
          <p:cNvPicPr>
            <a:picLocks noChangeAspect="1"/>
          </p:cNvPicPr>
          <p:nvPr/>
        </p:nvPicPr>
        <p:blipFill>
          <a:blip r:embed="rId3"/>
          <a:stretch>
            <a:fillRect/>
          </a:stretch>
        </p:blipFill>
        <p:spPr>
          <a:xfrm>
            <a:off x="8550132" y="1583451"/>
            <a:ext cx="3060676" cy="4080902"/>
          </a:xfrm>
          <a:prstGeom prst="rect">
            <a:avLst/>
          </a:prstGeom>
          <a:noFill/>
        </p:spPr>
      </p:pic>
    </p:spTree>
    <p:extLst>
      <p:ext uri="{BB962C8B-B14F-4D97-AF65-F5344CB8AC3E}">
        <p14:creationId xmlns:p14="http://schemas.microsoft.com/office/powerpoint/2010/main" val="1422179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17FF4-B5E7-3E9E-7543-1A11EA05DB4B}"/>
              </a:ext>
            </a:extLst>
          </p:cNvPr>
          <p:cNvSpPr>
            <a:spLocks noGrp="1"/>
          </p:cNvSpPr>
          <p:nvPr>
            <p:ph type="title"/>
          </p:nvPr>
        </p:nvSpPr>
        <p:spPr>
          <a:xfrm>
            <a:off x="581193" y="729658"/>
            <a:ext cx="11029616" cy="988332"/>
          </a:xfrm>
        </p:spPr>
        <p:txBody>
          <a:bodyPr anchor="b">
            <a:normAutofit/>
          </a:bodyPr>
          <a:lstStyle/>
          <a:p>
            <a:r>
              <a:rPr lang="zh-CN" altLang="en-US" dirty="0"/>
              <a:t>Setting Up Salesforce for Your Business</a:t>
            </a:r>
          </a:p>
        </p:txBody>
      </p:sp>
      <p:sp>
        <p:nvSpPr>
          <p:cNvPr id="4" name="Content Placeholder 3">
            <a:extLst>
              <a:ext uri="{FF2B5EF4-FFF2-40B4-BE49-F238E27FC236}">
                <a16:creationId xmlns:a16="http://schemas.microsoft.com/office/drawing/2014/main" id="{E11C1876-9D4A-F230-E998-47E9139C5221}"/>
              </a:ext>
            </a:extLst>
          </p:cNvPr>
          <p:cNvSpPr>
            <a:spLocks noGrp="1"/>
          </p:cNvSpPr>
          <p:nvPr>
            <p:ph sz="half" idx="1"/>
          </p:nvPr>
        </p:nvSpPr>
        <p:spPr>
          <a:xfrm>
            <a:off x="581192" y="2228003"/>
            <a:ext cx="7593543" cy="3633047"/>
          </a:xfrm>
        </p:spPr>
        <p:txBody>
          <a:bodyPr anchor="t">
            <a:normAutofit/>
          </a:bodyPr>
          <a:lstStyle/>
          <a:p>
            <a:pPr>
              <a:lnSpc>
                <a:spcPct val="90000"/>
              </a:lnSpc>
            </a:pPr>
            <a:r>
              <a:rPr lang="en-US" altLang="zh-CN" dirty="0"/>
              <a:t>First, obtain a Salesforce account for your organization.</a:t>
            </a:r>
          </a:p>
          <a:p>
            <a:pPr>
              <a:lnSpc>
                <a:spcPct val="90000"/>
              </a:lnSpc>
            </a:pPr>
            <a:r>
              <a:rPr lang="en-US" altLang="zh-CN" dirty="0"/>
              <a:t>System administrators customize the platform for your specific needs.</a:t>
            </a:r>
          </a:p>
          <a:p>
            <a:pPr>
              <a:lnSpc>
                <a:spcPct val="90000"/>
              </a:lnSpc>
            </a:pPr>
            <a:r>
              <a:rPr lang="en-US" altLang="zh-CN" dirty="0"/>
              <a:t>Import existing customer data to streamline operations.</a:t>
            </a:r>
            <a:endParaRPr lang="zh-CN" altLang="en-US" dirty="0"/>
          </a:p>
        </p:txBody>
      </p:sp>
      <p:pic>
        <p:nvPicPr>
          <p:cNvPr id="5" name="Content Placeholder 4" descr="&quot;world wide or online support system, can also be for under construction site..More Mechanic and worktool images..&quot;">
            <a:extLst>
              <a:ext uri="{FF2B5EF4-FFF2-40B4-BE49-F238E27FC236}">
                <a16:creationId xmlns:a16="http://schemas.microsoft.com/office/drawing/2014/main" id="{41D130ED-96C2-4779-96EF-C261CAA79F70}"/>
              </a:ext>
            </a:extLst>
          </p:cNvPr>
          <p:cNvPicPr>
            <a:picLocks noGrp="1" noChangeAspect="1"/>
          </p:cNvPicPr>
          <p:nvPr>
            <p:ph sz="half" idx="2"/>
          </p:nvPr>
        </p:nvPicPr>
        <p:blipFill>
          <a:blip r:embed="rId3"/>
          <a:stretch>
            <a:fillRect/>
          </a:stretch>
        </p:blipFill>
        <p:spPr>
          <a:xfrm>
            <a:off x="7842041" y="2228002"/>
            <a:ext cx="3633047" cy="3633047"/>
          </a:xfrm>
          <a:noFill/>
        </p:spPr>
      </p:pic>
    </p:spTree>
    <p:extLst>
      <p:ext uri="{BB962C8B-B14F-4D97-AF65-F5344CB8AC3E}">
        <p14:creationId xmlns:p14="http://schemas.microsoft.com/office/powerpoint/2010/main" val="4246312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65AB9-ACE7-A760-2499-47A5F631778C}"/>
              </a:ext>
            </a:extLst>
          </p:cNvPr>
          <p:cNvSpPr>
            <a:spLocks noGrp="1"/>
          </p:cNvSpPr>
          <p:nvPr>
            <p:ph type="title"/>
          </p:nvPr>
        </p:nvSpPr>
        <p:spPr>
          <a:xfrm>
            <a:off x="581193" y="729658"/>
            <a:ext cx="11029616" cy="988332"/>
          </a:xfrm>
        </p:spPr>
        <p:txBody>
          <a:bodyPr anchor="b">
            <a:normAutofit/>
          </a:bodyPr>
          <a:lstStyle/>
          <a:p>
            <a:r>
              <a:rPr lang="zh-CN" altLang="en-US"/>
              <a:t>Customer Support Features of Salesforce</a:t>
            </a:r>
          </a:p>
        </p:txBody>
      </p:sp>
      <p:sp>
        <p:nvSpPr>
          <p:cNvPr id="4" name="Content Placeholder 3">
            <a:extLst>
              <a:ext uri="{FF2B5EF4-FFF2-40B4-BE49-F238E27FC236}">
                <a16:creationId xmlns:a16="http://schemas.microsoft.com/office/drawing/2014/main" id="{1AA91021-A11D-F36F-F75D-FC39020E149F}"/>
              </a:ext>
            </a:extLst>
          </p:cNvPr>
          <p:cNvSpPr>
            <a:spLocks noGrp="1"/>
          </p:cNvSpPr>
          <p:nvPr>
            <p:ph sz="half" idx="1"/>
          </p:nvPr>
        </p:nvSpPr>
        <p:spPr>
          <a:xfrm>
            <a:off x="581193" y="2228003"/>
            <a:ext cx="5422390" cy="3633047"/>
          </a:xfrm>
        </p:spPr>
        <p:txBody>
          <a:bodyPr anchor="t">
            <a:normAutofit/>
          </a:bodyPr>
          <a:lstStyle/>
          <a:p>
            <a:pPr>
              <a:lnSpc>
                <a:spcPct val="90000"/>
              </a:lnSpc>
            </a:pPr>
            <a:r>
              <a:rPr lang="en-US" altLang="zh-CN" sz="2700"/>
              <a:t>Access the Call Center Web page for managing customer requests.</a:t>
            </a:r>
          </a:p>
          <a:p>
            <a:pPr>
              <a:lnSpc>
                <a:spcPct val="90000"/>
              </a:lnSpc>
            </a:pPr>
            <a:r>
              <a:rPr lang="en-US" altLang="zh-CN" sz="2700"/>
              <a:t>Record calls and assign cases to support personnel.</a:t>
            </a:r>
          </a:p>
          <a:p>
            <a:pPr>
              <a:lnSpc>
                <a:spcPct val="90000"/>
              </a:lnSpc>
            </a:pPr>
            <a:r>
              <a:rPr lang="en-US" altLang="zh-CN" sz="2700"/>
              <a:t>Generate reports to track customer complaints and solutions.</a:t>
            </a:r>
            <a:endParaRPr lang="zh-CN" altLang="en-US" sz="2700"/>
          </a:p>
        </p:txBody>
      </p:sp>
      <p:pic>
        <p:nvPicPr>
          <p:cNvPr id="5" name="Content Placeholder 4" descr="Close-up of customer support icon on computer keyboard.">
            <a:extLst>
              <a:ext uri="{FF2B5EF4-FFF2-40B4-BE49-F238E27FC236}">
                <a16:creationId xmlns:a16="http://schemas.microsoft.com/office/drawing/2014/main" id="{7309C8F1-1242-42D7-B13F-64BFF31D3D79}"/>
              </a:ext>
            </a:extLst>
          </p:cNvPr>
          <p:cNvPicPr>
            <a:picLocks noGrp="1" noChangeAspect="1"/>
          </p:cNvPicPr>
          <p:nvPr>
            <p:ph sz="half" idx="2"/>
          </p:nvPr>
        </p:nvPicPr>
        <p:blipFill>
          <a:blip r:embed="rId3"/>
          <a:stretch>
            <a:fillRect/>
          </a:stretch>
        </p:blipFill>
        <p:spPr>
          <a:xfrm>
            <a:off x="6188417" y="2234803"/>
            <a:ext cx="5422392" cy="3619446"/>
          </a:xfrm>
          <a:noFill/>
        </p:spPr>
      </p:pic>
    </p:spTree>
    <p:extLst>
      <p:ext uri="{BB962C8B-B14F-4D97-AF65-F5344CB8AC3E}">
        <p14:creationId xmlns:p14="http://schemas.microsoft.com/office/powerpoint/2010/main" val="587687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E5E26-E217-C3FE-E898-1945940B4C7A}"/>
              </a:ext>
            </a:extLst>
          </p:cNvPr>
          <p:cNvSpPr>
            <a:spLocks noGrp="1"/>
          </p:cNvSpPr>
          <p:nvPr>
            <p:ph type="title"/>
          </p:nvPr>
        </p:nvSpPr>
        <p:spPr>
          <a:xfrm>
            <a:off x="581193" y="729658"/>
            <a:ext cx="11029616" cy="988332"/>
          </a:xfrm>
        </p:spPr>
        <p:txBody>
          <a:bodyPr anchor="b">
            <a:normAutofit/>
          </a:bodyPr>
          <a:lstStyle/>
          <a:p>
            <a:r>
              <a:rPr lang="zh-CN" altLang="en-US"/>
              <a:t>Navigating the Salesforce Interface</a:t>
            </a:r>
          </a:p>
        </p:txBody>
      </p:sp>
      <p:sp>
        <p:nvSpPr>
          <p:cNvPr id="4" name="Content Placeholder 3">
            <a:extLst>
              <a:ext uri="{FF2B5EF4-FFF2-40B4-BE49-F238E27FC236}">
                <a16:creationId xmlns:a16="http://schemas.microsoft.com/office/drawing/2014/main" id="{79C2A1FB-153F-7AD8-63C8-CBB01083B814}"/>
              </a:ext>
            </a:extLst>
          </p:cNvPr>
          <p:cNvSpPr>
            <a:spLocks noGrp="1"/>
          </p:cNvSpPr>
          <p:nvPr>
            <p:ph sz="half" idx="1"/>
          </p:nvPr>
        </p:nvSpPr>
        <p:spPr>
          <a:xfrm>
            <a:off x="581192" y="2228003"/>
            <a:ext cx="11132271" cy="3633047"/>
          </a:xfrm>
        </p:spPr>
        <p:txBody>
          <a:bodyPr anchor="t">
            <a:normAutofit/>
          </a:bodyPr>
          <a:lstStyle/>
          <a:p>
            <a:r>
              <a:rPr lang="en-US" altLang="zh-CN" sz="3000" dirty="0"/>
              <a:t>Use the Cases tab to track and handle customer complaints.</a:t>
            </a:r>
          </a:p>
          <a:p>
            <a:r>
              <a:rPr lang="en-US" altLang="zh-CN" sz="3000" dirty="0"/>
              <a:t>Search functionality helps in quickly locating specific cases.</a:t>
            </a:r>
          </a:p>
          <a:p>
            <a:r>
              <a:rPr lang="en-US" altLang="zh-CN" sz="3000" dirty="0"/>
              <a:t>Mass Email tool facilitates communication with customers.</a:t>
            </a:r>
          </a:p>
          <a:p>
            <a:r>
              <a:rPr lang="en-US" altLang="zh-CN" sz="2800" dirty="0"/>
              <a:t>Administrators can add custom fields to case records.</a:t>
            </a:r>
          </a:p>
          <a:p>
            <a:r>
              <a:rPr lang="en-US" altLang="zh-CN" sz="2800" dirty="0"/>
              <a:t>Utilize picklists for easy data entry and selection.</a:t>
            </a:r>
          </a:p>
          <a:p>
            <a:r>
              <a:rPr lang="en-US" altLang="zh-CN" sz="2800" dirty="0"/>
              <a:t>Tailor the interface to meet specific user requirements.</a:t>
            </a:r>
            <a:endParaRPr lang="zh-CN" altLang="en-US" sz="2800" dirty="0"/>
          </a:p>
        </p:txBody>
      </p:sp>
    </p:spTree>
    <p:extLst>
      <p:ext uri="{BB962C8B-B14F-4D97-AF65-F5344CB8AC3E}">
        <p14:creationId xmlns:p14="http://schemas.microsoft.com/office/powerpoint/2010/main" val="2607236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Freeform: Shape 9">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845" y="3079474"/>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574AD55-C1EC-E9CB-C9E4-0251CAC41EBC}"/>
              </a:ext>
            </a:extLst>
          </p:cNvPr>
          <p:cNvSpPr>
            <a:spLocks noGrp="1"/>
          </p:cNvSpPr>
          <p:nvPr>
            <p:ph type="title"/>
          </p:nvPr>
        </p:nvSpPr>
        <p:spPr>
          <a:xfrm>
            <a:off x="517869" y="1534128"/>
            <a:ext cx="11153214" cy="1408176"/>
          </a:xfrm>
        </p:spPr>
        <p:txBody>
          <a:bodyPr anchor="b">
            <a:normAutofit/>
          </a:bodyPr>
          <a:lstStyle/>
          <a:p>
            <a:r>
              <a:rPr lang="zh-CN" altLang="en-US" sz="6800" dirty="0"/>
              <a:t>Conclusion</a:t>
            </a:r>
          </a:p>
        </p:txBody>
      </p:sp>
      <p:graphicFrame>
        <p:nvGraphicFramePr>
          <p:cNvPr id="11" name="Content Placeholder 2">
            <a:extLst>
              <a:ext uri="{FF2B5EF4-FFF2-40B4-BE49-F238E27FC236}">
                <a16:creationId xmlns:a16="http://schemas.microsoft.com/office/drawing/2014/main" id="{96525624-10BB-FF5F-60B1-A64CAA0DD8AF}"/>
              </a:ext>
            </a:extLst>
          </p:cNvPr>
          <p:cNvGraphicFramePr>
            <a:graphicFrameLocks noGrp="1"/>
          </p:cNvGraphicFramePr>
          <p:nvPr>
            <p:ph idx="1"/>
            <p:extLst>
              <p:ext uri="{D42A27DB-BD31-4B8C-83A1-F6EECF244321}">
                <p14:modId xmlns:p14="http://schemas.microsoft.com/office/powerpoint/2010/main" val="2020704680"/>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17869" y="3572756"/>
          <a:ext cx="11153214" cy="2468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4567055"/>
      </p:ext>
    </p:extLst>
  </p:cSld>
  <p:clrMapOvr>
    <a:overrideClrMapping bg1="dk1" tx1="lt1" bg2="dk2" tx2="lt2" accent1="accent1" accent2="accent2" accent3="accent3" accent4="accent4" accent5="accent5" accent6="accent6" hlink="hlink" folHlink="folHlink"/>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91602EDF-B8F0-CB54-D605-2114155A746D}"/>
              </a:ext>
            </a:extLst>
          </p:cNvPr>
          <p:cNvSpPr>
            <a:spLocks noGrp="1"/>
          </p:cNvSpPr>
          <p:nvPr>
            <p:ph type="ctrTitle"/>
          </p:nvPr>
        </p:nvSpPr>
        <p:spPr>
          <a:xfrm>
            <a:off x="521208" y="1211766"/>
            <a:ext cx="7237052" cy="4727988"/>
          </a:xfrm>
        </p:spPr>
        <p:txBody>
          <a:bodyPr anchor="b">
            <a:normAutofit/>
          </a:bodyPr>
          <a:lstStyle/>
          <a:p>
            <a:r>
              <a:rPr lang="en-US" altLang="zh-CN" sz="6300" dirty="0"/>
              <a:t>Platform as a Service</a:t>
            </a:r>
            <a:br>
              <a:rPr lang="en-US" altLang="zh-CN" sz="6300" dirty="0"/>
            </a:br>
            <a:r>
              <a:rPr lang="en-US" altLang="zh-CN" sz="6300" dirty="0"/>
              <a:t>(PaaS)</a:t>
            </a:r>
            <a:endParaRPr lang="zh-CN" altLang="en-US" sz="6300" dirty="0"/>
          </a:p>
        </p:txBody>
      </p:sp>
      <p:sp>
        <p:nvSpPr>
          <p:cNvPr id="9" name="Freeform: Shape 8">
            <a:extLst>
              <a:ext uri="{FF2B5EF4-FFF2-40B4-BE49-F238E27FC236}">
                <a16:creationId xmlns:a16="http://schemas.microsoft.com/office/drawing/2014/main" id="{A8A44BC8-2508-4575-75F6-0ED3F11E7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24267488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3355-BC49-C1D4-89FF-7C5AC40D0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1E0D7-3041-CC7D-122F-BF7FDC89E051}"/>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en-US" altLang="zh-CN" b="0" kern="1200" cap="all">
                <a:latin typeface="+mj-lt"/>
                <a:ea typeface="+mj-ea"/>
                <a:cs typeface="+mj-cs"/>
              </a:rPr>
              <a:t>Paas: Overview</a:t>
            </a:r>
          </a:p>
        </p:txBody>
      </p:sp>
      <p:sp>
        <p:nvSpPr>
          <p:cNvPr id="6" name="Content Placeholder 3">
            <a:extLst>
              <a:ext uri="{FF2B5EF4-FFF2-40B4-BE49-F238E27FC236}">
                <a16:creationId xmlns:a16="http://schemas.microsoft.com/office/drawing/2014/main" id="{D09CE373-9962-ECA8-EC3B-53A353B2C176}"/>
              </a:ext>
            </a:extLst>
          </p:cNvPr>
          <p:cNvSpPr txBox="1">
            <a:spLocks/>
          </p:cNvSpPr>
          <p:nvPr/>
        </p:nvSpPr>
        <p:spPr>
          <a:xfrm>
            <a:off x="581193" y="2228003"/>
            <a:ext cx="5422390" cy="3633047"/>
          </a:xfrm>
          <a:prstGeom prst="rect">
            <a:avLst/>
          </a:prstGeom>
        </p:spPr>
        <p:txBody>
          <a:bodyPr vert="horz" lIns="91440" tIns="45720" rIns="91440" bIns="45720" rtlCol="0" anchor="t">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32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8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90000"/>
              </a:lnSpc>
            </a:pPr>
            <a:r>
              <a:rPr lang="en-US" altLang="zh-CN" sz="2400" dirty="0"/>
              <a:t>PaaS provides a versatile platform for various computing needs.</a:t>
            </a:r>
          </a:p>
          <a:p>
            <a:pPr>
              <a:lnSpc>
                <a:spcPct val="90000"/>
              </a:lnSpc>
            </a:pPr>
            <a:r>
              <a:rPr lang="en-US" altLang="zh-CN" sz="2400" dirty="0"/>
              <a:t>It often serves as a development environment for applications.</a:t>
            </a:r>
          </a:p>
          <a:p>
            <a:pPr>
              <a:lnSpc>
                <a:spcPct val="90000"/>
              </a:lnSpc>
            </a:pPr>
            <a:r>
              <a:rPr lang="en-US" altLang="zh-CN" sz="2400" dirty="0"/>
              <a:t>Platforms may include operating systems or full development stacks.</a:t>
            </a:r>
          </a:p>
          <a:p>
            <a:pPr>
              <a:lnSpc>
                <a:spcPct val="90000"/>
              </a:lnSpc>
            </a:pPr>
            <a:r>
              <a:rPr lang="en-US" altLang="zh-CN" sz="2400" dirty="0"/>
              <a:t>PaaS includes tools for application development and deployment.</a:t>
            </a:r>
          </a:p>
          <a:p>
            <a:pPr algn="l"/>
            <a:r>
              <a:rPr lang="en-US" altLang="zh-CN" sz="2400" dirty="0"/>
              <a:t>Provider generally has no control over how the application or service is developed or over the quality of development.</a:t>
            </a:r>
            <a:endParaRPr lang="zh-CN" altLang="en-US" sz="2400" dirty="0"/>
          </a:p>
          <a:p>
            <a:pPr>
              <a:lnSpc>
                <a:spcPct val="90000"/>
              </a:lnSpc>
            </a:pPr>
            <a:endParaRPr lang="en-US" altLang="zh-CN" sz="2400" dirty="0"/>
          </a:p>
        </p:txBody>
      </p:sp>
      <p:pic>
        <p:nvPicPr>
          <p:cNvPr id="10" name="Picture 9">
            <a:extLst>
              <a:ext uri="{FF2B5EF4-FFF2-40B4-BE49-F238E27FC236}">
                <a16:creationId xmlns:a16="http://schemas.microsoft.com/office/drawing/2014/main" id="{A90172A5-DE1E-D756-0033-61690BF4095D}"/>
              </a:ext>
            </a:extLst>
          </p:cNvPr>
          <p:cNvPicPr>
            <a:picLocks noChangeAspect="1"/>
          </p:cNvPicPr>
          <p:nvPr/>
        </p:nvPicPr>
        <p:blipFill>
          <a:blip r:embed="rId3"/>
          <a:stretch>
            <a:fillRect/>
          </a:stretch>
        </p:blipFill>
        <p:spPr>
          <a:xfrm>
            <a:off x="6313814" y="2228003"/>
            <a:ext cx="5422390" cy="3809229"/>
          </a:xfrm>
          <a:prstGeom prst="rect">
            <a:avLst/>
          </a:prstGeom>
          <a:noFill/>
        </p:spPr>
      </p:pic>
    </p:spTree>
    <p:extLst>
      <p:ext uri="{BB962C8B-B14F-4D97-AF65-F5344CB8AC3E}">
        <p14:creationId xmlns:p14="http://schemas.microsoft.com/office/powerpoint/2010/main" val="2903628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42F9D-7B1C-6A3A-6923-72B3C9D1E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9CF5D-1A6C-785B-7B87-70B5B6AD320D}"/>
              </a:ext>
            </a:extLst>
          </p:cNvPr>
          <p:cNvSpPr>
            <a:spLocks noGrp="1"/>
          </p:cNvSpPr>
          <p:nvPr>
            <p:ph type="title"/>
          </p:nvPr>
        </p:nvSpPr>
        <p:spPr/>
        <p:txBody>
          <a:bodyPr/>
          <a:lstStyle/>
          <a:p>
            <a:r>
              <a:rPr lang="en-US" altLang="zh-CN" dirty="0"/>
              <a:t>PaaS Interaction Dynamics</a:t>
            </a:r>
            <a:endParaRPr lang="zh-CN" altLang="en-US" dirty="0"/>
          </a:p>
        </p:txBody>
      </p:sp>
      <p:sp>
        <p:nvSpPr>
          <p:cNvPr id="3" name="Content Placeholder 2">
            <a:extLst>
              <a:ext uri="{FF2B5EF4-FFF2-40B4-BE49-F238E27FC236}">
                <a16:creationId xmlns:a16="http://schemas.microsoft.com/office/drawing/2014/main" id="{58DA55A2-3843-28D2-04D3-7850C5ED2C01}"/>
              </a:ext>
            </a:extLst>
          </p:cNvPr>
          <p:cNvSpPr>
            <a:spLocks noGrp="1"/>
          </p:cNvSpPr>
          <p:nvPr>
            <p:ph idx="1"/>
          </p:nvPr>
        </p:nvSpPr>
        <p:spPr/>
        <p:txBody>
          <a:bodyPr>
            <a:normAutofit fontScale="92500"/>
          </a:bodyPr>
          <a:lstStyle/>
          <a:p>
            <a:r>
              <a:rPr lang="en-US" altLang="zh-CN" dirty="0"/>
              <a:t> Customization: Client has complete control over the application but not over deployment environment.</a:t>
            </a:r>
          </a:p>
          <a:p>
            <a:r>
              <a:rPr lang="en-US" altLang="zh-CN" dirty="0"/>
              <a:t> Analytics: Client has ability to view application usage and determine trends.</a:t>
            </a:r>
          </a:p>
          <a:p>
            <a:pPr algn="l"/>
            <a:r>
              <a:rPr lang="en-US" altLang="zh-CN" dirty="0"/>
              <a:t> Integrations: </a:t>
            </a:r>
            <a:r>
              <a:rPr lang="en-US" altLang="zh-CN" sz="3600" b="0" i="0" u="none" strike="noStrike" baseline="0" dirty="0">
                <a:solidFill>
                  <a:srgbClr val="000000"/>
                </a:solidFill>
                <a:latin typeface="LiberationSerif"/>
              </a:rPr>
              <a:t>data will be stored at the provider site, but the client will have direct access to it.</a:t>
            </a:r>
          </a:p>
          <a:p>
            <a:pPr algn="l"/>
            <a:r>
              <a:rPr lang="en-US" altLang="zh-CN" dirty="0">
                <a:solidFill>
                  <a:srgbClr val="000000"/>
                </a:solidFill>
                <a:latin typeface="LiberationSerif"/>
              </a:rPr>
              <a:t>Responsibilities are shared between client and PaaS provider</a:t>
            </a:r>
            <a:endParaRPr lang="zh-CN" altLang="en-US" dirty="0"/>
          </a:p>
        </p:txBody>
      </p:sp>
    </p:spTree>
    <p:extLst>
      <p:ext uri="{BB962C8B-B14F-4D97-AF65-F5344CB8AC3E}">
        <p14:creationId xmlns:p14="http://schemas.microsoft.com/office/powerpoint/2010/main" val="2676593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D8A72-4EB2-8991-2AD9-8F4C19D8CAFB}"/>
              </a:ext>
            </a:extLst>
          </p:cNvPr>
          <p:cNvSpPr>
            <a:spLocks noGrp="1"/>
          </p:cNvSpPr>
          <p:nvPr>
            <p:ph type="title"/>
          </p:nvPr>
        </p:nvSpPr>
        <p:spPr>
          <a:xfrm>
            <a:off x="581193" y="729658"/>
            <a:ext cx="11029616" cy="988332"/>
          </a:xfrm>
        </p:spPr>
        <p:txBody>
          <a:bodyPr anchor="b">
            <a:normAutofit/>
          </a:bodyPr>
          <a:lstStyle/>
          <a:p>
            <a:r>
              <a:rPr lang="zh-CN" altLang="en-US"/>
              <a:t>Benefits of PaaS</a:t>
            </a:r>
          </a:p>
        </p:txBody>
      </p:sp>
      <p:pic>
        <p:nvPicPr>
          <p:cNvPr id="5" name="Content Placeholder 4" descr="Person holding a puzzle piece">
            <a:extLst>
              <a:ext uri="{FF2B5EF4-FFF2-40B4-BE49-F238E27FC236}">
                <a16:creationId xmlns:a16="http://schemas.microsoft.com/office/drawing/2014/main" id="{7E202A04-5C1D-44FE-BBD0-75FF32A3A469}"/>
              </a:ext>
            </a:extLst>
          </p:cNvPr>
          <p:cNvPicPr>
            <a:picLocks noGrp="1" noChangeAspect="1"/>
          </p:cNvPicPr>
          <p:nvPr>
            <p:ph sz="half" idx="1"/>
          </p:nvPr>
        </p:nvPicPr>
        <p:blipFill>
          <a:blip r:embed="rId3"/>
          <a:stretch>
            <a:fillRect/>
          </a:stretch>
        </p:blipFill>
        <p:spPr>
          <a:xfrm>
            <a:off x="611174" y="2228003"/>
            <a:ext cx="4668397" cy="3162841"/>
          </a:xfrm>
          <a:noFill/>
        </p:spPr>
      </p:pic>
      <p:sp>
        <p:nvSpPr>
          <p:cNvPr id="4" name="Content Placeholder 3">
            <a:extLst>
              <a:ext uri="{FF2B5EF4-FFF2-40B4-BE49-F238E27FC236}">
                <a16:creationId xmlns:a16="http://schemas.microsoft.com/office/drawing/2014/main" id="{CA116190-7489-ED7C-4482-F6AE602088B2}"/>
              </a:ext>
            </a:extLst>
          </p:cNvPr>
          <p:cNvSpPr>
            <a:spLocks noGrp="1"/>
          </p:cNvSpPr>
          <p:nvPr>
            <p:ph sz="half" idx="2"/>
          </p:nvPr>
        </p:nvSpPr>
        <p:spPr>
          <a:xfrm>
            <a:off x="5649686" y="2228003"/>
            <a:ext cx="5961123" cy="3633047"/>
          </a:xfrm>
        </p:spPr>
        <p:txBody>
          <a:bodyPr anchor="t">
            <a:normAutofit lnSpcReduction="10000"/>
          </a:bodyPr>
          <a:lstStyle/>
          <a:p>
            <a:pPr>
              <a:lnSpc>
                <a:spcPct val="90000"/>
              </a:lnSpc>
            </a:pPr>
            <a:r>
              <a:rPr lang="en-US" altLang="zh-CN" dirty="0"/>
              <a:t>Accelerates application development and deployment processes.</a:t>
            </a:r>
          </a:p>
          <a:p>
            <a:pPr>
              <a:lnSpc>
                <a:spcPct val="90000"/>
              </a:lnSpc>
            </a:pPr>
            <a:r>
              <a:rPr lang="en-US" altLang="zh-CN" dirty="0"/>
              <a:t>Reduces operational costs by minimizing infrastructure management.</a:t>
            </a:r>
          </a:p>
          <a:p>
            <a:pPr>
              <a:lnSpc>
                <a:spcPct val="90000"/>
              </a:lnSpc>
            </a:pPr>
            <a:r>
              <a:rPr lang="en-US" altLang="zh-CN" dirty="0"/>
              <a:t>Facilitates collaboration among development teams.</a:t>
            </a:r>
            <a:endParaRPr lang="zh-CN" altLang="en-US" dirty="0"/>
          </a:p>
        </p:txBody>
      </p:sp>
    </p:spTree>
    <p:extLst>
      <p:ext uri="{BB962C8B-B14F-4D97-AF65-F5344CB8AC3E}">
        <p14:creationId xmlns:p14="http://schemas.microsoft.com/office/powerpoint/2010/main" val="178275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92A55-6924-DB4A-95C9-CF16A6F4471C}"/>
              </a:ext>
            </a:extLst>
          </p:cNvPr>
          <p:cNvSpPr>
            <a:spLocks noGrp="1"/>
          </p:cNvSpPr>
          <p:nvPr>
            <p:ph type="title"/>
          </p:nvPr>
        </p:nvSpPr>
        <p:spPr>
          <a:xfrm>
            <a:off x="581193" y="729658"/>
            <a:ext cx="11029616" cy="988332"/>
          </a:xfrm>
        </p:spPr>
        <p:txBody>
          <a:bodyPr anchor="b">
            <a:normAutofit/>
          </a:bodyPr>
          <a:lstStyle/>
          <a:p>
            <a:r>
              <a:rPr lang="zh-CN" altLang="en-US"/>
              <a:t>Challenges of PaaS</a:t>
            </a:r>
          </a:p>
        </p:txBody>
      </p:sp>
      <p:pic>
        <p:nvPicPr>
          <p:cNvPr id="5" name="Content Placeholder 4" descr="Padlock on computer motherboard">
            <a:extLst>
              <a:ext uri="{FF2B5EF4-FFF2-40B4-BE49-F238E27FC236}">
                <a16:creationId xmlns:a16="http://schemas.microsoft.com/office/drawing/2014/main" id="{42994EDC-1C8F-417A-AE95-AFC7D9105D9C}"/>
              </a:ext>
            </a:extLst>
          </p:cNvPr>
          <p:cNvPicPr>
            <a:picLocks noGrp="1" noChangeAspect="1"/>
          </p:cNvPicPr>
          <p:nvPr>
            <p:ph sz="half" idx="1"/>
          </p:nvPr>
        </p:nvPicPr>
        <p:blipFill>
          <a:blip r:embed="rId3"/>
          <a:srcRect r="375" b="1"/>
          <a:stretch/>
        </p:blipFill>
        <p:spPr>
          <a:xfrm>
            <a:off x="581193" y="2228003"/>
            <a:ext cx="5422390" cy="3633047"/>
          </a:xfrm>
          <a:noFill/>
        </p:spPr>
      </p:pic>
      <p:sp>
        <p:nvSpPr>
          <p:cNvPr id="4" name="Content Placeholder 3">
            <a:extLst>
              <a:ext uri="{FF2B5EF4-FFF2-40B4-BE49-F238E27FC236}">
                <a16:creationId xmlns:a16="http://schemas.microsoft.com/office/drawing/2014/main" id="{26B8EDA6-0D57-A891-7572-B497FE27273A}"/>
              </a:ext>
            </a:extLst>
          </p:cNvPr>
          <p:cNvSpPr>
            <a:spLocks noGrp="1"/>
          </p:cNvSpPr>
          <p:nvPr>
            <p:ph sz="half" idx="2"/>
          </p:nvPr>
        </p:nvSpPr>
        <p:spPr>
          <a:xfrm>
            <a:off x="6188417" y="2228003"/>
            <a:ext cx="5422392" cy="3633047"/>
          </a:xfrm>
        </p:spPr>
        <p:txBody>
          <a:bodyPr anchor="t">
            <a:normAutofit/>
          </a:bodyPr>
          <a:lstStyle/>
          <a:p>
            <a:r>
              <a:rPr lang="en-US" altLang="zh-CN"/>
              <a:t>Potential for vendor lock-in with specific platforms.</a:t>
            </a:r>
          </a:p>
          <a:p>
            <a:r>
              <a:rPr lang="en-US" altLang="zh-CN"/>
              <a:t>Limited control over the underlying infrastructure.</a:t>
            </a:r>
          </a:p>
          <a:p>
            <a:r>
              <a:rPr lang="en-US" altLang="zh-CN"/>
              <a:t>Security concerns regarding data management.</a:t>
            </a:r>
            <a:endParaRPr lang="zh-CN" altLang="en-US"/>
          </a:p>
        </p:txBody>
      </p:sp>
    </p:spTree>
    <p:extLst>
      <p:ext uri="{BB962C8B-B14F-4D97-AF65-F5344CB8AC3E}">
        <p14:creationId xmlns:p14="http://schemas.microsoft.com/office/powerpoint/2010/main" val="784443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68E26-0258-B85C-4DD4-BA79C93D6095}"/>
              </a:ext>
            </a:extLst>
          </p:cNvPr>
          <p:cNvSpPr>
            <a:spLocks noGrp="1"/>
          </p:cNvSpPr>
          <p:nvPr>
            <p:ph type="title"/>
          </p:nvPr>
        </p:nvSpPr>
        <p:spPr>
          <a:xfrm>
            <a:off x="581193" y="729658"/>
            <a:ext cx="11029616" cy="988332"/>
          </a:xfrm>
        </p:spPr>
        <p:txBody>
          <a:bodyPr anchor="b">
            <a:normAutofit/>
          </a:bodyPr>
          <a:lstStyle/>
          <a:p>
            <a:r>
              <a:rPr lang="zh-CN" altLang="en-US"/>
              <a:t>Major PaaS Providers</a:t>
            </a:r>
          </a:p>
        </p:txBody>
      </p:sp>
      <p:sp>
        <p:nvSpPr>
          <p:cNvPr id="4" name="Content Placeholder 3">
            <a:extLst>
              <a:ext uri="{FF2B5EF4-FFF2-40B4-BE49-F238E27FC236}">
                <a16:creationId xmlns:a16="http://schemas.microsoft.com/office/drawing/2014/main" id="{2C804D9D-E30A-18B3-84E4-A62CEE1CE2B1}"/>
              </a:ext>
            </a:extLst>
          </p:cNvPr>
          <p:cNvSpPr>
            <a:spLocks noGrp="1"/>
          </p:cNvSpPr>
          <p:nvPr>
            <p:ph sz="half" idx="1"/>
          </p:nvPr>
        </p:nvSpPr>
        <p:spPr>
          <a:xfrm>
            <a:off x="581193" y="2228003"/>
            <a:ext cx="5422390" cy="3633047"/>
          </a:xfrm>
        </p:spPr>
        <p:txBody>
          <a:bodyPr anchor="t">
            <a:normAutofit/>
          </a:bodyPr>
          <a:lstStyle/>
          <a:p>
            <a:pPr>
              <a:lnSpc>
                <a:spcPct val="90000"/>
              </a:lnSpc>
            </a:pPr>
            <a:r>
              <a:rPr lang="en-US" altLang="zh-CN" sz="2000" dirty="0"/>
              <a:t>Google App Engine offers scalable web applications and mobile backend services.</a:t>
            </a:r>
          </a:p>
          <a:p>
            <a:pPr>
              <a:lnSpc>
                <a:spcPct val="90000"/>
              </a:lnSpc>
            </a:pPr>
            <a:r>
              <a:rPr lang="en-US" altLang="zh-CN" sz="2000" dirty="0"/>
              <a:t>Microsoft Azure provides a wide range of cloud services for app development.</a:t>
            </a:r>
          </a:p>
          <a:p>
            <a:pPr>
              <a:lnSpc>
                <a:spcPct val="90000"/>
              </a:lnSpc>
            </a:pPr>
            <a:r>
              <a:rPr lang="en-US" altLang="zh-CN" sz="2000" dirty="0"/>
              <a:t>Heroku is a popular PaaS for deploying, managing, and scaling applications.</a:t>
            </a:r>
          </a:p>
          <a:p>
            <a:pPr>
              <a:lnSpc>
                <a:spcPct val="90000"/>
              </a:lnSpc>
            </a:pPr>
            <a:r>
              <a:rPr lang="en-US" altLang="zh-CN" sz="2000" dirty="0"/>
              <a:t>IBM Cloud Foundry focuses on enterprise solutions with robust security features.</a:t>
            </a:r>
          </a:p>
          <a:p>
            <a:pPr>
              <a:lnSpc>
                <a:spcPct val="90000"/>
              </a:lnSpc>
            </a:pPr>
            <a:r>
              <a:rPr lang="en-US" altLang="zh-CN" sz="2000" dirty="0"/>
              <a:t>Red Hat OpenShift is an open-source platform for containerized applications.</a:t>
            </a:r>
            <a:endParaRPr lang="zh-CN" altLang="en-US" sz="2000" dirty="0"/>
          </a:p>
        </p:txBody>
      </p:sp>
      <p:pic>
        <p:nvPicPr>
          <p:cNvPr id="12" name="Picture 11">
            <a:extLst>
              <a:ext uri="{FF2B5EF4-FFF2-40B4-BE49-F238E27FC236}">
                <a16:creationId xmlns:a16="http://schemas.microsoft.com/office/drawing/2014/main" id="{0259B288-2156-F595-3015-2127CA112D35}"/>
              </a:ext>
            </a:extLst>
          </p:cNvPr>
          <p:cNvPicPr>
            <a:picLocks noChangeAspect="1"/>
          </p:cNvPicPr>
          <p:nvPr/>
        </p:nvPicPr>
        <p:blipFill>
          <a:blip r:embed="rId3"/>
          <a:stretch>
            <a:fillRect/>
          </a:stretch>
        </p:blipFill>
        <p:spPr>
          <a:xfrm>
            <a:off x="6855223" y="2228003"/>
            <a:ext cx="1826953" cy="1950301"/>
          </a:xfrm>
          <a:prstGeom prst="rect">
            <a:avLst/>
          </a:prstGeom>
        </p:spPr>
      </p:pic>
      <p:pic>
        <p:nvPicPr>
          <p:cNvPr id="1026" name="Picture 2" descr="@heroku">
            <a:extLst>
              <a:ext uri="{FF2B5EF4-FFF2-40B4-BE49-F238E27FC236}">
                <a16:creationId xmlns:a16="http://schemas.microsoft.com/office/drawing/2014/main" id="{81DC361C-771C-0B1A-4779-4E59E8F76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5643" y="2228003"/>
            <a:ext cx="1475015" cy="147501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2B290EB-3121-2E28-9F69-7D39DF5FDCD5}"/>
              </a:ext>
            </a:extLst>
          </p:cNvPr>
          <p:cNvSpPr txBox="1"/>
          <p:nvPr/>
        </p:nvSpPr>
        <p:spPr>
          <a:xfrm>
            <a:off x="9533816" y="3778194"/>
            <a:ext cx="2008414" cy="400110"/>
          </a:xfrm>
          <a:prstGeom prst="rect">
            <a:avLst/>
          </a:prstGeom>
          <a:noFill/>
        </p:spPr>
        <p:txBody>
          <a:bodyPr wrap="square" rtlCol="0">
            <a:spAutoFit/>
          </a:bodyPr>
          <a:lstStyle/>
          <a:p>
            <a:r>
              <a:rPr lang="en-US" altLang="zh-CN" sz="2000" dirty="0">
                <a:solidFill>
                  <a:srgbClr val="00B0F0"/>
                </a:solidFill>
              </a:rPr>
              <a:t>Heroku</a:t>
            </a:r>
            <a:endParaRPr lang="zh-CN" altLang="en-US" sz="2000" dirty="0">
              <a:solidFill>
                <a:srgbClr val="00B0F0"/>
              </a:solidFill>
            </a:endParaRPr>
          </a:p>
        </p:txBody>
      </p:sp>
      <p:pic>
        <p:nvPicPr>
          <p:cNvPr id="1028" name="Picture 4">
            <a:extLst>
              <a:ext uri="{FF2B5EF4-FFF2-40B4-BE49-F238E27FC236}">
                <a16:creationId xmlns:a16="http://schemas.microsoft.com/office/drawing/2014/main" id="{892A2F6B-FC94-C434-079F-D18DF621E7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6293" y="4213031"/>
            <a:ext cx="1741455" cy="174145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00EC3170-AB49-B737-6B12-93670FF73D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7416" y="4646738"/>
            <a:ext cx="1495044" cy="159969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 Cloud Foundry Foundation: a PaaS Revolution? | Altoros">
            <a:extLst>
              <a:ext uri="{FF2B5EF4-FFF2-40B4-BE49-F238E27FC236}">
                <a16:creationId xmlns:a16="http://schemas.microsoft.com/office/drawing/2014/main" id="{67754DC4-8E87-5055-3F55-16C4D91D676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63150" y="4471435"/>
            <a:ext cx="1950301" cy="195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922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B5E066-D1F3-A77A-62F8-76DED482AA6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D50E5BD-67E3-480A-A491-B3B7FFBE4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C9E4BF1-F1A5-F06E-D750-E5FED14FFBC1}"/>
              </a:ext>
            </a:extLst>
          </p:cNvPr>
          <p:cNvSpPr>
            <a:spLocks noGrp="1"/>
          </p:cNvSpPr>
          <p:nvPr>
            <p:ph type="ctrTitle"/>
          </p:nvPr>
        </p:nvSpPr>
        <p:spPr>
          <a:xfrm>
            <a:off x="521208" y="1211766"/>
            <a:ext cx="7237052" cy="4727988"/>
          </a:xfrm>
        </p:spPr>
        <p:txBody>
          <a:bodyPr anchor="b">
            <a:normAutofit/>
          </a:bodyPr>
          <a:lstStyle/>
          <a:p>
            <a:r>
              <a:rPr lang="en-US" altLang="zh-CN" sz="6300" dirty="0" err="1"/>
              <a:t>Infrascructure</a:t>
            </a:r>
            <a:r>
              <a:rPr lang="en-US" altLang="zh-CN" sz="6300" dirty="0"/>
              <a:t> as a Service</a:t>
            </a:r>
            <a:br>
              <a:rPr lang="en-US" altLang="zh-CN" sz="6300"/>
            </a:br>
            <a:r>
              <a:rPr lang="en-US" altLang="zh-CN" sz="6300"/>
              <a:t>(IaaS</a:t>
            </a:r>
            <a:r>
              <a:rPr lang="en-US" altLang="zh-CN" sz="6300" dirty="0"/>
              <a:t>)</a:t>
            </a:r>
            <a:endParaRPr lang="zh-CN" altLang="en-US" sz="6300" dirty="0"/>
          </a:p>
        </p:txBody>
      </p:sp>
      <p:sp>
        <p:nvSpPr>
          <p:cNvPr id="9" name="Freeform: Shape 8">
            <a:extLst>
              <a:ext uri="{FF2B5EF4-FFF2-40B4-BE49-F238E27FC236}">
                <a16:creationId xmlns:a16="http://schemas.microsoft.com/office/drawing/2014/main" id="{DDF30E88-BE5B-EA30-C5AE-C9D5AAD6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6208776"/>
            <a:ext cx="7269480"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05522702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9A66-06C3-6695-89F7-62A4F3754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5347B-5400-D91A-6D5B-48AF27CF6C3F}"/>
              </a:ext>
            </a:extLst>
          </p:cNvPr>
          <p:cNvSpPr>
            <a:spLocks noGrp="1"/>
          </p:cNvSpPr>
          <p:nvPr>
            <p:ph type="title"/>
          </p:nvPr>
        </p:nvSpPr>
        <p:spPr>
          <a:xfrm>
            <a:off x="581193" y="729658"/>
            <a:ext cx="11029616" cy="988332"/>
          </a:xfrm>
        </p:spPr>
        <p:txBody>
          <a:bodyPr vert="horz" lIns="91440" tIns="45720" rIns="91440" bIns="45720" rtlCol="0" anchor="b">
            <a:normAutofit/>
          </a:bodyPr>
          <a:lstStyle/>
          <a:p>
            <a:r>
              <a:rPr lang="en-US" altLang="zh-CN" dirty="0" err="1"/>
              <a:t>i</a:t>
            </a:r>
            <a:r>
              <a:rPr lang="en-US" altLang="zh-CN" b="0" kern="1200" cap="all" dirty="0" err="1">
                <a:latin typeface="+mj-lt"/>
                <a:ea typeface="+mj-ea"/>
                <a:cs typeface="+mj-cs"/>
              </a:rPr>
              <a:t>aas</a:t>
            </a:r>
            <a:r>
              <a:rPr lang="en-US" altLang="zh-CN" b="0" kern="1200" cap="all" dirty="0">
                <a:latin typeface="+mj-lt"/>
                <a:ea typeface="+mj-ea"/>
                <a:cs typeface="+mj-cs"/>
              </a:rPr>
              <a:t>: Overview</a:t>
            </a:r>
          </a:p>
        </p:txBody>
      </p:sp>
      <p:sp>
        <p:nvSpPr>
          <p:cNvPr id="6" name="Content Placeholder 3">
            <a:extLst>
              <a:ext uri="{FF2B5EF4-FFF2-40B4-BE49-F238E27FC236}">
                <a16:creationId xmlns:a16="http://schemas.microsoft.com/office/drawing/2014/main" id="{FC2DF348-4900-995D-53BA-36BDB7BDBE7C}"/>
              </a:ext>
            </a:extLst>
          </p:cNvPr>
          <p:cNvSpPr txBox="1">
            <a:spLocks/>
          </p:cNvSpPr>
          <p:nvPr/>
        </p:nvSpPr>
        <p:spPr>
          <a:xfrm>
            <a:off x="581193" y="2228003"/>
            <a:ext cx="4807236" cy="3633047"/>
          </a:xfrm>
          <a:prstGeom prst="rect">
            <a:avLst/>
          </a:prstGeom>
        </p:spPr>
        <p:txBody>
          <a:bodyPr vert="horz" lIns="91440" tIns="45720" rIns="91440" bIns="45720" rtlCol="0" anchor="t">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32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8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l"/>
            <a:r>
              <a:rPr lang="en-US" altLang="zh-CN" sz="2800" dirty="0"/>
              <a:t>IaaS provides core services such as computing power, storage, networking, and operating systems. </a:t>
            </a:r>
          </a:p>
          <a:p>
            <a:pPr algn="l"/>
            <a:r>
              <a:rPr lang="en-US" altLang="zh-CN" sz="2800" dirty="0"/>
              <a:t>IaaS providers typically provide virtual machines that you can use to install whatever you need</a:t>
            </a:r>
            <a:endParaRPr lang="zh-CN" altLang="en-US" sz="2800" dirty="0"/>
          </a:p>
          <a:p>
            <a:pPr>
              <a:lnSpc>
                <a:spcPct val="90000"/>
              </a:lnSpc>
            </a:pPr>
            <a:endParaRPr lang="en-US" altLang="zh-CN" sz="2400" dirty="0"/>
          </a:p>
        </p:txBody>
      </p:sp>
      <p:pic>
        <p:nvPicPr>
          <p:cNvPr id="4" name="Picture 3">
            <a:extLst>
              <a:ext uri="{FF2B5EF4-FFF2-40B4-BE49-F238E27FC236}">
                <a16:creationId xmlns:a16="http://schemas.microsoft.com/office/drawing/2014/main" id="{4EFFF6FB-3189-57DE-46F1-A2B4BCA4436A}"/>
              </a:ext>
            </a:extLst>
          </p:cNvPr>
          <p:cNvPicPr>
            <a:picLocks noChangeAspect="1"/>
          </p:cNvPicPr>
          <p:nvPr/>
        </p:nvPicPr>
        <p:blipFill>
          <a:blip r:embed="rId3"/>
          <a:stretch>
            <a:fillRect/>
          </a:stretch>
        </p:blipFill>
        <p:spPr>
          <a:xfrm>
            <a:off x="5532583" y="1878212"/>
            <a:ext cx="6177804" cy="4332628"/>
          </a:xfrm>
          <a:prstGeom prst="rect">
            <a:avLst/>
          </a:prstGeom>
        </p:spPr>
      </p:pic>
    </p:spTree>
    <p:extLst>
      <p:ext uri="{BB962C8B-B14F-4D97-AF65-F5344CB8AC3E}">
        <p14:creationId xmlns:p14="http://schemas.microsoft.com/office/powerpoint/2010/main" val="70446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5ED67-0311-7E83-D41F-EBA5EABE7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43B80-B4B4-7C23-3670-45AAA7B78D55}"/>
              </a:ext>
            </a:extLst>
          </p:cNvPr>
          <p:cNvSpPr>
            <a:spLocks noGrp="1"/>
          </p:cNvSpPr>
          <p:nvPr>
            <p:ph type="title"/>
          </p:nvPr>
        </p:nvSpPr>
        <p:spPr>
          <a:xfrm>
            <a:off x="581193" y="729658"/>
            <a:ext cx="11029616" cy="988332"/>
          </a:xfrm>
        </p:spPr>
        <p:txBody>
          <a:bodyPr anchor="b">
            <a:normAutofit/>
          </a:bodyPr>
          <a:lstStyle/>
          <a:p>
            <a:r>
              <a:rPr lang="en-US" altLang="zh-CN" dirty="0" err="1"/>
              <a:t>iaaS</a:t>
            </a:r>
            <a:r>
              <a:rPr lang="en-US" altLang="zh-CN" dirty="0"/>
              <a:t> Interaction Dynamics</a:t>
            </a:r>
            <a:endParaRPr lang="zh-CN" altLang="en-US" dirty="0"/>
          </a:p>
        </p:txBody>
      </p:sp>
      <p:sp>
        <p:nvSpPr>
          <p:cNvPr id="3" name="Content Placeholder 2">
            <a:extLst>
              <a:ext uri="{FF2B5EF4-FFF2-40B4-BE49-F238E27FC236}">
                <a16:creationId xmlns:a16="http://schemas.microsoft.com/office/drawing/2014/main" id="{96A8DA1A-8FDB-72C1-9967-B0739E31DFBD}"/>
              </a:ext>
            </a:extLst>
          </p:cNvPr>
          <p:cNvSpPr>
            <a:spLocks noGrp="1"/>
          </p:cNvSpPr>
          <p:nvPr>
            <p:ph sz="half" idx="1"/>
          </p:nvPr>
        </p:nvSpPr>
        <p:spPr>
          <a:xfrm>
            <a:off x="581193" y="2228003"/>
            <a:ext cx="6483548" cy="3633047"/>
          </a:xfrm>
        </p:spPr>
        <p:txBody>
          <a:bodyPr anchor="t">
            <a:normAutofit/>
          </a:bodyPr>
          <a:lstStyle/>
          <a:p>
            <a:r>
              <a:rPr lang="en-US" altLang="zh-CN" dirty="0"/>
              <a:t>Responsibilities: Client is responsible for most of the environment: OS, Apps,  Antivirus etc.</a:t>
            </a:r>
          </a:p>
          <a:p>
            <a:endParaRPr lang="zh-CN" altLang="en-US" dirty="0"/>
          </a:p>
        </p:txBody>
      </p:sp>
      <p:pic>
        <p:nvPicPr>
          <p:cNvPr id="5" name="Picture 4" descr="A screenshot of a computer program&#10;&#10;AI-generated content may be incorrect.">
            <a:extLst>
              <a:ext uri="{FF2B5EF4-FFF2-40B4-BE49-F238E27FC236}">
                <a16:creationId xmlns:a16="http://schemas.microsoft.com/office/drawing/2014/main" id="{F033EF15-EAE9-B1F6-3B19-CA93ECDB03D7}"/>
              </a:ext>
            </a:extLst>
          </p:cNvPr>
          <p:cNvPicPr>
            <a:picLocks noChangeAspect="1"/>
          </p:cNvPicPr>
          <p:nvPr/>
        </p:nvPicPr>
        <p:blipFill>
          <a:blip r:embed="rId3"/>
          <a:stretch>
            <a:fillRect/>
          </a:stretch>
        </p:blipFill>
        <p:spPr>
          <a:xfrm>
            <a:off x="7749994" y="2132468"/>
            <a:ext cx="4036236" cy="3995874"/>
          </a:xfrm>
          <a:prstGeom prst="rect">
            <a:avLst/>
          </a:prstGeom>
          <a:noFill/>
        </p:spPr>
      </p:pic>
    </p:spTree>
    <p:extLst>
      <p:ext uri="{BB962C8B-B14F-4D97-AF65-F5344CB8AC3E}">
        <p14:creationId xmlns:p14="http://schemas.microsoft.com/office/powerpoint/2010/main" val="4266370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AC837-0CE3-6FA6-BE00-DE327D21A928}"/>
              </a:ext>
            </a:extLst>
          </p:cNvPr>
          <p:cNvSpPr>
            <a:spLocks noGrp="1"/>
          </p:cNvSpPr>
          <p:nvPr>
            <p:ph type="title"/>
          </p:nvPr>
        </p:nvSpPr>
        <p:spPr>
          <a:xfrm>
            <a:off x="581193" y="729658"/>
            <a:ext cx="11029616" cy="988332"/>
          </a:xfrm>
        </p:spPr>
        <p:txBody>
          <a:bodyPr anchor="b">
            <a:normAutofit/>
          </a:bodyPr>
          <a:lstStyle/>
          <a:p>
            <a:r>
              <a:rPr lang="zh-CN" altLang="en-US"/>
              <a:t>Advantages of Infrastructure as a Service (IaaS)</a:t>
            </a:r>
          </a:p>
        </p:txBody>
      </p:sp>
      <p:sp>
        <p:nvSpPr>
          <p:cNvPr id="4" name="Content Placeholder 3">
            <a:extLst>
              <a:ext uri="{FF2B5EF4-FFF2-40B4-BE49-F238E27FC236}">
                <a16:creationId xmlns:a16="http://schemas.microsoft.com/office/drawing/2014/main" id="{59F1B8C3-87F7-A216-67B4-188571B71224}"/>
              </a:ext>
            </a:extLst>
          </p:cNvPr>
          <p:cNvSpPr>
            <a:spLocks noGrp="1"/>
          </p:cNvSpPr>
          <p:nvPr>
            <p:ph sz="half" idx="1"/>
          </p:nvPr>
        </p:nvSpPr>
        <p:spPr>
          <a:xfrm>
            <a:off x="581193" y="2228003"/>
            <a:ext cx="5422390" cy="3633047"/>
          </a:xfrm>
        </p:spPr>
        <p:txBody>
          <a:bodyPr anchor="t">
            <a:normAutofit lnSpcReduction="10000"/>
          </a:bodyPr>
          <a:lstStyle/>
          <a:p>
            <a:pPr>
              <a:lnSpc>
                <a:spcPct val="90000"/>
              </a:lnSpc>
            </a:pPr>
            <a:r>
              <a:rPr lang="en-US" altLang="zh-CN" sz="2400" dirty="0"/>
              <a:t>IaaS provides on-demand computing resources, allowing for flexibility.</a:t>
            </a:r>
          </a:p>
          <a:p>
            <a:pPr>
              <a:lnSpc>
                <a:spcPct val="90000"/>
              </a:lnSpc>
            </a:pPr>
            <a:r>
              <a:rPr lang="en-US" altLang="zh-CN" sz="2400" dirty="0"/>
              <a:t>Reduces the need for physical hardware and maintenance costs.</a:t>
            </a:r>
          </a:p>
          <a:p>
            <a:pPr>
              <a:lnSpc>
                <a:spcPct val="90000"/>
              </a:lnSpc>
            </a:pPr>
            <a:r>
              <a:rPr lang="en-US" altLang="zh-CN" sz="2400" dirty="0"/>
              <a:t>Users can easily scale resources up or down based on demand.</a:t>
            </a:r>
          </a:p>
          <a:p>
            <a:pPr>
              <a:lnSpc>
                <a:spcPct val="90000"/>
              </a:lnSpc>
            </a:pPr>
            <a:r>
              <a:rPr lang="en-US" altLang="zh-CN" sz="2400" dirty="0"/>
              <a:t>Pay-as-you-go pricing models help manage budgets effectively.</a:t>
            </a:r>
          </a:p>
          <a:p>
            <a:pPr>
              <a:lnSpc>
                <a:spcPct val="90000"/>
              </a:lnSpc>
            </a:pPr>
            <a:r>
              <a:rPr lang="en-US" altLang="zh-CN" sz="2400" dirty="0"/>
              <a:t>Enhances disaster recovery solutions with cloud-based backups.</a:t>
            </a:r>
            <a:endParaRPr lang="zh-CN" altLang="en-US" sz="2400" dirty="0"/>
          </a:p>
        </p:txBody>
      </p:sp>
      <p:pic>
        <p:nvPicPr>
          <p:cNvPr id="5" name="Content Placeholder 4" descr="Illuminated server room panel">
            <a:extLst>
              <a:ext uri="{FF2B5EF4-FFF2-40B4-BE49-F238E27FC236}">
                <a16:creationId xmlns:a16="http://schemas.microsoft.com/office/drawing/2014/main" id="{56927A8B-AB58-4B56-9209-D91AF63F16D4}"/>
              </a:ext>
            </a:extLst>
          </p:cNvPr>
          <p:cNvPicPr>
            <a:picLocks noGrp="1" noChangeAspect="1"/>
          </p:cNvPicPr>
          <p:nvPr>
            <p:ph sz="half" idx="2"/>
          </p:nvPr>
        </p:nvPicPr>
        <p:blipFill>
          <a:blip r:embed="rId3"/>
          <a:stretch>
            <a:fillRect/>
          </a:stretch>
        </p:blipFill>
        <p:spPr>
          <a:xfrm>
            <a:off x="6188417" y="2234802"/>
            <a:ext cx="5422392" cy="3619448"/>
          </a:xfrm>
          <a:noFill/>
        </p:spPr>
      </p:pic>
    </p:spTree>
    <p:extLst>
      <p:ext uri="{BB962C8B-B14F-4D97-AF65-F5344CB8AC3E}">
        <p14:creationId xmlns:p14="http://schemas.microsoft.com/office/powerpoint/2010/main" val="138147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1C82F-7C7A-281C-E878-5133F35A7BF8}"/>
              </a:ext>
            </a:extLst>
          </p:cNvPr>
          <p:cNvSpPr>
            <a:spLocks noGrp="1"/>
          </p:cNvSpPr>
          <p:nvPr>
            <p:ph type="title"/>
          </p:nvPr>
        </p:nvSpPr>
        <p:spPr>
          <a:xfrm>
            <a:off x="581193" y="729658"/>
            <a:ext cx="11029616" cy="988332"/>
          </a:xfrm>
        </p:spPr>
        <p:txBody>
          <a:bodyPr anchor="b">
            <a:normAutofit/>
          </a:bodyPr>
          <a:lstStyle/>
          <a:p>
            <a:r>
              <a:rPr lang="zh-CN" altLang="en-US"/>
              <a:t>Challenges of Infrastructure as a Service (IaaS)</a:t>
            </a:r>
          </a:p>
        </p:txBody>
      </p:sp>
      <p:sp>
        <p:nvSpPr>
          <p:cNvPr id="4" name="Content Placeholder 3">
            <a:extLst>
              <a:ext uri="{FF2B5EF4-FFF2-40B4-BE49-F238E27FC236}">
                <a16:creationId xmlns:a16="http://schemas.microsoft.com/office/drawing/2014/main" id="{B8B666A2-71ED-4FA1-43DE-BF2FB6FAD4E4}"/>
              </a:ext>
            </a:extLst>
          </p:cNvPr>
          <p:cNvSpPr>
            <a:spLocks noGrp="1"/>
          </p:cNvSpPr>
          <p:nvPr>
            <p:ph sz="half" idx="1"/>
          </p:nvPr>
        </p:nvSpPr>
        <p:spPr>
          <a:xfrm>
            <a:off x="581193" y="2228003"/>
            <a:ext cx="11029616" cy="3633047"/>
          </a:xfrm>
        </p:spPr>
        <p:txBody>
          <a:bodyPr anchor="t">
            <a:normAutofit/>
          </a:bodyPr>
          <a:lstStyle/>
          <a:p>
            <a:pPr>
              <a:lnSpc>
                <a:spcPct val="90000"/>
              </a:lnSpc>
            </a:pPr>
            <a:r>
              <a:rPr lang="en-US" altLang="zh-CN" sz="2800" dirty="0"/>
              <a:t>Security vulnerabilities can arise due to shared infrastructure.</a:t>
            </a:r>
          </a:p>
          <a:p>
            <a:pPr>
              <a:lnSpc>
                <a:spcPct val="90000"/>
              </a:lnSpc>
            </a:pPr>
            <a:r>
              <a:rPr lang="en-US" altLang="zh-CN" sz="2800" dirty="0"/>
              <a:t>Managing and configuring virtual machines requires specialized knowledge.</a:t>
            </a:r>
          </a:p>
          <a:p>
            <a:pPr>
              <a:lnSpc>
                <a:spcPct val="90000"/>
              </a:lnSpc>
            </a:pPr>
            <a:r>
              <a:rPr lang="en-US" altLang="zh-CN" sz="2800" dirty="0"/>
              <a:t>Potential for unexpected costs if usage is not monitored closely.</a:t>
            </a:r>
          </a:p>
          <a:p>
            <a:pPr>
              <a:lnSpc>
                <a:spcPct val="90000"/>
              </a:lnSpc>
            </a:pPr>
            <a:r>
              <a:rPr lang="en-US" altLang="zh-CN" sz="2800" dirty="0"/>
              <a:t>Dependence on the service provider for uptime and reliability.</a:t>
            </a:r>
          </a:p>
          <a:p>
            <a:pPr>
              <a:lnSpc>
                <a:spcPct val="90000"/>
              </a:lnSpc>
            </a:pPr>
            <a:r>
              <a:rPr lang="en-US" altLang="zh-CN" sz="2800" dirty="0"/>
              <a:t>Compliance with regulations can be complex and challenging.</a:t>
            </a:r>
            <a:endParaRPr lang="zh-CN" altLang="en-US" sz="2800" dirty="0"/>
          </a:p>
        </p:txBody>
      </p:sp>
    </p:spTree>
    <p:extLst>
      <p:ext uri="{BB962C8B-B14F-4D97-AF65-F5344CB8AC3E}">
        <p14:creationId xmlns:p14="http://schemas.microsoft.com/office/powerpoint/2010/main" val="1854637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0B460-24AE-A4A0-E169-EE7FEBF869E8}"/>
              </a:ext>
            </a:extLst>
          </p:cNvPr>
          <p:cNvSpPr>
            <a:spLocks noGrp="1"/>
          </p:cNvSpPr>
          <p:nvPr>
            <p:ph type="title"/>
          </p:nvPr>
        </p:nvSpPr>
        <p:spPr>
          <a:xfrm>
            <a:off x="581193" y="729658"/>
            <a:ext cx="11029616" cy="988332"/>
          </a:xfrm>
        </p:spPr>
        <p:txBody>
          <a:bodyPr anchor="b">
            <a:normAutofit/>
          </a:bodyPr>
          <a:lstStyle/>
          <a:p>
            <a:r>
              <a:rPr lang="zh-CN" altLang="en-US" dirty="0"/>
              <a:t>Leading Players in IaaS Market</a:t>
            </a:r>
          </a:p>
        </p:txBody>
      </p:sp>
      <p:sp>
        <p:nvSpPr>
          <p:cNvPr id="4" name="Content Placeholder 3">
            <a:extLst>
              <a:ext uri="{FF2B5EF4-FFF2-40B4-BE49-F238E27FC236}">
                <a16:creationId xmlns:a16="http://schemas.microsoft.com/office/drawing/2014/main" id="{14629415-4A14-EA8E-1AD6-EF7B752AAC5E}"/>
              </a:ext>
            </a:extLst>
          </p:cNvPr>
          <p:cNvSpPr>
            <a:spLocks noGrp="1"/>
          </p:cNvSpPr>
          <p:nvPr>
            <p:ph sz="half" idx="1"/>
          </p:nvPr>
        </p:nvSpPr>
        <p:spPr>
          <a:xfrm>
            <a:off x="581193" y="2228003"/>
            <a:ext cx="5422390" cy="3633047"/>
          </a:xfrm>
        </p:spPr>
        <p:txBody>
          <a:bodyPr anchor="t">
            <a:normAutofit fontScale="92500" lnSpcReduction="10000"/>
          </a:bodyPr>
          <a:lstStyle/>
          <a:p>
            <a:pPr>
              <a:lnSpc>
                <a:spcPct val="90000"/>
              </a:lnSpc>
            </a:pPr>
            <a:r>
              <a:rPr lang="en-US" altLang="zh-CN" sz="2000" dirty="0"/>
              <a:t>Amazon Web Services (AWS) offers a comprehensive cloud infrastructure (about 32% market share).</a:t>
            </a:r>
          </a:p>
          <a:p>
            <a:pPr>
              <a:lnSpc>
                <a:spcPct val="90000"/>
              </a:lnSpc>
            </a:pPr>
            <a:r>
              <a:rPr lang="en-US" altLang="zh-CN" sz="2000" dirty="0"/>
              <a:t>Microsoft Azure provides a wide range of services for various applications (About 21% market share).</a:t>
            </a:r>
          </a:p>
          <a:p>
            <a:pPr>
              <a:lnSpc>
                <a:spcPct val="90000"/>
              </a:lnSpc>
            </a:pPr>
            <a:r>
              <a:rPr lang="en-US" altLang="zh-CN" sz="2000" dirty="0"/>
              <a:t>Google Cloud Platform focuses on data analytics and machine learning capabilities (7% market share).</a:t>
            </a:r>
          </a:p>
          <a:p>
            <a:pPr>
              <a:lnSpc>
                <a:spcPct val="90000"/>
              </a:lnSpc>
            </a:pPr>
            <a:r>
              <a:rPr lang="en-US" altLang="zh-CN" sz="2000" dirty="0"/>
              <a:t>IBM Cloud offers enterprise solutions with strong security features (6% market share).</a:t>
            </a:r>
          </a:p>
          <a:p>
            <a:pPr>
              <a:lnSpc>
                <a:spcPct val="90000"/>
              </a:lnSpc>
            </a:pPr>
            <a:r>
              <a:rPr lang="en-US" altLang="zh-CN" sz="2000" dirty="0" err="1"/>
              <a:t>DigitalOcean</a:t>
            </a:r>
            <a:r>
              <a:rPr lang="en-US" altLang="zh-CN" sz="2000" dirty="0"/>
              <a:t> is popular among developers for its simplicity and cost-effectiveness.</a:t>
            </a:r>
            <a:endParaRPr lang="zh-CN" altLang="en-US" sz="2000" dirty="0"/>
          </a:p>
        </p:txBody>
      </p:sp>
      <p:pic>
        <p:nvPicPr>
          <p:cNvPr id="2050" name="Picture 2" descr="undefined">
            <a:extLst>
              <a:ext uri="{FF2B5EF4-FFF2-40B4-BE49-F238E27FC236}">
                <a16:creationId xmlns:a16="http://schemas.microsoft.com/office/drawing/2014/main" id="{A38FEC03-118D-BE2A-7ADE-6B3573B19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228003"/>
            <a:ext cx="1405719" cy="8419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861FF2F-9758-3A75-73BE-006AA6F7B71F}"/>
              </a:ext>
            </a:extLst>
          </p:cNvPr>
          <p:cNvPicPr>
            <a:picLocks noChangeAspect="1"/>
          </p:cNvPicPr>
          <p:nvPr/>
        </p:nvPicPr>
        <p:blipFill>
          <a:blip r:embed="rId4"/>
          <a:stretch>
            <a:fillRect/>
          </a:stretch>
        </p:blipFill>
        <p:spPr>
          <a:xfrm>
            <a:off x="8203736" y="1951797"/>
            <a:ext cx="1176028" cy="1255428"/>
          </a:xfrm>
          <a:prstGeom prst="rect">
            <a:avLst/>
          </a:prstGeom>
        </p:spPr>
      </p:pic>
      <p:pic>
        <p:nvPicPr>
          <p:cNvPr id="2052" name="Picture 4" descr="undefined">
            <a:extLst>
              <a:ext uri="{FF2B5EF4-FFF2-40B4-BE49-F238E27FC236}">
                <a16:creationId xmlns:a16="http://schemas.microsoft.com/office/drawing/2014/main" id="{329CBA3F-B431-6F36-98CF-5432E314B2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1508" y="5400838"/>
            <a:ext cx="5272585" cy="81766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undefined">
            <a:extLst>
              <a:ext uri="{FF2B5EF4-FFF2-40B4-BE49-F238E27FC236}">
                <a16:creationId xmlns:a16="http://schemas.microsoft.com/office/drawing/2014/main" id="{77153478-F77B-CAB2-3712-5B3265EE41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8419" y="3469946"/>
            <a:ext cx="1795521" cy="128200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igitalOcean's logo">
            <a:extLst>
              <a:ext uri="{FF2B5EF4-FFF2-40B4-BE49-F238E27FC236}">
                <a16:creationId xmlns:a16="http://schemas.microsoft.com/office/drawing/2014/main" id="{78B70693-4234-852D-404F-B583B099CA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84093" y="1951797"/>
            <a:ext cx="1276911" cy="127691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undefined">
            <a:extLst>
              <a:ext uri="{FF2B5EF4-FFF2-40B4-BE49-F238E27FC236}">
                <a16:creationId xmlns:a16="http://schemas.microsoft.com/office/drawing/2014/main" id="{67CBC19C-51F6-D6BC-2A99-8CAE7F794B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03736" y="4592212"/>
            <a:ext cx="3480179" cy="43910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3F9471CC-0177-2E84-CA42-619B927258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84093" y="3131328"/>
            <a:ext cx="2095500" cy="143827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D386233-CCF3-1F04-BDE7-2EFE7798AC13}"/>
              </a:ext>
            </a:extLst>
          </p:cNvPr>
          <p:cNvPicPr>
            <a:picLocks noChangeAspect="1"/>
          </p:cNvPicPr>
          <p:nvPr/>
        </p:nvPicPr>
        <p:blipFill>
          <a:blip r:embed="rId10"/>
          <a:stretch>
            <a:fillRect/>
          </a:stretch>
        </p:blipFill>
        <p:spPr>
          <a:xfrm>
            <a:off x="7780079" y="3427365"/>
            <a:ext cx="2607876" cy="788158"/>
          </a:xfrm>
          <a:prstGeom prst="rect">
            <a:avLst/>
          </a:prstGeom>
        </p:spPr>
      </p:pic>
      <p:pic>
        <p:nvPicPr>
          <p:cNvPr id="12" name="Picture 11">
            <a:extLst>
              <a:ext uri="{FF2B5EF4-FFF2-40B4-BE49-F238E27FC236}">
                <a16:creationId xmlns:a16="http://schemas.microsoft.com/office/drawing/2014/main" id="{5A4A0301-4464-A95F-5B7B-575DC32547F8}"/>
              </a:ext>
            </a:extLst>
          </p:cNvPr>
          <p:cNvPicPr>
            <a:picLocks noChangeAspect="1"/>
          </p:cNvPicPr>
          <p:nvPr/>
        </p:nvPicPr>
        <p:blipFill>
          <a:blip r:embed="rId11"/>
          <a:stretch>
            <a:fillRect/>
          </a:stretch>
        </p:blipFill>
        <p:spPr>
          <a:xfrm rot="19439242">
            <a:off x="10051216" y="5477832"/>
            <a:ext cx="2163958" cy="893575"/>
          </a:xfrm>
          <a:prstGeom prst="rect">
            <a:avLst/>
          </a:prstGeom>
        </p:spPr>
      </p:pic>
    </p:spTree>
    <p:extLst>
      <p:ext uri="{BB962C8B-B14F-4D97-AF65-F5344CB8AC3E}">
        <p14:creationId xmlns:p14="http://schemas.microsoft.com/office/powerpoint/2010/main" val="410972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51CE6-39AA-7F32-8AE5-4DFB4123D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169EF-1BDF-FE85-807A-DA36342FA9D1}"/>
              </a:ext>
            </a:extLst>
          </p:cNvPr>
          <p:cNvSpPr>
            <a:spLocks noGrp="1"/>
          </p:cNvSpPr>
          <p:nvPr>
            <p:ph type="title"/>
          </p:nvPr>
        </p:nvSpPr>
        <p:spPr>
          <a:xfrm>
            <a:off x="581193" y="729658"/>
            <a:ext cx="11029616" cy="988332"/>
          </a:xfrm>
        </p:spPr>
        <p:txBody>
          <a:bodyPr anchor="b">
            <a:normAutofit/>
          </a:bodyPr>
          <a:lstStyle/>
          <a:p>
            <a:r>
              <a:rPr lang="en-US" altLang="zh-CN" dirty="0"/>
              <a:t>Key points</a:t>
            </a:r>
            <a:endParaRPr lang="zh-CN" altLang="en-US" dirty="0"/>
          </a:p>
        </p:txBody>
      </p:sp>
      <p:sp>
        <p:nvSpPr>
          <p:cNvPr id="4" name="Content Placeholder 3">
            <a:extLst>
              <a:ext uri="{FF2B5EF4-FFF2-40B4-BE49-F238E27FC236}">
                <a16:creationId xmlns:a16="http://schemas.microsoft.com/office/drawing/2014/main" id="{CF6B0E98-A633-23E7-0883-F174E5115FD1}"/>
              </a:ext>
            </a:extLst>
          </p:cNvPr>
          <p:cNvSpPr>
            <a:spLocks noGrp="1"/>
          </p:cNvSpPr>
          <p:nvPr>
            <p:ph sz="half" idx="1"/>
          </p:nvPr>
        </p:nvSpPr>
        <p:spPr>
          <a:xfrm>
            <a:off x="581193" y="2228003"/>
            <a:ext cx="11029616" cy="3633047"/>
          </a:xfrm>
        </p:spPr>
        <p:txBody>
          <a:bodyPr anchor="t">
            <a:normAutofit fontScale="55000" lnSpcReduction="20000"/>
          </a:bodyPr>
          <a:lstStyle/>
          <a:p>
            <a:pPr algn="l">
              <a:lnSpc>
                <a:spcPct val="120000"/>
              </a:lnSpc>
              <a:spcBef>
                <a:spcPts val="0"/>
              </a:spcBef>
              <a:spcAft>
                <a:spcPts val="0"/>
              </a:spcAft>
            </a:pPr>
            <a:r>
              <a:rPr lang="en-US" altLang="zh-CN" b="1" i="0" dirty="0">
                <a:solidFill>
                  <a:srgbClr val="000000"/>
                </a:solidFill>
                <a:effectLst/>
                <a:latin typeface="ui-sans-serif"/>
              </a:rPr>
              <a:t>Infrastructure as a Service (IaaS): </a:t>
            </a:r>
            <a:r>
              <a:rPr lang="en-US" altLang="zh-CN" dirty="0">
                <a:solidFill>
                  <a:srgbClr val="000000"/>
                </a:solidFill>
                <a:latin typeface="ui-sans-serif"/>
              </a:rPr>
              <a:t>Provides</a:t>
            </a:r>
            <a:r>
              <a:rPr lang="en-US" altLang="zh-CN" b="0" i="0" dirty="0">
                <a:solidFill>
                  <a:srgbClr val="000000"/>
                </a:solidFill>
                <a:effectLst/>
                <a:latin typeface="ui-sans-serif"/>
              </a:rPr>
              <a:t> virtualized computing resources over the internet. </a:t>
            </a:r>
          </a:p>
          <a:p>
            <a:pPr lvl="1">
              <a:lnSpc>
                <a:spcPct val="120000"/>
              </a:lnSpc>
              <a:spcBef>
                <a:spcPts val="0"/>
              </a:spcBef>
              <a:spcAft>
                <a:spcPts val="0"/>
              </a:spcAft>
            </a:pPr>
            <a:r>
              <a:rPr lang="en-US" altLang="zh-CN" b="1" i="0" dirty="0">
                <a:solidFill>
                  <a:srgbClr val="000000"/>
                </a:solidFill>
                <a:effectLst/>
                <a:latin typeface="ui-sans-serif"/>
              </a:rPr>
              <a:t>Examples:</a:t>
            </a:r>
            <a:r>
              <a:rPr lang="en-US" altLang="zh-CN" dirty="0">
                <a:solidFill>
                  <a:srgbClr val="000000"/>
                </a:solidFill>
                <a:latin typeface="ui-sans-serif"/>
              </a:rPr>
              <a:t> </a:t>
            </a:r>
          </a:p>
          <a:p>
            <a:pPr lvl="2">
              <a:lnSpc>
                <a:spcPct val="120000"/>
              </a:lnSpc>
              <a:spcBef>
                <a:spcPts val="0"/>
              </a:spcBef>
              <a:spcAft>
                <a:spcPts val="0"/>
              </a:spcAft>
            </a:pPr>
            <a:r>
              <a:rPr lang="en-US" altLang="zh-CN" b="0" i="0" dirty="0">
                <a:solidFill>
                  <a:srgbClr val="0070C0"/>
                </a:solidFill>
                <a:effectLst/>
                <a:latin typeface="ui-sans-serif"/>
              </a:rPr>
              <a:t>Amazon Web Services (AWS): </a:t>
            </a:r>
            <a:r>
              <a:rPr lang="en-US" altLang="zh-CN" b="0" i="0" dirty="0">
                <a:solidFill>
                  <a:srgbClr val="000000"/>
                </a:solidFill>
                <a:effectLst/>
                <a:latin typeface="ui-sans-serif"/>
              </a:rPr>
              <a:t>offers virtual machines, storage, databases, and more.</a:t>
            </a:r>
          </a:p>
          <a:p>
            <a:pPr lvl="2">
              <a:lnSpc>
                <a:spcPct val="120000"/>
              </a:lnSpc>
              <a:spcBef>
                <a:spcPts val="0"/>
              </a:spcBef>
              <a:spcAft>
                <a:spcPts val="0"/>
              </a:spcAft>
            </a:pPr>
            <a:r>
              <a:rPr lang="en-US" altLang="zh-CN" dirty="0">
                <a:solidFill>
                  <a:srgbClr val="0070C0"/>
                </a:solidFill>
                <a:latin typeface="ui-sans-serif"/>
              </a:rPr>
              <a:t>Microsoft Azure</a:t>
            </a:r>
            <a:r>
              <a:rPr lang="en-US" altLang="zh-CN" b="0" i="0" dirty="0">
                <a:solidFill>
                  <a:srgbClr val="000000"/>
                </a:solidFill>
                <a:effectLst/>
                <a:latin typeface="ui-sans-serif"/>
              </a:rPr>
              <a:t>: provides virtual machines, storage, networking, and hybrid solutions.</a:t>
            </a:r>
          </a:p>
          <a:p>
            <a:pPr lvl="2">
              <a:lnSpc>
                <a:spcPct val="120000"/>
              </a:lnSpc>
              <a:spcBef>
                <a:spcPts val="0"/>
              </a:spcBef>
              <a:spcAft>
                <a:spcPts val="0"/>
              </a:spcAft>
            </a:pPr>
            <a:r>
              <a:rPr lang="en-US" altLang="zh-CN" dirty="0">
                <a:solidFill>
                  <a:srgbClr val="0070C0"/>
                </a:solidFill>
                <a:latin typeface="ui-sans-serif"/>
              </a:rPr>
              <a:t>Google Cloud Platform (GCP): </a:t>
            </a:r>
            <a:r>
              <a:rPr lang="en-US" altLang="zh-CN" b="0" i="0" dirty="0">
                <a:solidFill>
                  <a:srgbClr val="000000"/>
                </a:solidFill>
                <a:effectLst/>
                <a:latin typeface="ui-sans-serif"/>
              </a:rPr>
              <a:t>offers virtual machines, storage, databases, and more.</a:t>
            </a:r>
          </a:p>
          <a:p>
            <a:pPr>
              <a:lnSpc>
                <a:spcPct val="120000"/>
              </a:lnSpc>
              <a:spcBef>
                <a:spcPts val="0"/>
              </a:spcBef>
              <a:spcAft>
                <a:spcPts val="0"/>
              </a:spcAft>
            </a:pPr>
            <a:r>
              <a:rPr lang="en-US" altLang="zh-CN" b="1" i="0" dirty="0">
                <a:solidFill>
                  <a:srgbClr val="000000"/>
                </a:solidFill>
                <a:effectLst/>
                <a:latin typeface="ui-sans-serif"/>
              </a:rPr>
              <a:t>Platform as a Service (PaaS): </a:t>
            </a:r>
            <a:r>
              <a:rPr lang="en-US" altLang="zh-CN" sz="3100" dirty="0">
                <a:solidFill>
                  <a:srgbClr val="000000"/>
                </a:solidFill>
                <a:latin typeface="ui-sans-serif"/>
              </a:rPr>
              <a:t>Provides a complete platform for developing, running, and managing applications</a:t>
            </a:r>
            <a:r>
              <a:rPr lang="en-US" altLang="zh-CN" sz="4100" dirty="0">
                <a:solidFill>
                  <a:srgbClr val="000000"/>
                </a:solidFill>
                <a:latin typeface="ui-sans-serif"/>
              </a:rPr>
              <a:t>.</a:t>
            </a:r>
          </a:p>
          <a:p>
            <a:pPr lvl="1">
              <a:lnSpc>
                <a:spcPct val="120000"/>
              </a:lnSpc>
              <a:spcBef>
                <a:spcPts val="0"/>
              </a:spcBef>
              <a:spcAft>
                <a:spcPts val="0"/>
              </a:spcAft>
            </a:pPr>
            <a:r>
              <a:rPr lang="en-US" altLang="zh-CN" b="1" i="0" dirty="0">
                <a:solidFill>
                  <a:srgbClr val="000000"/>
                </a:solidFill>
                <a:effectLst/>
                <a:latin typeface="ui-sans-serif"/>
              </a:rPr>
              <a:t>Examples:</a:t>
            </a:r>
            <a:endParaRPr lang="en-US" altLang="zh-CN" dirty="0">
              <a:solidFill>
                <a:srgbClr val="000000"/>
              </a:solidFill>
              <a:latin typeface="ui-sans-serif"/>
            </a:endParaRPr>
          </a:p>
          <a:p>
            <a:pPr lvl="2">
              <a:lnSpc>
                <a:spcPct val="120000"/>
              </a:lnSpc>
              <a:spcBef>
                <a:spcPts val="0"/>
              </a:spcBef>
              <a:spcAft>
                <a:spcPts val="0"/>
              </a:spcAft>
            </a:pPr>
            <a:r>
              <a:rPr lang="en-US" altLang="zh-CN" dirty="0">
                <a:solidFill>
                  <a:srgbClr val="0070C0"/>
                </a:solidFill>
                <a:latin typeface="ui-sans-serif"/>
              </a:rPr>
              <a:t>Heroku</a:t>
            </a:r>
            <a:r>
              <a:rPr lang="en-US" altLang="zh-CN" b="0" i="0" dirty="0">
                <a:solidFill>
                  <a:srgbClr val="000000"/>
                </a:solidFill>
                <a:effectLst/>
                <a:latin typeface="ui-sans-serif"/>
              </a:rPr>
              <a:t>: provides a platform for building, deploying, and managing web applications.</a:t>
            </a:r>
          </a:p>
          <a:p>
            <a:pPr lvl="2">
              <a:lnSpc>
                <a:spcPct val="120000"/>
              </a:lnSpc>
              <a:spcBef>
                <a:spcPts val="0"/>
              </a:spcBef>
              <a:spcAft>
                <a:spcPts val="0"/>
              </a:spcAft>
            </a:pPr>
            <a:r>
              <a:rPr lang="en-US" altLang="zh-CN" dirty="0">
                <a:solidFill>
                  <a:srgbClr val="0070C0"/>
                </a:solidFill>
                <a:latin typeface="ui-sans-serif"/>
              </a:rPr>
              <a:t>Google App Engine</a:t>
            </a:r>
            <a:r>
              <a:rPr lang="en-US" altLang="zh-CN" b="0" i="0" dirty="0">
                <a:solidFill>
                  <a:srgbClr val="000000"/>
                </a:solidFill>
                <a:effectLst/>
                <a:latin typeface="ui-sans-serif"/>
              </a:rPr>
              <a:t>: offers a platform for building scalable web applications.</a:t>
            </a:r>
          </a:p>
          <a:p>
            <a:pPr lvl="2">
              <a:lnSpc>
                <a:spcPct val="120000"/>
              </a:lnSpc>
              <a:spcBef>
                <a:spcPts val="0"/>
              </a:spcBef>
              <a:spcAft>
                <a:spcPts val="0"/>
              </a:spcAft>
            </a:pPr>
            <a:r>
              <a:rPr lang="en-US" altLang="zh-CN" dirty="0">
                <a:solidFill>
                  <a:srgbClr val="0070C0"/>
                </a:solidFill>
                <a:latin typeface="ui-sans-serif"/>
              </a:rPr>
              <a:t>Microsoft Azure App Service</a:t>
            </a:r>
            <a:r>
              <a:rPr lang="en-US" altLang="zh-CN" b="0" i="0" dirty="0">
                <a:solidFill>
                  <a:srgbClr val="000000"/>
                </a:solidFill>
                <a:effectLst/>
                <a:latin typeface="ui-sans-serif"/>
              </a:rPr>
              <a:t>: provides a platform for building, deploying, and managing web applications.</a:t>
            </a:r>
          </a:p>
          <a:p>
            <a:pPr>
              <a:lnSpc>
                <a:spcPct val="120000"/>
              </a:lnSpc>
              <a:spcBef>
                <a:spcPts val="0"/>
              </a:spcBef>
              <a:spcAft>
                <a:spcPts val="0"/>
              </a:spcAft>
            </a:pPr>
            <a:r>
              <a:rPr lang="en-US" altLang="zh-CN" sz="3300" b="1" dirty="0">
                <a:solidFill>
                  <a:srgbClr val="000000"/>
                </a:solidFill>
                <a:latin typeface="ui-sans-serif"/>
              </a:rPr>
              <a:t>Software as a Service (SaaS): </a:t>
            </a:r>
            <a:r>
              <a:rPr lang="en-US" altLang="zh-CN" b="0" i="0" dirty="0">
                <a:solidFill>
                  <a:srgbClr val="000000"/>
                </a:solidFill>
                <a:effectLst/>
                <a:latin typeface="ui-sans-serif"/>
              </a:rPr>
              <a:t>Provides software applications over the internet. </a:t>
            </a:r>
          </a:p>
          <a:p>
            <a:pPr lvl="1">
              <a:lnSpc>
                <a:spcPct val="120000"/>
              </a:lnSpc>
              <a:spcBef>
                <a:spcPts val="0"/>
              </a:spcBef>
              <a:spcAft>
                <a:spcPts val="0"/>
              </a:spcAft>
            </a:pPr>
            <a:r>
              <a:rPr lang="en-US" altLang="zh-CN" sz="2700" b="1" dirty="0">
                <a:solidFill>
                  <a:srgbClr val="000000"/>
                </a:solidFill>
                <a:latin typeface="ui-sans-serif"/>
              </a:rPr>
              <a:t>Examples:</a:t>
            </a:r>
          </a:p>
          <a:p>
            <a:pPr lvl="2">
              <a:lnSpc>
                <a:spcPct val="120000"/>
              </a:lnSpc>
              <a:spcBef>
                <a:spcPts val="0"/>
              </a:spcBef>
              <a:spcAft>
                <a:spcPts val="0"/>
              </a:spcAft>
            </a:pPr>
            <a:r>
              <a:rPr lang="en-US" altLang="zh-CN" dirty="0">
                <a:solidFill>
                  <a:srgbClr val="0070C0"/>
                </a:solidFill>
                <a:latin typeface="ui-sans-serif"/>
              </a:rPr>
              <a:t>Salesforce</a:t>
            </a:r>
            <a:r>
              <a:rPr lang="en-US" altLang="zh-CN" b="0" i="0" dirty="0">
                <a:solidFill>
                  <a:srgbClr val="000000"/>
                </a:solidFill>
                <a:effectLst/>
                <a:latin typeface="ui-sans-serif"/>
              </a:rPr>
              <a:t>: offers customer relationship management (CRM) software.</a:t>
            </a:r>
          </a:p>
          <a:p>
            <a:pPr lvl="2">
              <a:lnSpc>
                <a:spcPct val="120000"/>
              </a:lnSpc>
              <a:spcBef>
                <a:spcPts val="0"/>
              </a:spcBef>
              <a:spcAft>
                <a:spcPts val="0"/>
              </a:spcAft>
            </a:pPr>
            <a:r>
              <a:rPr lang="en-US" altLang="zh-CN" dirty="0">
                <a:solidFill>
                  <a:srgbClr val="0070C0"/>
                </a:solidFill>
                <a:latin typeface="ui-sans-serif"/>
              </a:rPr>
              <a:t>Microsoft Office 365</a:t>
            </a:r>
            <a:r>
              <a:rPr lang="en-US" altLang="zh-CN" b="0" i="0" dirty="0">
                <a:solidFill>
                  <a:srgbClr val="000000"/>
                </a:solidFill>
                <a:effectLst/>
                <a:latin typeface="ui-sans-serif"/>
              </a:rPr>
              <a:t>: provides productivity software, including Word, Excel, PowerPoint, and more.</a:t>
            </a:r>
          </a:p>
          <a:p>
            <a:pPr lvl="2">
              <a:lnSpc>
                <a:spcPct val="120000"/>
              </a:lnSpc>
              <a:spcBef>
                <a:spcPts val="0"/>
              </a:spcBef>
              <a:spcAft>
                <a:spcPts val="0"/>
              </a:spcAft>
            </a:pPr>
            <a:r>
              <a:rPr lang="en-US" altLang="zh-CN" dirty="0">
                <a:solidFill>
                  <a:srgbClr val="0070C0"/>
                </a:solidFill>
                <a:latin typeface="ui-sans-serif"/>
              </a:rPr>
              <a:t>Dropbox</a:t>
            </a:r>
            <a:r>
              <a:rPr lang="en-US" altLang="zh-CN" b="0" i="0" dirty="0">
                <a:solidFill>
                  <a:srgbClr val="000000"/>
                </a:solidFill>
                <a:effectLst/>
                <a:latin typeface="ui-sans-serif"/>
              </a:rPr>
              <a:t>: offers cloud storage for files.</a:t>
            </a:r>
          </a:p>
          <a:p>
            <a:pPr algn="l">
              <a:lnSpc>
                <a:spcPct val="120000"/>
              </a:lnSpc>
              <a:spcBef>
                <a:spcPts val="0"/>
              </a:spcBef>
              <a:spcAft>
                <a:spcPts val="0"/>
              </a:spcAft>
            </a:pPr>
            <a:endParaRPr lang="en-US" altLang="zh-CN" b="0" i="0" dirty="0">
              <a:solidFill>
                <a:srgbClr val="000000"/>
              </a:solidFill>
              <a:effectLst/>
              <a:latin typeface="ui-sans-serif"/>
            </a:endParaRPr>
          </a:p>
        </p:txBody>
      </p:sp>
    </p:spTree>
    <p:extLst>
      <p:ext uri="{BB962C8B-B14F-4D97-AF65-F5344CB8AC3E}">
        <p14:creationId xmlns:p14="http://schemas.microsoft.com/office/powerpoint/2010/main" val="1448299350"/>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GestaltVTI">
  <a:themeElements>
    <a:clrScheme name="Custom 86">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design</Template>
  <TotalTime>9505</TotalTime>
  <Words>3530</Words>
  <Application>Microsoft Office PowerPoint</Application>
  <PresentationFormat>Widescreen</PresentationFormat>
  <Paragraphs>313</Paragraphs>
  <Slides>30</Slides>
  <Notes>30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30</vt:i4>
      </vt:variant>
    </vt:vector>
  </HeadingPairs>
  <TitlesOfParts>
    <vt:vector size="45" baseType="lpstr">
      <vt:lpstr>等线</vt:lpstr>
      <vt:lpstr>LiberationMono</vt:lpstr>
      <vt:lpstr>LiberationSerif</vt:lpstr>
      <vt:lpstr>LiberationSerif-BoldItalic</vt:lpstr>
      <vt:lpstr>LM Roman 12</vt:lpstr>
      <vt:lpstr>ui-sans-serif</vt:lpstr>
      <vt:lpstr>Arial</vt:lpstr>
      <vt:lpstr>Bierstadt</vt:lpstr>
      <vt:lpstr>Calibri</vt:lpstr>
      <vt:lpstr>Gill Sans MT</vt:lpstr>
      <vt:lpstr>Palatino Linotype</vt:lpstr>
      <vt:lpstr>Wingdings</vt:lpstr>
      <vt:lpstr>Wingdings 2</vt:lpstr>
      <vt:lpstr>Custom</vt:lpstr>
      <vt:lpstr>GestaltVTI</vt:lpstr>
      <vt:lpstr>Bse3214:  Cloud Computing and Big Data </vt:lpstr>
      <vt:lpstr>In LAST Lecture</vt:lpstr>
      <vt:lpstr>In THIS Lecture</vt:lpstr>
      <vt:lpstr>Software as a Service (SaaS) Interaction Dynamics</vt:lpstr>
      <vt:lpstr>Software Stack Control in SaaS</vt:lpstr>
      <vt:lpstr>SaaS Benefits</vt:lpstr>
      <vt:lpstr>SaaS Issues and Concerns</vt:lpstr>
      <vt:lpstr>Evaluating SaaS Suitability</vt:lpstr>
      <vt:lpstr>Recommendations for SaaS Adoption</vt:lpstr>
      <vt:lpstr>Scope and Control in Cloud Computing</vt:lpstr>
      <vt:lpstr>SaaS Interaction Dynamics</vt:lpstr>
      <vt:lpstr>Software Stack Control in SaaS</vt:lpstr>
      <vt:lpstr>Saas usage case study: salesforce</vt:lpstr>
      <vt:lpstr>Setting Up Salesforce for Your Business</vt:lpstr>
      <vt:lpstr>Customer Support Features of Salesforce</vt:lpstr>
      <vt:lpstr>Navigating the Salesforce Interface</vt:lpstr>
      <vt:lpstr>Conclusion</vt:lpstr>
      <vt:lpstr>Platform as a Service (PaaS)</vt:lpstr>
      <vt:lpstr>Paas: Overview</vt:lpstr>
      <vt:lpstr>PaaS Interaction Dynamics</vt:lpstr>
      <vt:lpstr>Benefits of PaaS</vt:lpstr>
      <vt:lpstr>Challenges of PaaS</vt:lpstr>
      <vt:lpstr>Major PaaS Providers</vt:lpstr>
      <vt:lpstr>Infrascructure as a Service (IaaS)</vt:lpstr>
      <vt:lpstr>iaas: Overview</vt:lpstr>
      <vt:lpstr>iaaS Interaction Dynamics</vt:lpstr>
      <vt:lpstr>Advantages of Infrastructure as a Service (IaaS)</vt:lpstr>
      <vt:lpstr>Challenges of Infrastructure as a Service (IaaS)</vt:lpstr>
      <vt:lpstr>Leading Players in IaaS Market</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Moses Ntanda</dc:creator>
  <cp:lastModifiedBy>Moses Ntanda</cp:lastModifiedBy>
  <cp:revision>29</cp:revision>
  <dcterms:created xsi:type="dcterms:W3CDTF">2024-09-03T17:20:11Z</dcterms:created>
  <dcterms:modified xsi:type="dcterms:W3CDTF">2025-02-17T09:34:38Z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